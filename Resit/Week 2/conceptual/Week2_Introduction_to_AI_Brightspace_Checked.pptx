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9491673c754157" /><Relationship Type="http://schemas.openxmlformats.org/officeDocument/2006/relationships/extended-properties" Target="/docProps/app.xml" Id="R3291c55eebd44ef3" /><Relationship Type="http://schemas.openxmlformats.org/officeDocument/2006/relationships/officeDocument" Target="/ppt/presentation.xml" Id="Rab1da43682c449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d451548b8f40cc"/>
  </p:sldMasterIdLst>
  <p:notesMasterIdLst>
    <p:notesMasterId xmlns:r="http://schemas.openxmlformats.org/officeDocument/2006/relationships" r:id="R4e57719766594b17"/>
  </p:notesMasterIdLst>
  <p:sldIdLst>
    <p:sldId xmlns:r="http://schemas.openxmlformats.org/officeDocument/2006/relationships" id="256" r:id="R58e685de5f7d4dbb"/>
    <p:sldId xmlns:r="http://schemas.openxmlformats.org/officeDocument/2006/relationships" id="257" r:id="Rf03b72c66d62407a"/>
    <p:sldId xmlns:r="http://schemas.openxmlformats.org/officeDocument/2006/relationships" id="258" r:id="R21c6020d91da45bb"/>
    <p:sldId xmlns:r="http://schemas.openxmlformats.org/officeDocument/2006/relationships" id="259" r:id="Rdce79d6a082a40f4"/>
    <p:sldId xmlns:r="http://schemas.openxmlformats.org/officeDocument/2006/relationships" id="260" r:id="R12d56793ed7f4363"/>
    <p:sldId xmlns:r="http://schemas.openxmlformats.org/officeDocument/2006/relationships" id="261" r:id="Ref3bed065d184ed4"/>
    <p:sldId xmlns:r="http://schemas.openxmlformats.org/officeDocument/2006/relationships" id="262" r:id="R340818cfa47744c5"/>
    <p:sldId xmlns:r="http://schemas.openxmlformats.org/officeDocument/2006/relationships" id="263" r:id="R19b9880b6d9d47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369b019c69436f" /><Relationship Type="http://schemas.openxmlformats.org/officeDocument/2006/relationships/slideMaster" Target="/ppt/slideMasters/slideMaster1.xml" Id="R85d451548b8f40cc" /><Relationship Type="http://schemas.openxmlformats.org/officeDocument/2006/relationships/notesMaster" Target="/ppt/notesMasters/notesMaster1.xml" Id="R4e57719766594b17" /><Relationship Type="http://schemas.openxmlformats.org/officeDocument/2006/relationships/presProps" Target="/ppt/presProps.xml" Id="Rea748f90bd7342b0" /><Relationship Type="http://schemas.openxmlformats.org/officeDocument/2006/relationships/tableStyles" Target="/ppt/tableStyles.xml" Id="R2ee26e23f1d8461a" /><Relationship Type="http://schemas.openxmlformats.org/officeDocument/2006/relationships/slide" Target="/ppt/slides/slide1.xml" Id="R58e685de5f7d4dbb" /><Relationship Type="http://schemas.openxmlformats.org/officeDocument/2006/relationships/slide" Target="/ppt/slides/slide2.xml" Id="Rf03b72c66d62407a" /><Relationship Type="http://schemas.openxmlformats.org/officeDocument/2006/relationships/slide" Target="/ppt/slides/slide3.xml" Id="R21c6020d91da45bb" /><Relationship Type="http://schemas.openxmlformats.org/officeDocument/2006/relationships/slide" Target="/ppt/slides/slide4.xml" Id="Rdce79d6a082a40f4" /><Relationship Type="http://schemas.openxmlformats.org/officeDocument/2006/relationships/slide" Target="/ppt/slides/slide5.xml" Id="R12d56793ed7f4363" /><Relationship Type="http://schemas.openxmlformats.org/officeDocument/2006/relationships/slide" Target="/ppt/slides/slide6.xml" Id="Ref3bed065d184ed4" /><Relationship Type="http://schemas.openxmlformats.org/officeDocument/2006/relationships/slide" Target="/ppt/slides/slide7.xml" Id="R340818cfa47744c5" /><Relationship Type="http://schemas.openxmlformats.org/officeDocument/2006/relationships/slide" Target="/ppt/slides/slide8.xml" Id="R19b9880b6d9d47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2658e207484b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14cf6649294ff8" /><Relationship Type="http://schemas.openxmlformats.org/officeDocument/2006/relationships/notesMaster" Target="/ppt/notesMasters/notesMaster1.xml" Id="Rd7f07ff2441b40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43cd310cc44be0" /><Relationship Type="http://schemas.openxmlformats.org/officeDocument/2006/relationships/notesMaster" Target="/ppt/notesMasters/notesMaster1.xml" Id="R68fbdc14ac5041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30b5c511a444d8" /><Relationship Type="http://schemas.openxmlformats.org/officeDocument/2006/relationships/notesMaster" Target="/ppt/notesMasters/notesMaster1.xml" Id="R0cd49664804b4d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0ab433ab9e4b0b" /><Relationship Type="http://schemas.openxmlformats.org/officeDocument/2006/relationships/notesMaster" Target="/ppt/notesMasters/notesMaster1.xml" Id="R1d22217b8d1e45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66ed729ce74f3f" /><Relationship Type="http://schemas.openxmlformats.org/officeDocument/2006/relationships/notesMaster" Target="/ppt/notesMasters/notesMaster1.xml" Id="R490c442abcd04a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5dad2de260445a" /><Relationship Type="http://schemas.openxmlformats.org/officeDocument/2006/relationships/notesMaster" Target="/ppt/notesMasters/notesMaster1.xml" Id="R00414caf0f8749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f5c4d7d8074fbc" /><Relationship Type="http://schemas.openxmlformats.org/officeDocument/2006/relationships/notesMaster" Target="/ppt/notesMasters/notesMaster1.xml" Id="R6d6295869a914f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7b5a6ada4d4d14" /><Relationship Type="http://schemas.openxmlformats.org/officeDocument/2006/relationships/notesMaster" Target="/ppt/notesMasters/notesMaster1.xml" Id="Rf5d0c4affde34d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https://research.google/blog/a-flood-forecasting-ai-model-trained-and-evaluated-globally/</a:t>
            </a:r>
          </a:p>
          <a:p xmlns:a="http://schemas.openxmlformats.org/drawingml/2006/main">
            <a:r>
              <a:t>Source: https://research.google/blog/where-wild-things-roam-identifying-wildlife-with-speciesnet/</a:t>
            </a:r>
          </a:p>
          <a:p xmlns:a="http://schemas.openxmlformats.org/drawingml/2006/main">
            <a:r>
              <a:t>Source: https://science.nasa.gov/earth/earth-observatory/faster-detection-of-forest-loss/</a:t>
            </a:r>
          </a:p>
          <a:p xmlns:a="http://schemas.openxmlformats.org/drawingml/2006/main">
            <a:r>
              <a:t>Source: https://www.nist.gov/document/innocence-project-comments-nist-sp-1270</a:t>
            </a:r>
          </a:p>
          <a:p xmlns:a="http://schemas.openxmlformats.org/drawingml/2006/main">
            <a:r>
              <a:t>Source: https://investors.zillowgroup.com/files/doc_financials/2021/q4/Zillow_4Q-21_Shareholder_Letter.pdf</a:t>
            </a:r>
          </a:p>
          <a:p xmlns:a="http://schemas.openxmlformats.org/drawingml/2006/main">
            <a:r>
              <a:t>Source: https://www.thomsonreuters.com/en-us/posts/wp-content/uploads/sites/20/2026/01/Hallucinations-Report-2026_FINAL.pdf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https://www.nature.com/articles/s41586-021-03819-2</a:t>
            </a:r>
          </a:p>
          <a:p xmlns:a="http://schemas.openxmlformats.org/drawingml/2006/main">
            <a:r>
              <a:t>Source: https://www.alphafold.ebi.ac.uk/</a:t>
            </a:r>
          </a:p>
          <a:p xmlns:a="http://schemas.openxmlformats.org/drawingml/2006/main">
            <a:r>
              <a:t>Source: https://www.ebi.ac.uk/training/online/courses/alphafold/validation-and-impact/how-is-alphafold-used-by-scientists/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https://ico.org.uk/about-the-ico/media-centre/news-and-blogs/2024/11/thinking-of-using-ai-to-assist-recruitment-our-key-data-protection-considerations/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678768d6e49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92ed3f4a04a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6b68b8a0042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838794e9ae4e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ed882a4fab41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b213d117a45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00D57D-A3C7-4A7F-83D5-F0151923F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EFD1AD-8168-4FD0-B705-B6C79851DB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495CB6-565F-48E3-A391-886F70AE14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A6F23A-E73E-4EC5-93FB-0E5EFB04E3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403B74-5228-4E3B-B135-CA24580185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114F00-4E86-4723-AC5C-9C1F71519C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2B254C-A66E-4990-94B8-0DABE521C0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5D5BAF5-DFA4-4B04-8B25-D7BE2AE4CB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15D895-8855-47C6-8AE1-B2E42E26D6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C1EC23-DCFB-4861-9768-C53E42171F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9da31102b44ffe" /><Relationship Type="http://schemas.openxmlformats.org/officeDocument/2006/relationships/slideLayout" Target="/ppt/slideLayouts/slideLayout1.xml" Id="R8024e68363404eb9" /><Relationship Type="http://schemas.openxmlformats.org/officeDocument/2006/relationships/slideLayout" Target="/ppt/slideLayouts/slideLayout2.xml" Id="Rafc4222b69b840f5" /><Relationship Type="http://schemas.openxmlformats.org/officeDocument/2006/relationships/slideLayout" Target="/ppt/slideLayouts/slideLayout3.xml" Id="R4128aed209d6461a" /><Relationship Type="http://schemas.openxmlformats.org/officeDocument/2006/relationships/slideLayout" Target="/ppt/slideLayouts/slideLayout4.xml" Id="R8af2333280d445b7" /><Relationship Type="http://schemas.openxmlformats.org/officeDocument/2006/relationships/slideLayout" Target="/ppt/slideLayouts/slideLayout5.xml" Id="R6b342de3916643f2" /><Relationship Type="http://schemas.openxmlformats.org/officeDocument/2006/relationships/slideLayout" Target="/ppt/slideLayouts/slideLayout6.xml" Id="R388c085a442449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24e68363404eb9"/>
    <p:sldLayoutId xmlns:r="http://schemas.openxmlformats.org/officeDocument/2006/relationships" id="2147483650" r:id="Rafc4222b69b840f5"/>
    <p:sldLayoutId xmlns:r="http://schemas.openxmlformats.org/officeDocument/2006/relationships" id="2147483651" r:id="R4128aed209d6461a"/>
    <p:sldLayoutId xmlns:r="http://schemas.openxmlformats.org/officeDocument/2006/relationships" id="2147483652" r:id="R8af2333280d445b7"/>
    <p:sldLayoutId xmlns:r="http://schemas.openxmlformats.org/officeDocument/2006/relationships" id="2147483653" r:id="R6b342de3916643f2"/>
    <p:sldLayoutId xmlns:r="http://schemas.openxmlformats.org/officeDocument/2006/relationships" id="2147483654" r:id="R388c085a442449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d4892c6114e0a" /><Relationship Type="http://schemas.openxmlformats.org/officeDocument/2006/relationships/image" Target="/ppt/media/image.png" Id="R9eb4edae1d394be2" /><Relationship Type="http://schemas.openxmlformats.org/officeDocument/2006/relationships/notesSlide" Target="/ppt/notesSlides/notesSlide1.xml" Id="Rfb11cd6f2d1546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d9ffca220c46a0" /><Relationship Type="http://schemas.openxmlformats.org/officeDocument/2006/relationships/notesSlide" Target="/ppt/notesSlides/notesSlide2.xml" Id="R8183b95ac0bb45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fbd60d22249f2" /><Relationship Type="http://schemas.openxmlformats.org/officeDocument/2006/relationships/notesSlide" Target="/ppt/notesSlides/notesSlide3.xml" Id="Rf55e0c864d714e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964f09384c44dd" /><Relationship Type="http://schemas.openxmlformats.org/officeDocument/2006/relationships/notesSlide" Target="/ppt/notesSlides/notesSlide4.xml" Id="R0785e2cfaee942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3e652d51d74438" /><Relationship Type="http://schemas.openxmlformats.org/officeDocument/2006/relationships/notesSlide" Target="/ppt/notesSlides/notesSlide5.xml" Id="Ra31bf207204745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f06f110b474c03" /><Relationship Type="http://schemas.openxmlformats.org/officeDocument/2006/relationships/notesSlide" Target="/ppt/notesSlides/notesSlide6.xml" Id="Re2f3a586a22944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9b70918fa24cac" /><Relationship Type="http://schemas.openxmlformats.org/officeDocument/2006/relationships/notesSlide" Target="/ppt/notesSlides/notesSlide7.xml" Id="R4cdc32b1683346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37a145fc204540" /><Relationship Type="http://schemas.openxmlformats.org/officeDocument/2006/relationships/notesSlide" Target="/ppt/notesSlides/notesSlide8.xml" Id="R3b7c5413bd0240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F510F-CA20-4CA5-BF2A-C565643E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29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20986-D7D1-44E2-850C-5715A5800B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4edae1d394be2"/>
          <a:srcRect xmlns:a="http://schemas.openxmlformats.org/drawingml/2006/main" l="23892" t="0" r="238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0"/>
            <a:ext cx="63627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03039-D174-4BFE-87C6-6D4BEAEF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0"/>
            <a:ext cx="4572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1736"/>
              </a:gs>
              <a:gs pos="100000">
                <a:srgbClr val="0B1736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DCD56-EC9D-4C4B-9DD3-218B5D49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WEEK 2    CONCEPTUAL RETAKE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DA180-EFC7-402C-9ABC-C8BF8C92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476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52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352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Introduction to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4F72D-3E06-425A-9BC5-B5B298A9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324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pPr>
            <a:r>
              <a:rPr sz="1650" b="0">
                <a:solidFill>
                  <a:srgbClr val="E9EDF4"/>
                </a:solidFill>
                <a:latin typeface="Verdana"/>
                <a:ea typeface="Verdana"/>
                <a:cs typeface="Verdana"/>
              </a:rPr>
              <a:t>What AI can do, what it cannot do, and who is responsible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520DF-0B62-41A4-9E91-96AC07B6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95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EAC63-C791-466F-ADFC-282976AC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Attendance resit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976EB-0956-4606-BF52-AE9ACD00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975" b="0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Max Lopez</a:t>
            </a:r>
          </a:p>
        </p:txBody>
      </p:sp>
    </p:spTree>
    <p:extLst>
      <p:ext uri="{BB962C8B-B14F-4D97-AF65-F5344CB8AC3E}">
        <p14:creationId xmlns:p14="http://schemas.microsoft.com/office/powerpoint/2010/main" val="417177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89977-D5BE-4DDF-AE00-A82BEEE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01  A USEFUL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21310-DA74-4E3C-9BF4-67D7991F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What AI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67C37-DFD0-4ECC-BACE-84516F17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958C0-3F6A-4443-A932-7F2916A6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FFB9A-E4C2-4D78-BEF0-909BCA9C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WHAT AI DOES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5FFD6-063A-4EC4-9CB8-87D64AD4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Learns patterns from examples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Makes predictions or rankings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Repeats one narrow task quickly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FFBD5-8F36-495B-9686-0BA7A178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61786-7AC7-4D02-9539-F9C982AC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WHAT PEOPLE ADD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F5F58-9B9F-4D6F-9511-7CC9892F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Understand goals and social context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Decide what is fair or useful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Take responsibility for decisions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9EC62-A988-4EE1-9613-C7BC58DD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5802B-4631-4200-B92F-FD3996FF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AI finds patterns. People decide what the result means and whether to use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0795B-5D29-405A-89F8-658F2B2F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52217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265D1-A6A8-411E-9E80-AD64E590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02  COMPARATIVE STRENGTHS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B937E-CD7B-4BAF-87B5-1516DB32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Where humans and machines differ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4FCAF-BD1A-42C1-BA5D-5C4BA494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76542-EFE7-46A0-AFD6-E7FE365D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F8A32-C036-40DF-B33B-96E8CAAE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HUMANS ARE STRONGER 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18057-CCCB-4597-9D3F-8BD5647F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Understand a student’s unusual situation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Decide what is fair in a difficult case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Adapt after only one new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3438E-1CC4-4B1A-9CFF-C0221578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98DA6-DFAF-48EC-AE66-7C0D5F4C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AI IS STRONGER 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D8F8F-8AFB-4114-86FB-57FD32F9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38400"/>
            <a:ext cx="5105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defPPr>
            <a:lvl1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1pPr>
            <a:lvl2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2pPr>
            <a:lvl3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3pPr>
            <a:lvl4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4pPr>
            <a:lvl5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5pPr>
            <a:lvl6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6pPr>
            <a:lvl7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7pPr>
            <a:lvl8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8pPr>
            <a:lvl9pPr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Sort thousands of images quickly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Detect patterns in large datasets</a:t>
            </a:r>
          </a:p>
          <a:p xmlns:a="http://schemas.openxmlformats.org/drawingml/2006/main">
            <a:pPr marL="26" indent="-16">
              <a:lnSpc>
                <a:spcPct val="108000"/>
              </a:lnSpc>
              <a:spcAft>
                <a:spcPts val="12"/>
              </a:spcAft>
              <a:buNone/>
              <a:defRPr sz="1575">
                <a:solidFill>
                  <a:srgbClr val="17223B"/>
                </a:solidFill>
                <a:latin typeface="Verdana"/>
                <a:ea typeface="Verdana"/>
                <a:cs typeface="Verdana"/>
              </a:defRPr>
            </a:pPr>
            <a:r>
              <a:rPr sz="1575">
                <a:solidFill>
                  <a:srgbClr val="17223B"/>
                </a:solidFill>
                <a:latin typeface="Verdana"/>
                <a:ea typeface="Verdana"/>
                <a:cs typeface="Verdana"/>
              </a:rPr>
              <a:t>Repeat a defined check consistently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72966-0DC9-4A7D-9A71-9E7CB3A2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E898C-E3C0-4924-AE32-7B85F863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75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For many tasks, people and AI work best together.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1A6AB-EAEB-4F25-8146-937CF511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791942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D7615-F740-43A7-9147-E7328112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03  SUCCESS AND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A6679-9C82-4395-911D-B7ED7D9E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Three AI successes and three failures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CAD8A-E26D-4BA8-BB1B-83A473DB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CEC8B-D13B-47EB-A91A-FEA1D18B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E44AF-B620-47FA-A5F7-BC01ECAD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THREE SUCCESSES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A0BFE-C8FF-4BE8-9B65-A00D9C4F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39F13-559F-44F8-8131-D799974B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Flood forecasts give earlier warnings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Camera traps sort wildlife images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Satellite data helps detect forest loss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58BAC-854B-4BD9-BB08-598FB675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431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WHY THEY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AF0BD-F5BE-4BEA-A97E-B630D34F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77A8E-C1F4-4041-AAD8-67F36987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Large, relevant datasets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 clear, narrow task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Results checked by experts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B1BAC-0F31-4E95-A6C8-871A0292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THREE FAILURES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D1836-D008-44C0-81D8-84D13257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187AF-0D90-4A9C-A6B5-5D27AF87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Facial recognition led to wrongful arrests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 home-buying model made costly errors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 chatbot invented legal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98A3A4-44D4-438D-A9BC-F833682D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WHY THEY FAIL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86B48-6D4C-4695-AEDC-DA6EDA23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6245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AA023-94F0-4323-BC8D-B69AFC48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148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Biased or incomplete data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 changing real-world market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Plausible text without fact checking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DDD4B-5A1C-436A-97A1-98C42B75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5915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219AF6-715A-4649-8812-7D096297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04 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DC27A-7D06-4F87-98C8-0A952904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How AlphaFold helps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5F414-C00A-40D0-B53D-DFA52D22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5CA6E-6A54-4E60-88CD-9333C20B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48F66-D76F-46A8-B078-D639B314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A32B6-E4DF-4CE6-9252-95AB36C8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D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C5638-5BBB-4941-84D4-DA31ED84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4D03B-8F1A-4F62-ADC1-4AA1A043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 protein’s amino-acid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41651-11DA-431D-BA12-806454C1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A3921-6E70-4517-9B85-F1404C53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5B399-3C38-44FA-81D5-ACC01BF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FD0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632C6-5F9B-4757-B76D-0A24247F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Pattern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61C90-962D-4AC2-8E17-EB62E288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Relationships learned from known structures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C1206-9277-438D-987A-D64B9E8E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17DD5-CDD7-4421-9D78-3F88657F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588BF-D541-48EE-9325-C89A1C93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8D6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E52D0-602E-4EA5-B3F0-4B471A3F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Prediction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2F8D9-C9D0-4FAC-8B47-F63E4B97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A proposed three-dimensional structure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FB40E-9085-41AC-B4DD-6EC1F733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143250"/>
            <a:ext cx="17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B473C-C5B8-490B-9BAB-05397BFE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7BECE-7776-4D41-9E2E-F6829248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343150"/>
            <a:ext cx="2586038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FD0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1FC107-50D7-4ACB-B541-452C495E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2571750"/>
            <a:ext cx="216693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575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Human 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A746C1-77ED-451F-A6C5-81446330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3314700"/>
            <a:ext cx="216693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7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Scientists assess, test and apply the hypothesis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E1D975-DC60-4873-A85C-9C3ED2FB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6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Researchers used an AlphaFold prediction to study PINK1, a protein linked to inherited early-onset Parkinson’s disease.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FE7D48-6769-4602-A8EC-6BC75BDB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3818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A630BF-7D60-45A6-9113-33CE2AF6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05  ACCOUNTABILITY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54D27-19F1-4C69-B4D5-3CDE00F6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Who is responsible for a biased hiring system?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3A94C-4473-411B-AC76-9E65A921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07F71-0C46-4230-BC1C-8CD89A09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59343-8AA6-4563-B366-8436574A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664B5-594D-4CA0-BB55-056505D9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Actor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9B79D-8C8F-4803-B4EE-BA6CC18D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81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B2214-3F59-4056-81C2-D22ABE30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764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1A301-920D-468E-8D54-E96A303D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812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D9ECE-8ED9-43E5-8F2A-6E8A7158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764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Responsibility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6C2FD-AC80-4FEF-ACEA-EFF68E49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4C0FA-FB9F-400F-AC02-F9F940E3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Key question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60959-083A-47C7-A446-13DB7B6E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7288E-EECB-4D96-91BB-645D3076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Developer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9DB7F-A6F6-4489-899C-F48E53F7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33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1599E-E1A1-41C6-B279-8FDF0116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289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Model and interface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2367D-C2C1-49BB-B657-04EE76C1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336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957F4-3EEC-4328-A936-A4DB6C86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2890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Test limits and report risks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FCE3E2-0D1A-429E-BDAA-5B454172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336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52B03-2167-48F9-8054-A94AD1F3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What can fail?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A1EACE-BB26-4AAE-9473-FFBB7E38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68CA0C-00F7-48AE-AED8-B6CAA8CF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Employer / deployer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167B08-471D-4735-ACEB-292753F1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147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4A6E9-5CA3-4241-A0CD-7D518DD5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09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Whether and how to use 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80740B-F1F9-4DA5-94B9-20757931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147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8B34E2-76A1-4219-9167-FF50EEAA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99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Lawful use and human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A2BA39-1C4C-4D14-90E8-CF82DAAE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147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C2069F-39C2-4368-9A71-7D2062C3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0995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Should it decide?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5C0959-A986-4CBF-B9F1-46F7AA87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FC803B-52E6-4C25-B783-2152D5A1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Data team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7818E1-E7FB-46AE-97E6-55F4D5FC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957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F52EAF-C01D-41BE-8CC1-505CBCAA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910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Training and evaluation 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EC44A5-405B-4C7B-865B-05845654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957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6EDBD3-37FD-4CCF-BF4C-1860C8D1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9100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Representative data and privacy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5EE06C-070D-49F1-B71E-9620E82D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DB2F38-20FC-49E0-9F07-59D24015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9100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Who is missing?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B1C3E6-A181-4103-AB72-0DC8A08B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B0C0F2-02F8-422B-956E-32AEE606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120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Regulator / auditor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E87135-AA24-48DE-9616-56A88090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768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999686-1747-479F-A387-3193A079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720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Rules and assurance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EA518A-1F7D-4D74-A295-FB29490E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768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2B6919-A07F-4563-95CD-CFCBE391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720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Independent checks and enforcement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F07168-28DA-465F-BBF0-4C0ECB13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768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29752A-E7B8-4B1D-8A7B-1D40E2DB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7205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Can harms be challenged?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03CA72-685F-449E-8269-7BE71C1B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2173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BAC78-4CEE-4B96-BB51-B9FE125A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06  MY AI-FOR-GOOD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32070-124D-449A-8755-4F423317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 b="1">
                <a:solidFill>
                  <a:srgbClr val="0B1736"/>
                </a:solidFill>
                <a:latin typeface="Verdana"/>
                <a:ea typeface="Verdana"/>
                <a:cs typeface="Verdana"/>
              </a:defRPr>
            </a:pPr>
            <a:r>
              <a:rPr sz="2550" b="1">
                <a:solidFill>
                  <a:srgbClr val="0B1736"/>
                </a:solidFill>
                <a:latin typeface="Verdana"/>
                <a:ea typeface="Verdana"/>
                <a:cs typeface="Verdana"/>
              </a:rPr>
              <a:t>Smart Waste Sorter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D12F7-BC14-4FF0-A7DE-1EA5C9E9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BAE81-EFBC-4748-B0C8-05AD15AD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Max Lopez    Attendance resit   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3B54E-B96C-43B6-8309-CA75183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NEED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3F5A8-1185-4FB7-B57E-DE260E4B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7C6EC-DFA5-4380-9A48-EEAC7E4C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People often hesitate at a bin and contamination reduces recycling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FB0F1-2CE1-47A2-A2FB-22911F61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431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INPUT /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B3137-ECA6-4A2A-B6F7-1B89E3A4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92D45-811C-4D1A-8D36-409C570E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Input: an image. Output: a material category, confidence and disposal guidance.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DE97E-69A9-4F13-B26B-487FCB8C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779F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1779FF"/>
                </a:solidFill>
                <a:latin typeface="Verdana"/>
                <a:ea typeface="Verdana"/>
                <a:cs typeface="Verdana"/>
              </a:rPr>
              <a:t>HUMAN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93DE0-59ED-42F0-BC91-60FEAD96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4B4C4-8247-4079-B8DC-6EEBB670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The user can correct uncertain results. Staff review common mistakes.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CCACE-3B21-4BF6-AD20-F2EDA3D6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425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SUCCESS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EAB01-419F-4DE8-958D-DE63189F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6245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ED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052E9-73B4-423A-A02A-36BEE524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14850"/>
            <a:ext cx="502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354052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354052"/>
                </a:solidFill>
                <a:latin typeface="Verdana"/>
                <a:ea typeface="Verdana"/>
                <a:cs typeface="Verdana"/>
              </a:rPr>
              <a:t>Less contamination without making disposal slower or excluding users.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A9D88-8E23-4F42-A7AE-04A2040B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310453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EAA7A-CB8D-4024-BA43-D03D55E3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975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07  LETTER TO MY FUTURE SELF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AFF4C-DA91-46C2-A9FC-6B0FBDA8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723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31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Letter to my future self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2B36C-8F76-4216-A553-0B4CC7F7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426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41300-E1D6-4A98-87F5-2254651B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Remember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1B530-0187-4C28-93F5-872EDF8A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42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E9EDF4"/>
                </a:solidFill>
                <a:latin typeface="Verdana"/>
                <a:ea typeface="Verdana"/>
                <a:cs typeface="Verdana"/>
              </a:rPr>
              <a:t>A capable system can still cause harm if it does not fit the situation.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85D84-96BE-4CDE-946B-77B9DC80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6B5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FF6B5F"/>
                </a:solidFill>
                <a:latin typeface="Verdana"/>
                <a:ea typeface="Verdana"/>
                <a:cs typeface="Verdana"/>
              </a:rPr>
              <a:t>Protect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8FCA4-B7F7-4DFB-9560-924F4AFA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342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E9EDF4"/>
                </a:solidFill>
                <a:latin typeface="Verdana"/>
                <a:ea typeface="Verdana"/>
                <a:cs typeface="Verdana"/>
              </a:rPr>
              <a:t>Protect privacy and fairness. Give people a way to challenge a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E02A1-AB8A-49D8-A558-012A27E0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1500" b="1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Practise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3166E-FEF5-4AF1-977C-6AE550C5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342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E9EDF4"/>
                </a:solidFill>
                <a:latin typeface="Verdana"/>
                <a:ea typeface="Verdana"/>
                <a:cs typeface="Verdana"/>
              </a:defRPr>
            </a:pPr>
            <a:r>
              <a:rPr sz="1425" b="0">
                <a:solidFill>
                  <a:srgbClr val="E9EDF4"/>
                </a:solidFill>
                <a:latin typeface="Verdana"/>
                <a:ea typeface="Verdana"/>
                <a:cs typeface="Verdana"/>
              </a:rPr>
              <a:t>Test with the people affected and keep a real human alternative.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3132E-C8B9-47CF-96EF-7B64BCBA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61CEB-CC75-4F61-8D31-F121B7CF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59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sz="135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My commitment: check important results and keep a human alternative.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7AC45-AD1C-4004-AF64-53D3C5D4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defPPr>
            <a:lvl1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1pPr>
            <a:lvl2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2pPr>
            <a:lvl3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3pPr>
            <a:lvl4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4pPr>
            <a:lvl5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5pPr>
            <a:lvl6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6pPr>
            <a:lvl7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7pPr>
            <a:lvl8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8pPr>
            <a:lvl9pPr algn="l"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7CCBFF"/>
                </a:solidFill>
                <a:latin typeface="Verdana"/>
                <a:ea typeface="Verdana"/>
                <a:cs typeface="Verdana"/>
              </a:defRPr>
            </a:pPr>
            <a:r>
              <a:rPr sz="825" b="0">
                <a:solidFill>
                  <a:srgbClr val="7CCBFF"/>
                </a:solidFill>
                <a:latin typeface="Verdana"/>
                <a:ea typeface="Verdana"/>
                <a:cs typeface="Verdana"/>
              </a:rPr>
              <a:t>Max Lopez    Attendance resit    Week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29B5D-2EF1-4871-B7E0-E5B4D576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defPPr>
            <a:lvl1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1pPr>
            <a:lvl2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2pPr>
            <a:lvl3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3pPr>
            <a:lvl4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4pPr>
            <a:lvl5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5pPr>
            <a:lvl6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6pPr>
            <a:lvl7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7pPr>
            <a:lvl8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8pPr>
            <a:lvl9pPr algn="r"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667085"/>
                </a:solidFill>
                <a:latin typeface="Verdana"/>
                <a:ea typeface="Verdana"/>
                <a:cs typeface="Verdana"/>
              </a:defRPr>
            </a:pPr>
            <a:r>
              <a:rPr sz="825" b="1">
                <a:solidFill>
                  <a:srgbClr val="667085"/>
                </a:solidFill>
                <a:latin typeface="Verdana"/>
                <a:ea typeface="Verdana"/>
                <a:cs typeface="Verdan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10827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2026-10-30T16:50:26.3870000Z</dcterms:created>
  <dcterms:modified xsi:type="dcterms:W3CDTF">2026-10-30T16:50:26.3870000Z</dcterms:modified>
</coreProperties>
</file>