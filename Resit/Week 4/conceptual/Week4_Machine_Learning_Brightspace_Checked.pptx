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c0ce6501b34c83" /><Relationship Type="http://schemas.openxmlformats.org/officeDocument/2006/relationships/extended-properties" Target="/docProps/app.xml" Id="Rf7fbec54f21f4171" /><Relationship Type="http://schemas.openxmlformats.org/officeDocument/2006/relationships/officeDocument" Target="/ppt/presentation.xml" Id="R8575bc6c4d6b45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2bbc2c879848d4"/>
  </p:sldMasterIdLst>
  <p:notesMasterIdLst>
    <p:notesMasterId xmlns:r="http://schemas.openxmlformats.org/officeDocument/2006/relationships" r:id="Rdde8b62b4c884c2b"/>
  </p:notesMasterIdLst>
  <p:sldIdLst>
    <p:sldId xmlns:r="http://schemas.openxmlformats.org/officeDocument/2006/relationships" id="256" r:id="R204aa69703aa4a61"/>
    <p:sldId xmlns:r="http://schemas.openxmlformats.org/officeDocument/2006/relationships" id="257" r:id="Rca2e72df2cc84865"/>
    <p:sldId xmlns:r="http://schemas.openxmlformats.org/officeDocument/2006/relationships" id="258" r:id="R24c689ea96764e80"/>
    <p:sldId xmlns:r="http://schemas.openxmlformats.org/officeDocument/2006/relationships" id="259" r:id="R090c6b53c0d247f4"/>
    <p:sldId xmlns:r="http://schemas.openxmlformats.org/officeDocument/2006/relationships" id="260" r:id="R43ef2adbad004331"/>
    <p:sldId xmlns:r="http://schemas.openxmlformats.org/officeDocument/2006/relationships" id="261" r:id="Rab8f1a78cb8f4ef7"/>
    <p:sldId xmlns:r="http://schemas.openxmlformats.org/officeDocument/2006/relationships" id="262" r:id="Rdcfe66a2dea54c0d"/>
    <p:sldId xmlns:r="http://schemas.openxmlformats.org/officeDocument/2006/relationships" id="263" r:id="R136ed7550f024c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0751f4ce0648e8" /><Relationship Type="http://schemas.openxmlformats.org/officeDocument/2006/relationships/slideMaster" Target="/ppt/slideMasters/slideMaster1.xml" Id="R932bbc2c879848d4" /><Relationship Type="http://schemas.openxmlformats.org/officeDocument/2006/relationships/notesMaster" Target="/ppt/notesMasters/notesMaster1.xml" Id="Rdde8b62b4c884c2b" /><Relationship Type="http://schemas.openxmlformats.org/officeDocument/2006/relationships/presProps" Target="/ppt/presProps.xml" Id="R768c29618f6b42bd" /><Relationship Type="http://schemas.openxmlformats.org/officeDocument/2006/relationships/tableStyles" Target="/ppt/tableStyles.xml" Id="Rbd9c94575c854e1b" /><Relationship Type="http://schemas.openxmlformats.org/officeDocument/2006/relationships/slide" Target="/ppt/slides/slide1.xml" Id="R204aa69703aa4a61" /><Relationship Type="http://schemas.openxmlformats.org/officeDocument/2006/relationships/slide" Target="/ppt/slides/slide2.xml" Id="Rca2e72df2cc84865" /><Relationship Type="http://schemas.openxmlformats.org/officeDocument/2006/relationships/slide" Target="/ppt/slides/slide3.xml" Id="R24c689ea96764e80" /><Relationship Type="http://schemas.openxmlformats.org/officeDocument/2006/relationships/slide" Target="/ppt/slides/slide4.xml" Id="R090c6b53c0d247f4" /><Relationship Type="http://schemas.openxmlformats.org/officeDocument/2006/relationships/slide" Target="/ppt/slides/slide5.xml" Id="R43ef2adbad004331" /><Relationship Type="http://schemas.openxmlformats.org/officeDocument/2006/relationships/slide" Target="/ppt/slides/slide6.xml" Id="Rab8f1a78cb8f4ef7" /><Relationship Type="http://schemas.openxmlformats.org/officeDocument/2006/relationships/slide" Target="/ppt/slides/slide7.xml" Id="Rdcfe66a2dea54c0d" /><Relationship Type="http://schemas.openxmlformats.org/officeDocument/2006/relationships/slide" Target="/ppt/slides/slide8.xml" Id="R136ed7550f024c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aaeceb1c9946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f133d78b22455e" /><Relationship Type="http://schemas.openxmlformats.org/officeDocument/2006/relationships/notesMaster" Target="/ppt/notesMasters/notesMaster1.xml" Id="R9fff6142b5214c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16b6fc850c469a" /><Relationship Type="http://schemas.openxmlformats.org/officeDocument/2006/relationships/notesMaster" Target="/ppt/notesMasters/notesMaster1.xml" Id="Rc45a7353bcdf4b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8702308595488e" /><Relationship Type="http://schemas.openxmlformats.org/officeDocument/2006/relationships/notesMaster" Target="/ppt/notesMasters/notesMaster1.xml" Id="R1bfeffc407fb41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6b1de9d0614001" /><Relationship Type="http://schemas.openxmlformats.org/officeDocument/2006/relationships/notesMaster" Target="/ppt/notesMasters/notesMaster1.xml" Id="Re0566756f32449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8919eed2464325" /><Relationship Type="http://schemas.openxmlformats.org/officeDocument/2006/relationships/notesMaster" Target="/ppt/notesMasters/notesMaster1.xml" Id="R04704b326af444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5d2e8d054244df" /><Relationship Type="http://schemas.openxmlformats.org/officeDocument/2006/relationships/notesMaster" Target="/ppt/notesMasters/notesMaster1.xml" Id="R5fdf19ccefca4c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9f3024d49140f2" /><Relationship Type="http://schemas.openxmlformats.org/officeDocument/2006/relationships/notesMaster" Target="/ppt/notesMasters/notesMaster1.xml" Id="Rf7cdda5be8bd45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97fe837f264c45" /><Relationship Type="http://schemas.openxmlformats.org/officeDocument/2006/relationships/notesMaster" Target="/ppt/notesMasters/notesMaster1.xml" Id="R9718b913d2c941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https://autoriteitpersoonsgegevens.nl/en/current/tax-administration-fined-for-discriminatory-and-unlawful-data-processing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e914035a944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7122071ef45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f7bb963a8741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11795d8d64d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2fd66369247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bf2884d1346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819825-435F-48AC-BFD3-AAB16457DD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03E58F-DB65-449F-992A-F827CF2C9A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012736-51F3-4D87-AC27-2A54A7AE18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6CDA4C-8CF7-450B-9D67-6196FABF3D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31F93AE-31CD-431C-AAB8-FFDB7E2E73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4684AC-9F1D-4EDD-9BE0-F9904FFAEA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2C681B-773C-4DF8-951B-70126A918D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5EB248-0FC5-43F1-9B4E-720C91FBE0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14B951-638C-4C23-A94D-B80BCA5CBA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F81FC7-B210-41E0-907D-144E547FCA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198a126ef5402a" /><Relationship Type="http://schemas.openxmlformats.org/officeDocument/2006/relationships/slideLayout" Target="/ppt/slideLayouts/slideLayout1.xml" Id="R38142ad69522464e" /><Relationship Type="http://schemas.openxmlformats.org/officeDocument/2006/relationships/slideLayout" Target="/ppt/slideLayouts/slideLayout2.xml" Id="R4d750de528754cc1" /><Relationship Type="http://schemas.openxmlformats.org/officeDocument/2006/relationships/slideLayout" Target="/ppt/slideLayouts/slideLayout3.xml" Id="R2b7bf71cf61140ff" /><Relationship Type="http://schemas.openxmlformats.org/officeDocument/2006/relationships/slideLayout" Target="/ppt/slideLayouts/slideLayout4.xml" Id="R8831779c68864428" /><Relationship Type="http://schemas.openxmlformats.org/officeDocument/2006/relationships/slideLayout" Target="/ppt/slideLayouts/slideLayout5.xml" Id="R044d109f11ba4e69" /><Relationship Type="http://schemas.openxmlformats.org/officeDocument/2006/relationships/slideLayout" Target="/ppt/slideLayouts/slideLayout6.xml" Id="R4e55a54594e847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142ad69522464e"/>
    <p:sldLayoutId xmlns:r="http://schemas.openxmlformats.org/officeDocument/2006/relationships" id="2147483650" r:id="R4d750de528754cc1"/>
    <p:sldLayoutId xmlns:r="http://schemas.openxmlformats.org/officeDocument/2006/relationships" id="2147483651" r:id="R2b7bf71cf61140ff"/>
    <p:sldLayoutId xmlns:r="http://schemas.openxmlformats.org/officeDocument/2006/relationships" id="2147483652" r:id="R8831779c68864428"/>
    <p:sldLayoutId xmlns:r="http://schemas.openxmlformats.org/officeDocument/2006/relationships" id="2147483653" r:id="R044d109f11ba4e69"/>
    <p:sldLayoutId xmlns:r="http://schemas.openxmlformats.org/officeDocument/2006/relationships" id="2147483654" r:id="R4e55a54594e847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7fdd3d4aa44c0f" /><Relationship Type="http://schemas.openxmlformats.org/officeDocument/2006/relationships/image" Target="/ppt/media/image.png" Id="R0ae761333fc640e6" /><Relationship Type="http://schemas.openxmlformats.org/officeDocument/2006/relationships/notesSlide" Target="/ppt/notesSlides/notesSlide1.xml" Id="R67069fc52c324c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dd453d1b6e4977" /><Relationship Type="http://schemas.openxmlformats.org/officeDocument/2006/relationships/notesSlide" Target="/ppt/notesSlides/notesSlide2.xml" Id="R40389e05d71d4c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73e1f62b154f10" /><Relationship Type="http://schemas.openxmlformats.org/officeDocument/2006/relationships/notesSlide" Target="/ppt/notesSlides/notesSlide3.xml" Id="R070bcb03cee34c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dd6ece2e34cfc" /><Relationship Type="http://schemas.openxmlformats.org/officeDocument/2006/relationships/notesSlide" Target="/ppt/notesSlides/notesSlide4.xml" Id="R56cbc590577c48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d4286300e841b8" /><Relationship Type="http://schemas.openxmlformats.org/officeDocument/2006/relationships/notesSlide" Target="/ppt/notesSlides/notesSlide5.xml" Id="Ra210c525c82b4e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f8c46235434a2b" /><Relationship Type="http://schemas.openxmlformats.org/officeDocument/2006/relationships/notesSlide" Target="/ppt/notesSlides/notesSlide6.xml" Id="R804749f909c145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208675aadc440a" /><Relationship Type="http://schemas.openxmlformats.org/officeDocument/2006/relationships/notesSlide" Target="/ppt/notesSlides/notesSlide7.xml" Id="Rfc91b91cef044d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2c0b0f6ddc4fb0" /><Relationship Type="http://schemas.openxmlformats.org/officeDocument/2006/relationships/notesSlide" Target="/ppt/notesSlides/notesSlide8.xml" Id="Rf464c57ff86248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072F9-3CB9-4D13-B1E6-EFDA1E50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29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2941A-8F8A-44FC-BC9A-FBDC9D2988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761333fc640e6"/>
          <a:srcRect xmlns:a="http://schemas.openxmlformats.org/drawingml/2006/main" l="23892" t="0" r="238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0"/>
            <a:ext cx="63627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7E4CC-022A-4A0C-83FE-CBED87B3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0"/>
            <a:ext cx="457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1736"/>
              </a:gs>
              <a:gs pos="100000">
                <a:srgbClr val="0B1736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CA5EF-B13F-4D02-A83C-604CE38B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WEEK 4    CONCEPTUAL RETAKE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A3389-5B7A-4923-8210-29D196B1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476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352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Machine Learning Basics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99F20-008D-474C-9C44-D1D1275E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324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pPr>
            <a:r>
              <a:rPr sz="1650" b="0">
                <a:solidFill>
                  <a:srgbClr val="E9EDF4"/>
                </a:solidFill>
                <a:latin typeface="Verdana"/>
                <a:ea typeface="Verdana"/>
                <a:cs typeface="Verdana"/>
              </a:rPr>
              <a:t>The basic ML ideas from the Week 4 lecture and worksheet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3CAB9-2CD7-4E94-8F1E-567820FF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95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D07F8-EB7E-421E-82F3-46767163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Attendance resit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0DC24-B418-494B-AFF7-7395BD6B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975" b="0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Max Lopez</a:t>
            </a:r>
          </a:p>
        </p:txBody>
      </p:sp>
    </p:spTree>
    <p:extLst>
      <p:ext uri="{BB962C8B-B14F-4D97-AF65-F5344CB8AC3E}">
        <p14:creationId xmlns:p14="http://schemas.microsoft.com/office/powerpoint/2010/main" val="1882106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C36D8-E9DD-43AB-A029-6D128BE6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01  FAILURE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5475A-9636-456A-8747-F20E596C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Dutch childcare-benefits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C568E-512D-441A-AECF-5E42C34A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65954-6054-490D-80A0-849F810F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01164-2D94-4914-A7E1-3F0BF3A0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WHAT WENT WRONG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29023-2883-44FC-B293-B98AA85F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The system used nationality unlawfully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Risk selection treated some families unfairly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Families faced serious consequences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AC15D-9E33-4C80-ACDC-40E1155F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FBE4A-B1B1-45D3-9173-61AF2327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WHY THIS MATTERS FOR 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414E1-A0E5-4E7A-B93F-2C40F7A4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Data can contain earlier unfairness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A model can learn unfair patterns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People need review and appeal options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D1E2C-E6D9-4410-99B3-BFD5990D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D9883-98D2-4DE1-A48C-ACE1801C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The likely causes were the data, the risk rules, and the way the system was used.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57C7D-3D4F-4C93-A96F-9082B2D6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26118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681C4-413F-4672-97ED-DC946632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02  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7252B-98E5-4989-9DED-2D0A38F1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AI, machine learning and deep learning are nested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2F7A6-5E87-40F6-AEDB-29A5AD5F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E90A9-1048-48A4-898F-37978015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E6D2F-7D8C-40A7-94F1-7F8BEE4E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101346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D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BF0A4-9EDE-4C31-BC24-2A9F63B7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52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6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6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6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6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6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6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6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6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6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650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Artificial intelligence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F52CF-DF8F-49BC-904C-CA15E1DA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5270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Broad goal: systems performing tasks associated with intelligence.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8B9EC-05BA-4E9E-A55B-29830E01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657225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FD0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6EA37-C01F-4DBF-B43A-977B0CC1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52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6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6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6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6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6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6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6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6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6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650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Machine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2112D-83EA-4FDA-A31C-2357F86E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52800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Systems improve task performance by learning patterns from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8983E-448C-40B3-A79B-64E54BD2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27051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ED40B-637A-4BFA-AC26-0F87FCF2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65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65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65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65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65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65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65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65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65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1650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Deep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AEC8F-3B55-48DE-B1BC-54074121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62400"/>
            <a:ext cx="224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68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Multi-layer neural networks learn increasingly complex representations.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1034F-1BC6-43A0-A4F7-F48DB0F5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03825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A3E069-2DA5-42D4-A985-32A22234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03  LEARNING TYPES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63DE1-E48D-4C76-83D1-9FA01665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Supervised, unsupervised, and reinforcement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D95A5-978E-407F-99F3-6C58E34C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21A97-31BF-4001-A6A0-E293892D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A993A-4648-4E69-A30E-A32E8F9D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7236B-173D-4F08-AC79-4B5ED3E3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62A6B-3440-405F-B877-826BEECE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7E7A3-7AF9-4DA3-ACB4-D0B58249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Data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BA288-4743-42BD-890D-F27663B8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81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A27B2-9671-4EFF-B79A-C4B4E502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Typical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34CF4-F912-4161-80FF-5AE364C3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81200"/>
            <a:ext cx="2876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FB0A2-5903-4531-AD2C-D411C12F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7645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3365C-A0DF-4236-82AF-661221E1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FD340-CADE-420D-9EB2-A9BE1FBD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Supervised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96B39-CEBF-40F2-AF6E-D95CDDFA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33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DEE21-799B-4D7E-8BB7-D50F87A4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289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Label for each example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888E7-3B69-4FC5-A3E7-6D55FD3C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33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C0DE2-FC71-4512-8156-235AB52B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289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Class or number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A1147-183D-4170-9515-67F668D5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8A15E-E1D6-4171-88E3-96BE78F2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2890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Image features become a waste label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68871-736E-4CC5-92FD-28798F8F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0B8DD5-7340-4B5D-A1B2-BBD483FD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Unsupervised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52E339-AD7B-4345-B0F5-B1ECADEC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635B66-E081-4019-A9C9-DDA82D64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09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No target labels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FA367D-0542-41F9-A261-88DA85D3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147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A6D0E6-7864-406F-8BF0-7FDF1EAC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09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Clusters / structure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7CEECD-27C1-43F1-A16E-AF81D232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1470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33677E-8242-493A-9372-6D86C6C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99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Similar donation records form groups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085C39-6389-41CE-8349-9DB6D1AD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E0A042-8E73-4804-B1FA-E22E3A68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Reinforcement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39D2E2-87DD-4E6A-AF42-C37B65C5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957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B49180-8B3D-4F50-9937-CE01DCFD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910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Rewards from actions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D92B76-BF8C-4A41-BBD6-59E1F233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957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E5751B-1968-4BD4-B3C4-15330BF0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910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Policy / 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D6D052-92C8-4389-8D42-4F590F85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9575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1923BC-B119-486F-9F7F-0603E975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9100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Actions that reduce energy use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1B8F24-1E6E-4ED4-9670-1CC67795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8765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A2C8D-D3CF-47B2-BE23-CEFEB3EB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04  EVALUATION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1F216-3A8D-49E7-A555-31482A84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Training, validation, and test 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059E8-41C0-4B5B-82BD-F298DA7E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D9712-63B1-48C6-82DD-A7F2ADB4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0AA27-EB04-4F80-81F2-BD7E370E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5C424-A102-4D4A-8929-2EDAE726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D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FE1A0-E9F6-4C3A-81C5-3652CC20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Train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900A6-3F0A-4E69-825B-C975BDA3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Learn parameters from examples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E6BFF-FA05-4550-B26F-5134D831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492AB-C974-428E-99BE-F86BBCA9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E1B96-B4ED-4A4A-A2DD-A875DF27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FD0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878F5-4784-463B-8F27-473B07B5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C580E-1FCC-4C2F-B8A7-94C8ED09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Choose settings and compare versions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12FEE-053E-4DAB-BB23-3954938D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6BF81-952D-45A7-A09E-FEDD488E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83AE75-AB40-4EC8-9FEC-939B0516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D6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B8164-43C4-465E-99EA-B181D718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E2D03-5264-41F2-A57F-D5045665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Estimate performance on untouched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92943-C139-444B-9375-7B18206F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846E6-523A-4856-A19C-C67365A5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17B162-2C3F-44AC-BE03-02CE75D6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FD0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35C34-2A54-461A-970E-96CD0351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Monitor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6C7A9-8AAB-4B72-96DF-72A69EA6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Watch drift, harms and user outcomes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D398CD-3DAE-479C-A614-53F441FB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6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Use the test set once, after choosing the model.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31B7B-BEDF-4030-988E-2B279817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242849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D29122-1696-466E-8FFD-96D08813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05 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A30BA-45CE-43C3-B138-3BC27A80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Accuracy, precision, recall, and F1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3D94A-3FAF-4E15-A725-CAD19D18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45072-E857-4EF0-B3F6-0DCA7111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B188A-7A90-4C05-8B48-7DA2D764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9CFB2-0568-415F-A94B-CAC1FF30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Metric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0DCA5-9B93-4072-B2DD-09D8560F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8A980-24F1-47CC-8B35-9728C3FC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DF80A-EA6C-426E-B240-30E99CD7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81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A1DE7-AE85-4E48-BC3A-28E4D78B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Useful when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58B0D-07A3-4C59-941D-5087476B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81200"/>
            <a:ext cx="2876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28686-14CB-4377-83DA-22666F7F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7645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Donation-outreach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7BFAD-3C52-4B7C-B139-0D06703E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F43A1-69C5-40D4-A2F4-B7AA66D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27B3F-68E2-4A49-A31B-2612616C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33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CC323-6EC8-4AAF-AA8A-582A050C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289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How often correct overall?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53BB6-6F21-4149-BE20-DC4716CD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33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AC424-2D3C-47EC-A577-6F0257A7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289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Classes and costs are balanced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FF653A-2FE1-4D71-BF50-5481FF76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A9C85-531D-4456-9CA6-1A903436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2890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General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17D46C-6680-433C-9039-00BD37B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93E957-26E0-442E-914B-A6378C80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Precision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7FC186-733D-4007-8A57-BBEAA3BA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8EE08B-05B7-4382-BC25-A9258430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09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When we say yes, how often right?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7E471-6A64-4976-82D4-51662C24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147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2488FB-7EB9-4163-922F-E0814A5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09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False positives are costly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564660-778E-4140-BDF2-F1340D6F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1470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6AA1E4-7CE3-4D95-8A70-F7D9A285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99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Use precision if each contact is expensive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C3273F-0797-4332-8F99-257532F3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73A620-0449-4014-801E-51196FE4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Recall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E1B554-2013-4E8C-9F64-690060B2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957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ABF157-6453-487F-9061-111D07EC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910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How many real positives found?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B1B1CB-BF7F-44A7-81C8-183333A6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957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8D29AF-2049-496C-9397-D86A3EBF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910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Missing positives is costly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7A2F52-83E5-4F6F-856E-A93CF22E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9575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BE3124-523E-4823-95EA-7002D256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9100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My choice: recall when contact is low cost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E03A32-B0E5-43D0-A84C-42E31469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C1DE7B-CCD0-4A02-990F-AE14D497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F1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8A57BE-05AE-4639-9F9D-F9D4A733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768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350A4F-9280-4242-88F2-74411F7B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720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Balance precision and recall?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937FC2-0F19-4385-83B8-9DC1D7B0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768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CFC358-4C1F-4A6D-9D69-2C9E10CA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720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Need one compromise score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7273E2-4D25-4DA7-B6DA-D38F7AD1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7680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FDA69F-0859-4EF0-BE55-CDDCF7DE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720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Compare models consistently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149302-ED0A-4E0C-BA8C-3C268D1A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73812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42D72-9876-469C-B56D-076640E0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06  GENERALISATION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32412-F71C-4701-8D99-F1FDB05C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Underfitting and overfitting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F9F84-975A-4000-B168-BA047C71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6B2B4-9B3C-487C-AD10-F2DDD79E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AC1CF-0D4F-4F39-ACCA-053E92A7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UNDERFITTING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D0DA6-8D23-4602-87CD-3F829865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Cause: the model is too simple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Low scores on training and new data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Try better features or a more suitable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97E9C-97D4-4164-80E8-C2A39E1E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32FE0-A3AD-4F13-8AAB-2627DA4D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OVERFITTING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16A7E-AB86-4DF0-AE5A-EDFF5545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Cause: too much detail or too little useful data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High training score, lower test score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Use validation, simpler models, or better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552F1-BCAA-4CC7-8A79-4BB34029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579F8-7CD5-49BC-A192-AC68C83B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The goal is reliable performance on new cases.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234B8-392C-4EE9-B193-9FB273B5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0547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09EEE-0F32-40E1-B2EC-0C4CCDBD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07  MY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DBA38-B96A-480C-B5F8-4E9317D8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723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31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Smart Waste Sorter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2C916-1B6C-4337-BF58-2651F3A3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426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C6CF0-B872-4A8E-B77E-83C8C45C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Model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EF8E3-F120-4AFB-9603-E717491C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42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E9EDF4"/>
                </a:solidFill>
                <a:latin typeface="Verdana"/>
                <a:ea typeface="Verdana"/>
                <a:cs typeface="Verdana"/>
              </a:rPr>
              <a:t>Supervised image classification with a confidence threshold and an “uncertain” route.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178BC-C19F-4665-9D3C-A2463ADB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99D59-E787-4AC5-B2C0-DE5509F4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342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E9EDF4"/>
                </a:solidFill>
                <a:latin typeface="Verdana"/>
                <a:ea typeface="Verdana"/>
                <a:cs typeface="Verdana"/>
              </a:rPr>
              <a:t>Balanced images across materials, lighting, devices, damage and local packaging.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B0F04-E9B1-41AD-85B5-593090F8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E639A-C6C8-4E98-BAB9-EA1DB917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342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E9EDF4"/>
                </a:solidFill>
                <a:latin typeface="Verdana"/>
                <a:ea typeface="Verdana"/>
                <a:cs typeface="Verdana"/>
              </a:rPr>
              <a:t>Per-class recall, confusion matrix, usability time and contamination outcome.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A7BD1-6EC6-425C-ACB5-BB53179C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929E7-0CDB-4546-B25B-749905D6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I would only pilot it with manual guidance and tests at new stations.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1883E-B928-4A34-B51D-B0F324F3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Max Lopez    Attendance resit    Week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0CC0C-E19B-4134-A485-01FBBE5C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57283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2026-10-30T16:50:41.8970000Z</dcterms:created>
  <dcterms:modified xsi:type="dcterms:W3CDTF">2026-10-30T16:50:41.8970000Z</dcterms:modified>
</coreProperties>
</file>