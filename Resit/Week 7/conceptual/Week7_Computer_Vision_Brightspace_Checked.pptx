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b432381174edc" /><Relationship Type="http://schemas.openxmlformats.org/officeDocument/2006/relationships/extended-properties" Target="/docProps/app.xml" Id="R5c86ffa1a64e4a62" /><Relationship Type="http://schemas.openxmlformats.org/officeDocument/2006/relationships/officeDocument" Target="/ppt/presentation.xml" Id="R97b66bdee21245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2efe8c9ad4182"/>
  </p:sldMasterIdLst>
  <p:notesMasterIdLst>
    <p:notesMasterId xmlns:r="http://schemas.openxmlformats.org/officeDocument/2006/relationships" r:id="R2a9127b1316d4785"/>
  </p:notesMasterIdLst>
  <p:sldIdLst>
    <p:sldId xmlns:r="http://schemas.openxmlformats.org/officeDocument/2006/relationships" id="256" r:id="Rcdf56ec288ad4f29"/>
    <p:sldId xmlns:r="http://schemas.openxmlformats.org/officeDocument/2006/relationships" id="257" r:id="Rf3f4641a46374cab"/>
    <p:sldId xmlns:r="http://schemas.openxmlformats.org/officeDocument/2006/relationships" id="258" r:id="R43b6417cdcee44ec"/>
    <p:sldId xmlns:r="http://schemas.openxmlformats.org/officeDocument/2006/relationships" id="259" r:id="Rbe1960bb91b147b8"/>
    <p:sldId xmlns:r="http://schemas.openxmlformats.org/officeDocument/2006/relationships" id="260" r:id="Rc25f08a888f84af1"/>
    <p:sldId xmlns:r="http://schemas.openxmlformats.org/officeDocument/2006/relationships" id="261" r:id="Rdedd7f4f57fd40bf"/>
    <p:sldId xmlns:r="http://schemas.openxmlformats.org/officeDocument/2006/relationships" id="262" r:id="R1e679d176a7f41a1"/>
    <p:sldId xmlns:r="http://schemas.openxmlformats.org/officeDocument/2006/relationships" id="263" r:id="R452dcf98fbd7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e4539d984441b" /><Relationship Type="http://schemas.openxmlformats.org/officeDocument/2006/relationships/slideMaster" Target="/ppt/slideMasters/slideMaster1.xml" Id="Rc1d2efe8c9ad4182" /><Relationship Type="http://schemas.openxmlformats.org/officeDocument/2006/relationships/notesMaster" Target="/ppt/notesMasters/notesMaster1.xml" Id="R2a9127b1316d4785" /><Relationship Type="http://schemas.openxmlformats.org/officeDocument/2006/relationships/presProps" Target="/ppt/presProps.xml" Id="R62b13966b0194cf2" /><Relationship Type="http://schemas.openxmlformats.org/officeDocument/2006/relationships/tableStyles" Target="/ppt/tableStyles.xml" Id="Rcdd48b3053cd43b0" /><Relationship Type="http://schemas.openxmlformats.org/officeDocument/2006/relationships/slide" Target="/ppt/slides/slide1.xml" Id="Rcdf56ec288ad4f29" /><Relationship Type="http://schemas.openxmlformats.org/officeDocument/2006/relationships/slide" Target="/ppt/slides/slide2.xml" Id="Rf3f4641a46374cab" /><Relationship Type="http://schemas.openxmlformats.org/officeDocument/2006/relationships/slide" Target="/ppt/slides/slide3.xml" Id="R43b6417cdcee44ec" /><Relationship Type="http://schemas.openxmlformats.org/officeDocument/2006/relationships/slide" Target="/ppt/slides/slide4.xml" Id="Rbe1960bb91b147b8" /><Relationship Type="http://schemas.openxmlformats.org/officeDocument/2006/relationships/slide" Target="/ppt/slides/slide5.xml" Id="Rc25f08a888f84af1" /><Relationship Type="http://schemas.openxmlformats.org/officeDocument/2006/relationships/slide" Target="/ppt/slides/slide6.xml" Id="Rdedd7f4f57fd40bf" /><Relationship Type="http://schemas.openxmlformats.org/officeDocument/2006/relationships/slide" Target="/ppt/slides/slide7.xml" Id="R1e679d176a7f41a1" /><Relationship Type="http://schemas.openxmlformats.org/officeDocument/2006/relationships/slide" Target="/ppt/slides/slide8.xml" Id="R452dcf98fbd7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fe08b67c744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5b78f2c7f4f05" /><Relationship Type="http://schemas.openxmlformats.org/officeDocument/2006/relationships/notesMaster" Target="/ppt/notesMasters/notesMaster1.xml" Id="Rba7de89342b846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0d583906648be" /><Relationship Type="http://schemas.openxmlformats.org/officeDocument/2006/relationships/notesMaster" Target="/ppt/notesMasters/notesMaster1.xml" Id="R9a7569572f01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c56f60c0e480d" /><Relationship Type="http://schemas.openxmlformats.org/officeDocument/2006/relationships/notesMaster" Target="/ppt/notesMasters/notesMaster1.xml" Id="Rf951cfcf8e2e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f0446cba549c4" /><Relationship Type="http://schemas.openxmlformats.org/officeDocument/2006/relationships/notesMaster" Target="/ppt/notesMasters/notesMaster1.xml" Id="R94b944bcc40248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8dd900cfe54d3e" /><Relationship Type="http://schemas.openxmlformats.org/officeDocument/2006/relationships/notesMaster" Target="/ppt/notesMasters/notesMaster1.xml" Id="Rd4efb39a32b640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6569e68f0c4d15" /><Relationship Type="http://schemas.openxmlformats.org/officeDocument/2006/relationships/notesMaster" Target="/ppt/notesMasters/notesMaster1.xml" Id="Rffa5b67cfd5d44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921b3b5b64553" /><Relationship Type="http://schemas.openxmlformats.org/officeDocument/2006/relationships/notesMaster" Target="/ppt/notesMasters/notesMaster1.xml" Id="R32eaa8d09ba441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10e21277d14d4a" /><Relationship Type="http://schemas.openxmlformats.org/officeDocument/2006/relationships/notesMaster" Target="/ppt/notesMasters/notesMaster1.xml" Id="R0b962ab67377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https://jamanetwork.com/journals/jama/fullarticle/2665775</a:t>
            </a:r>
          </a:p>
          <a:p xmlns:a="http://schemas.openxmlformats.org/drawingml/2006/main">
            <a:r>
              <a:t>Source: https://research.google/blog/where-wild-things-roam-identifying-wildlife-with-speciesnet/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https://pubmed.ncbi.nlm.nih.gov/26285054/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6bdd601ae47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c3209f60d49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ca2c6512246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6d65bb2144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45c31148a42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471ada49b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96994C-0B4C-4536-AFF7-5BA6AE4D9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8E953E-64EC-4FA1-BDE9-D627F141D5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8C05E9-AA4E-4FCD-B473-7D402AEEE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9EEEDA-18C3-45F1-B786-F6E838DAC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D4D33A-D91C-4F2C-9D85-BA0D25344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FF65D8-DC12-4F18-B294-4C8D799A7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77C7B8-C935-4D0A-921F-6F608C785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4A2637-55E7-4D86-9ABA-4452538922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4C647-37FC-444C-A635-AB7F492DA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A1A4A1-601E-49EE-89D0-34DA6BF813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fe837283947c0" /><Relationship Type="http://schemas.openxmlformats.org/officeDocument/2006/relationships/slideLayout" Target="/ppt/slideLayouts/slideLayout1.xml" Id="Rcdf91cdfce054ccf" /><Relationship Type="http://schemas.openxmlformats.org/officeDocument/2006/relationships/slideLayout" Target="/ppt/slideLayouts/slideLayout2.xml" Id="Rdd84e8cefa1d4fc5" /><Relationship Type="http://schemas.openxmlformats.org/officeDocument/2006/relationships/slideLayout" Target="/ppt/slideLayouts/slideLayout3.xml" Id="R215b4b3ab3734082" /><Relationship Type="http://schemas.openxmlformats.org/officeDocument/2006/relationships/slideLayout" Target="/ppt/slideLayouts/slideLayout4.xml" Id="Rf69d41d2c14b4a7a" /><Relationship Type="http://schemas.openxmlformats.org/officeDocument/2006/relationships/slideLayout" Target="/ppt/slideLayouts/slideLayout5.xml" Id="R9392efa6ea3d451c" /><Relationship Type="http://schemas.openxmlformats.org/officeDocument/2006/relationships/slideLayout" Target="/ppt/slideLayouts/slideLayout6.xml" Id="Rd2d28f755a6d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f91cdfce054ccf"/>
    <p:sldLayoutId xmlns:r="http://schemas.openxmlformats.org/officeDocument/2006/relationships" id="2147483650" r:id="Rdd84e8cefa1d4fc5"/>
    <p:sldLayoutId xmlns:r="http://schemas.openxmlformats.org/officeDocument/2006/relationships" id="2147483651" r:id="R215b4b3ab3734082"/>
    <p:sldLayoutId xmlns:r="http://schemas.openxmlformats.org/officeDocument/2006/relationships" id="2147483652" r:id="Rf69d41d2c14b4a7a"/>
    <p:sldLayoutId xmlns:r="http://schemas.openxmlformats.org/officeDocument/2006/relationships" id="2147483653" r:id="R9392efa6ea3d451c"/>
    <p:sldLayoutId xmlns:r="http://schemas.openxmlformats.org/officeDocument/2006/relationships" id="2147483654" r:id="Rd2d28f755a6d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ca4acef884020" /><Relationship Type="http://schemas.openxmlformats.org/officeDocument/2006/relationships/image" Target="/ppt/media/image.png" Id="R60cdc89efa474949" /><Relationship Type="http://schemas.openxmlformats.org/officeDocument/2006/relationships/notesSlide" Target="/ppt/notesSlides/notesSlide1.xml" Id="Rf0f918a602f0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b859b49b24ea5" /><Relationship Type="http://schemas.openxmlformats.org/officeDocument/2006/relationships/notesSlide" Target="/ppt/notesSlides/notesSlide2.xml" Id="R2d7378f8fa2b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de4b3a07d4131" /><Relationship Type="http://schemas.openxmlformats.org/officeDocument/2006/relationships/notesSlide" Target="/ppt/notesSlides/notesSlide3.xml" Id="Radfe8945046f45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398b9b1594cc2" /><Relationship Type="http://schemas.openxmlformats.org/officeDocument/2006/relationships/notesSlide" Target="/ppt/notesSlides/notesSlide4.xml" Id="R95824916522c47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d6412496f4512" /><Relationship Type="http://schemas.openxmlformats.org/officeDocument/2006/relationships/notesSlide" Target="/ppt/notesSlides/notesSlide5.xml" Id="Rc9d5cd4dbeb7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19557335642c6" /><Relationship Type="http://schemas.openxmlformats.org/officeDocument/2006/relationships/notesSlide" Target="/ppt/notesSlides/notesSlide6.xml" Id="Rd96977eba67f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e341b64d143c1" /><Relationship Type="http://schemas.openxmlformats.org/officeDocument/2006/relationships/notesSlide" Target="/ppt/notesSlides/notesSlide7.xml" Id="R10dd944ea67c41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9e2d5999f4f03" /><Relationship Type="http://schemas.openxmlformats.org/officeDocument/2006/relationships/notesSlide" Target="/ppt/notesSlides/notesSlide8.xml" Id="Rfeeb88535e794f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551B4-94AD-444F-9293-4167AA0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94D7A-C810-4FDE-9E3C-7ED9C5BC0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dc89efa474949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7A56-AC41-4E72-BD23-0FFDA11E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457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6"/>
              </a:gs>
              <a:gs pos="100000">
                <a:srgbClr val="0B17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AF68D-A8BB-4582-8205-A1D920F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WEEK 7    CONCEPTUAL RETAKE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8E414-9A64-4B72-8B05-CE1593C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5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Computer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F916E-235D-489C-BFA1-24CF62A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The computer-vision concepts and activities from Week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663AE-8FF9-414C-8BAE-15C79ED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09875-4B8E-4C03-A696-6A7C350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Attendance resit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D9FE8-8FF8-40CC-BAA9-4B8B586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</a:t>
            </a:r>
          </a:p>
        </p:txBody>
      </p:sp>
    </p:spTree>
    <p:extLst>
      <p:ext uri="{BB962C8B-B14F-4D97-AF65-F5344CB8AC3E}">
        <p14:creationId xmlns:p14="http://schemas.microsoft.com/office/powerpoint/2010/main" val="1440482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A591FC-65CC-4949-9925-02F8037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  PERSONAL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B6C45-683C-4E7B-A9F6-208DD2E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Teachable Machine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DC68D-9EF1-439A-A58A-50DF07E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7F00D-13D6-46BE-A22A-4EB16E0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2DF17-2E16-4EB1-971C-5187449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044BD-F813-48F4-8897-BE42414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1DCD-6B94-486F-81EE-D85A69E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Choose 3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EB0D1-7AAC-4100-9826-E878CD56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Use distinct objects or gestures you can explain.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D7766-0B87-4D3A-BE90-C73445A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29187-78CD-44D7-8B3B-E485D19F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F8CC-0DE5-49AF-8E6E-61673C3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Capture 30+ 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4244E-B55E-4640-8BF0-4306C34A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Vary angle, distance, background and lighting.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9B644-04E4-4A33-86D1-299BED1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61AD8-080B-47C5-8DF6-F92DE50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CB95F-EB74-417F-B57F-7BC98FA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Train and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64B2F-A7F9-43CB-AD77-2847BF07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Include examples unlike the training images.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FFC79-4DAB-4CEC-8D75-92B2582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3943D-A2CF-407D-AA65-89FB08A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99ECE-3306-4F46-B0E2-BBE1127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Save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3EDAB-267F-41A4-8595-8FAAEC2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Screenshot class counts, results and one real failure.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E4280-2ADD-4ED1-91F3-9E09F2C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FE841-1960-44CE-86E8-CB823F35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34128-8FEB-42FE-A53C-3B3E41A0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Explain the cause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BAAB4-AB56-4015-8715-2D877EF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96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Connect the error to data, preprocessing or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AA24E-8DE1-42A1-901C-CD8C879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DFA5D-8FDE-4E4B-9FB6-5488A22B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15025"/>
            <a:ext cx="1053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Evidence: class counts, test result and one real failure.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98F23-BEC7-4B07-85BC-55394BD7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6480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9B0D7-F723-49C7-8721-404CACD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02  AI FOR GOOD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E4E49-6E90-47C5-9003-F5F847A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Two uses of computer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0E0E9-5303-40CA-BF66-762947B6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BFEED-D8DB-42B0-A9C8-D47280B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4D98E-7F4D-48AD-8E6F-A146E17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DIABETIC RETINOPATHY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ED950-62A4-4561-8BC5-1A803111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Use: screen retinal images for disease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Benefit: faster review for more people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Risk: results change across devices and populations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Safeguard: local testing and clinician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260A4-500C-4089-9BF9-9C7FA8F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BED25-6301-4CB1-B864-14BD60C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WILDLIFE CAMERA TRAPS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220F1-F9E9-44DE-98B2-B03E368F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Use: sort wildlife camera-trap images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Benefit: faster ecological monitoring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Risk: rare species and new habitats are missed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Safeguard: check low-confidence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8681B-14E6-49E4-8B3A-E858F15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B1B87-E411-4584-B39B-D23BC24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For both examples, test who benefits, who may be missed, and when a person checks the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1B60D-1A51-4311-AD85-447CC1F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7967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6AD50-A9D6-4CEC-8D8D-6039CA02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 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301D3-5FDB-49C6-9E6D-3F31A96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Image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C6827-900B-4B69-B8A1-F75CCF8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BE52E-ABC9-4BAA-9F8B-16768F9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A75CE-B1FD-4A51-8D12-CC90131D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52554-0B2C-4F63-AD2D-B6BE5E2D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29626-D57C-4903-B581-3396532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Pixels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E0506-E562-4E67-B6EB-4BCC603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An image is a grid of height × width × colour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B954B-416D-4DF7-8439-791CB3F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C01D2-3D12-4A1A-95F9-394FD30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7925D-1D71-48ED-9131-C8DBD933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3F702-9D01-441D-B4BF-679AA21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Resize or 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003B3-46CA-4FEE-8081-2439A53C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Fits the model, but can hide small details or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6FBCD-D70F-4224-8886-64EF799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8AC3A-3E0C-4C47-AA86-87890B54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EC3C5-63D3-43CB-B865-265C323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749FF-22E9-45CA-8070-121EA52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Grayscale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0C34C-10B1-4A3A-A22E-DF6D1AF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Uses less data, but removes colour clues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B83CD-69FE-4A40-816F-98C266D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55F5E-DBDB-40F1-9AD5-7F147F4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9B619-A0A9-4C65-AC91-ECFF2EC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EEDE0-3BEB-4B09-891D-17AED45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Normalise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6FC92-0201-4D33-B464-424929EE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Puts values on one scale, but camera differences can remain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75E60-86B2-489D-8AA0-84B1FAAA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Use the same preprocessing for training and real images, then test what information was lost.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77543-5A7B-4AAA-AD63-2608D9B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3001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1A0BE-3BB9-4782-A40E-CC2C52AA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04  NEURAL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BB8C1-D71A-492E-8293-C52FEBA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How a neural network learns image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96A15-104D-45D1-88A1-2AC4CD32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A8C74-967C-496B-A973-08C83D4A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C058B-EB34-4252-9751-41DEF286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EARLY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452B9-86A5-481B-BEE1-7975B7A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Training compares a prediction with the correct label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The weights change after each error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Early layers learn edges and textures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324EE-7166-4AB1-9D94-C8C761D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C13AA-4925-4BB2-BF90-A334507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LATER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9CDB6-7A84-4DFD-AEF2-3825DC30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Later layers combine parts and shapes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Images change with light, angle, and background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Background shortcuts can cause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4F91D-A520-4493-BFA6-03DFBB7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F7D99-D083-4743-A53D-E2A198E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Test new angles, lighting, and backgrounds instead of trusting confidence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9AE18-9B20-4F44-8622-F4579AC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6688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34369-ADF2-40F7-B667-39C39E5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05  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8DF18-1D24-4F76-B832-594654D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Convolution step by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DB75-BEB5-450A-A2F8-0A63419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652E2-B937-425E-9146-533AF55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287A4-7449-4871-A066-C288E3E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0372-B852-44A6-BD82-9026A2D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C6EB1-BD14-4634-A5A2-29A1A4A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275E1-E59F-4385-9F3B-1EDE453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Take a small window of nearby pixels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04406-42AE-4762-BF95-FA5046B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C4AD0-7A84-48DB-B50A-8C186AE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3E2C8-DC86-4927-AB0A-6D4CBD1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0381A-3208-4C64-97F8-BEDB283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Multiply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59262-6259-46C7-9E83-1F8D6AF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Apply learned filter weights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20F39-D947-4980-8925-2A16585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FEDDD-A8C7-41EB-91EC-FAE5E5A4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2680A-724A-4221-95ED-A99E57C8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45B83-B174-47C1-A864-8387B78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55D28-8AD6-4ABC-8B83-244A7DB1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Produce one activation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3C56F-FA7B-4EC7-90AE-3DAED5D6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0D52D-EC9A-40FF-8B9D-0024244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45A12-E1C7-48FC-AC8A-7994D5B0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D60DE-F1D3-4295-B450-2242CF59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Slide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FAE02-BA03-43B5-8CA3-0057BB6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Repeat to create a feature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2F36F-BDB7-4532-BEF0-3435B9C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The same filter checks every part of the image. This helps a CNN find a pattern wherever it appears.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4C154-6C82-405B-B320-31BF101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8602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C0B6B-E099-4804-9588-F2B9AC64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06  BEYOND PHOTOGRAPHS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C0B7F-A2FE-49AB-BB1A-9186252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CNN example using non-image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9307F-B9E8-4F6D-939C-4491267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8600B-1112-4BA2-83E4-D35A7A18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D5860-9D6B-4DEE-9043-B8CFEFAC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BD666-612F-48FE-B089-FD6148A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0B5A1-0045-4351-9686-B2C6353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An ECG is a heart signal recorded as numbers over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41AEB-F2FE-4B4A-B8EC-8907004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2E85F-CDB6-494B-9917-2B2D7A50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2FD38-89A3-4DC3-B522-C59C6BB9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Nearby values form local heartbeat shapes.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B7789-76C7-4F4F-98F3-6B2A5AF7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CONVOLUTION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80B5C-FDEC-45D3-96BD-90C5C62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2EA0C-D105-40A5-A1C4-EFDDDD36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one-dimensional filter scans short parts of the signal.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043E0-DA8D-47F7-A1D5-5D67161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A75D9-FAD4-4634-A233-8AA75B3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359E5-72A2-402B-9952-C459776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The model can flag heartbeat types for clinician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55B-0748-442A-B86D-792E7765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8583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4AA2FD-19AC-486E-9555-61D3935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07  MY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4A2A4-E53A-4415-BE01-425318F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My Teachable Machine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5622-41ED-4BAC-9F10-FA752F7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26119-36D2-4210-889F-7BE011C5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138E1-2E92-437A-90B2-F93CA1BD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23DF7-A9F3-4183-8098-E0CA137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97161-6D18-4E40-A8F6-8D9509E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36BDB-117B-400B-B030-77029E7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Training 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FD599-CA5B-48D7-ADF5-2E6329B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5FCD5-0A01-4D18-8AB4-8063B4D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Test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C2608-3CE2-4B1C-B6C0-2F5D07B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4A39A-B079-4339-AE49-DF82DB0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What I noticed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11FA-4EBC-4F63-B14C-0162D57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FC708-5DAC-4905-9ABF-17C8F0A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Class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F6154-2BF4-4F38-9463-3EED3C7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CC65A-749F-477A-8748-71F6DDD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30+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6027C-D50E-4AA3-90C9-6D6949A2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9C7C4-B726-499D-9A9A-88BFE53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EFEB7-35C6-4050-92DA-73BE580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5A928-9761-4089-9B8A-5C389E9C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observation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7DC3F-831C-4B50-BA5C-9D26A64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A0902-4043-4DEC-979B-737A1CF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Class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278C7-0F11-4D26-A207-8786E48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ED245-D20E-4B87-9D96-2B3ECE5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30+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DED79-E833-428F-8DCC-5CAAC546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756FB-E4D7-4A94-872B-A0424C15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8EC68-E682-4895-83FE-9126F327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FCB6F-DF1A-44EC-BA9E-1D85251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observation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38C59-B993-4BA1-AC60-F749A7D1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88BA8-B0BF-4C04-881D-CF01C0C9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Class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C35B6-C0C6-4EB4-9D87-4244890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D11EB-1212-4850-8C81-EB0C6C2A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30+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23FC2-0A6A-49E2-8A29-04CD4AE3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8F1BB-3721-49C9-AD70-B351547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CAFF6-6B3D-4E55-8188-8BBFA1E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4448A-A8B6-44B9-BC34-FB847E6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observation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E2E019-0ED1-4543-AE1A-B1E8997A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4CFBA7-1577-4FBE-BB6D-EDFF7DBD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Failure example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DB27B6-8D2F-425E-A249-50F3872A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E38A61-AEE1-467D-BC80-96968C9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CCB41F-998A-4BA8-94B2-E450992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B42EA7-3CE7-4C2A-9210-93819A6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result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2C8DCC-EAF9-45AB-9829-D415493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768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458583-F027-4673-B720-CC0E2F21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720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Why did it fail?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55CD1-8C74-4852-B721-5E514BD0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8F58EB-6E6F-4897-9E40-9FB663C7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Screenshot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B7FF8F-4BD6-443B-B994-723706D6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57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C7CB95-5F46-4A08-AD18-E684F7B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531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C362B1-23BB-479B-9EB4-EE1E7FAC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07DE7B-C71D-4BC3-A418-41F8C89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7531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Add filename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EC6AFF-0E42-44D3-94F4-E351041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578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55545E-B72A-4A2E-904E-220CD2D3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531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Shows all 3 classes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CA134E-AFF6-4AFE-AB80-B875F7D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3206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2026-10-30T16:51:14.9950000Z</dcterms:created>
  <dcterms:modified xsi:type="dcterms:W3CDTF">2026-10-30T16:51:14.9950000Z</dcterms:modified>
</coreProperties>
</file>