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ea470c12024845" /><Relationship Type="http://schemas.openxmlformats.org/officeDocument/2006/relationships/extended-properties" Target="/docProps/app.xml" Id="Rc05c632d132540c1" /><Relationship Type="http://schemas.openxmlformats.org/officeDocument/2006/relationships/officeDocument" Target="/ppt/presentation.xml" Id="Rb37f2a5082cc41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5faabc10f64841"/>
  </p:sldMasterIdLst>
  <p:notesMasterIdLst>
    <p:notesMasterId xmlns:r="http://schemas.openxmlformats.org/officeDocument/2006/relationships" r:id="R2a2231a53a494f20"/>
  </p:notesMasterIdLst>
  <p:sldIdLst>
    <p:sldId xmlns:r="http://schemas.openxmlformats.org/officeDocument/2006/relationships" id="256" r:id="Re11857f4aea54ba8"/>
    <p:sldId xmlns:r="http://schemas.openxmlformats.org/officeDocument/2006/relationships" id="257" r:id="R80574122c0734bd5"/>
    <p:sldId xmlns:r="http://schemas.openxmlformats.org/officeDocument/2006/relationships" id="258" r:id="Rdab41c31b634415c"/>
    <p:sldId xmlns:r="http://schemas.openxmlformats.org/officeDocument/2006/relationships" id="259" r:id="Re6014a5328714436"/>
    <p:sldId xmlns:r="http://schemas.openxmlformats.org/officeDocument/2006/relationships" id="260" r:id="R1090d7911e404830"/>
    <p:sldId xmlns:r="http://schemas.openxmlformats.org/officeDocument/2006/relationships" id="261" r:id="Rd05e55eb554740be"/>
    <p:sldId xmlns:r="http://schemas.openxmlformats.org/officeDocument/2006/relationships" id="262" r:id="R0b6be6ad04624131"/>
    <p:sldId xmlns:r="http://schemas.openxmlformats.org/officeDocument/2006/relationships" id="263" r:id="R3962c2492c3448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42505a21e64007" /><Relationship Type="http://schemas.openxmlformats.org/officeDocument/2006/relationships/slideMaster" Target="/ppt/slideMasters/slideMaster1.xml" Id="Rb75faabc10f64841" /><Relationship Type="http://schemas.openxmlformats.org/officeDocument/2006/relationships/notesMaster" Target="/ppt/notesMasters/notesMaster1.xml" Id="R2a2231a53a494f20" /><Relationship Type="http://schemas.openxmlformats.org/officeDocument/2006/relationships/presProps" Target="/ppt/presProps.xml" Id="R006017a7f6cb4e75" /><Relationship Type="http://schemas.openxmlformats.org/officeDocument/2006/relationships/tableStyles" Target="/ppt/tableStyles.xml" Id="Rd11f29e96f7f422f" /><Relationship Type="http://schemas.openxmlformats.org/officeDocument/2006/relationships/slide" Target="/ppt/slides/slide1.xml" Id="Re11857f4aea54ba8" /><Relationship Type="http://schemas.openxmlformats.org/officeDocument/2006/relationships/slide" Target="/ppt/slides/slide2.xml" Id="R80574122c0734bd5" /><Relationship Type="http://schemas.openxmlformats.org/officeDocument/2006/relationships/slide" Target="/ppt/slides/slide3.xml" Id="Rdab41c31b634415c" /><Relationship Type="http://schemas.openxmlformats.org/officeDocument/2006/relationships/slide" Target="/ppt/slides/slide4.xml" Id="Re6014a5328714436" /><Relationship Type="http://schemas.openxmlformats.org/officeDocument/2006/relationships/slide" Target="/ppt/slides/slide5.xml" Id="R1090d7911e404830" /><Relationship Type="http://schemas.openxmlformats.org/officeDocument/2006/relationships/slide" Target="/ppt/slides/slide6.xml" Id="Rd05e55eb554740be" /><Relationship Type="http://schemas.openxmlformats.org/officeDocument/2006/relationships/slide" Target="/ppt/slides/slide7.xml" Id="R0b6be6ad04624131" /><Relationship Type="http://schemas.openxmlformats.org/officeDocument/2006/relationships/slide" Target="/ppt/slides/slide8.xml" Id="R3962c2492c34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e0b34c8a2247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5e703750a4a24" /><Relationship Type="http://schemas.openxmlformats.org/officeDocument/2006/relationships/notesMaster" Target="/ppt/notesMasters/notesMaster1.xml" Id="R8907d694d73f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b253bd212c4861" /><Relationship Type="http://schemas.openxmlformats.org/officeDocument/2006/relationships/notesMaster" Target="/ppt/notesMasters/notesMaster1.xml" Id="R031977b00f2742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26586d0b244574" /><Relationship Type="http://schemas.openxmlformats.org/officeDocument/2006/relationships/notesMaster" Target="/ppt/notesMasters/notesMaster1.xml" Id="Rd4d176cf686445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aa8b72706f4775" /><Relationship Type="http://schemas.openxmlformats.org/officeDocument/2006/relationships/notesMaster" Target="/ppt/notesMasters/notesMaster1.xml" Id="R2d4dbc4a5af543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184f019d34e0b" /><Relationship Type="http://schemas.openxmlformats.org/officeDocument/2006/relationships/notesMaster" Target="/ppt/notesMasters/notesMaster1.xml" Id="Rf1c59c8b64364b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4337493a964708" /><Relationship Type="http://schemas.openxmlformats.org/officeDocument/2006/relationships/notesMaster" Target="/ppt/notesMasters/notesMaster1.xml" Id="R000524baf8e042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7e607e93594645" /><Relationship Type="http://schemas.openxmlformats.org/officeDocument/2006/relationships/notesMaster" Target="/ppt/notesMasters/notesMaster1.xml" Id="R8fd99f16c92b43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50b38b098344bb" /><Relationship Type="http://schemas.openxmlformats.org/officeDocument/2006/relationships/notesMaster" Target="/ppt/notesMasters/notesMaster1.xml" Id="R0ed08fb5eb8d44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https://help.openai.com/en/articles/10032626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https://www.nist.gov/publications/artificial-intelligence-risk-management-framework-ai-rmf-10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a9f6dada54d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14dde51a04f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469409e5c47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f8ce8b6904c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ad53858ea46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7522598e8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5D9BE1-1F1A-4CAC-AB2B-BFF3665257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B6D055-0D07-4211-BAB8-77F8BD479E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72FA17-65D6-40D8-9BD7-D620616DE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E2A67E-E76A-4D4E-A3DA-E5C9F4F5A2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0C7C8C-BA1F-4BFA-B233-82F0AD6F6E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035F2B-CE71-450E-A9D8-298738313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FF3A1A-EB96-4E29-B8D1-2F20DC0B82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0F4696-4BD8-4121-AC69-ADC4ABF4A9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E0DC53-BC9A-4201-957D-44C56F4550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226521-F7B5-4417-A1D5-2E7E8C94B1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85874ca0b64593" /><Relationship Type="http://schemas.openxmlformats.org/officeDocument/2006/relationships/slideLayout" Target="/ppt/slideLayouts/slideLayout1.xml" Id="R67ebe0ba93d9437d" /><Relationship Type="http://schemas.openxmlformats.org/officeDocument/2006/relationships/slideLayout" Target="/ppt/slideLayouts/slideLayout2.xml" Id="R17f07d662c4d4448" /><Relationship Type="http://schemas.openxmlformats.org/officeDocument/2006/relationships/slideLayout" Target="/ppt/slideLayouts/slideLayout3.xml" Id="Ra7005ad645864bd6" /><Relationship Type="http://schemas.openxmlformats.org/officeDocument/2006/relationships/slideLayout" Target="/ppt/slideLayouts/slideLayout4.xml" Id="R05035a19821b4b6c" /><Relationship Type="http://schemas.openxmlformats.org/officeDocument/2006/relationships/slideLayout" Target="/ppt/slideLayouts/slideLayout5.xml" Id="R66b6f015c0a94791" /><Relationship Type="http://schemas.openxmlformats.org/officeDocument/2006/relationships/slideLayout" Target="/ppt/slideLayouts/slideLayout6.xml" Id="R7ce22bd9bc8648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be0ba93d9437d"/>
    <p:sldLayoutId xmlns:r="http://schemas.openxmlformats.org/officeDocument/2006/relationships" id="2147483650" r:id="R17f07d662c4d4448"/>
    <p:sldLayoutId xmlns:r="http://schemas.openxmlformats.org/officeDocument/2006/relationships" id="2147483651" r:id="Ra7005ad645864bd6"/>
    <p:sldLayoutId xmlns:r="http://schemas.openxmlformats.org/officeDocument/2006/relationships" id="2147483652" r:id="R05035a19821b4b6c"/>
    <p:sldLayoutId xmlns:r="http://schemas.openxmlformats.org/officeDocument/2006/relationships" id="2147483653" r:id="R66b6f015c0a94791"/>
    <p:sldLayoutId xmlns:r="http://schemas.openxmlformats.org/officeDocument/2006/relationships" id="2147483654" r:id="R7ce22bd9bc8648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c52f79414447a" /><Relationship Type="http://schemas.openxmlformats.org/officeDocument/2006/relationships/image" Target="/ppt/media/image.png" Id="R73778b1058cf44a2" /><Relationship Type="http://schemas.openxmlformats.org/officeDocument/2006/relationships/notesSlide" Target="/ppt/notesSlides/notesSlide1.xml" Id="R469f9a8e990446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5481569e34040" /><Relationship Type="http://schemas.openxmlformats.org/officeDocument/2006/relationships/notesSlide" Target="/ppt/notesSlides/notesSlide2.xml" Id="Rf38a9f528be048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295f5e1b44f66" /><Relationship Type="http://schemas.openxmlformats.org/officeDocument/2006/relationships/notesSlide" Target="/ppt/notesSlides/notesSlide3.xml" Id="Rb7e42010e56c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58d1c268d442f" /><Relationship Type="http://schemas.openxmlformats.org/officeDocument/2006/relationships/notesSlide" Target="/ppt/notesSlides/notesSlide4.xml" Id="Rfada0317757a41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967dbf04f40a3" /><Relationship Type="http://schemas.openxmlformats.org/officeDocument/2006/relationships/notesSlide" Target="/ppt/notesSlides/notesSlide5.xml" Id="R6ae92267bcf64b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f24740dba4813" /><Relationship Type="http://schemas.openxmlformats.org/officeDocument/2006/relationships/notesSlide" Target="/ppt/notesSlides/notesSlide6.xml" Id="R88cbacabf09149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c239e52c34a65" /><Relationship Type="http://schemas.openxmlformats.org/officeDocument/2006/relationships/notesSlide" Target="/ppt/notesSlides/notesSlide7.xml" Id="Ra868e69b1a2c40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6f24afd524d86" /><Relationship Type="http://schemas.openxmlformats.org/officeDocument/2006/relationships/notesSlide" Target="/ppt/notesSlides/notesSlide8.xml" Id="R089ed8473b7f48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97E18-0D3E-4A3D-810F-A7ACFD3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34698-1BDB-4747-8280-185585515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78b1058cf44a2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2FD92-0D8C-41DA-BFF0-B7185B79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457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36"/>
              </a:gs>
              <a:gs pos="100000">
                <a:srgbClr val="0B17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C8127-04B0-4378-9713-EA46E040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WEEK 6    CONCEPTUAL RETAKE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3D38C-BD4B-4E56-95AF-18B806C0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476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52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Language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6ECFD-F2B8-4993-B8BA-B693EACA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324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The language-model concepts and activities from Week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F3D78-8DA0-4CD9-8022-1AD3EA7F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21D55-5AD6-4789-BC3C-550C459B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Attendance resit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3A198-D890-4366-84D0-B2AC62CE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</a:t>
            </a:r>
          </a:p>
        </p:txBody>
      </p:sp>
    </p:spTree>
    <p:extLst>
      <p:ext uri="{BB962C8B-B14F-4D97-AF65-F5344CB8AC3E}">
        <p14:creationId xmlns:p14="http://schemas.microsoft.com/office/powerpoint/2010/main" val="2001358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B3951-C309-4347-8E17-4FF2016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  LEARNING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C1EB8-362F-49FC-9277-31ED7E9D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How a language model learns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2A389-F707-4899-8DBC-5095FC4E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17FB7-37A9-47C3-AFFE-B8910D7D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C5BBD-6DDB-4AA7-9305-925D1E28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F571E-6D24-40CC-A8C2-9D4F3191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4BDE3-CCFA-4A5E-B0AA-58C2A570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Tokenise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D7C55-FD5F-41BE-9D68-936B3C5B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Split text into reusable pieces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00A43-80DB-4F2B-B306-FE1066D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CB008-08B7-450D-A19E-F9074205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6E237-FA28-4079-AD03-5FC2EAB8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20438-0F8A-40B6-A7F8-CD92A33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Embed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925B3-1931-4144-A8F2-D668F5A6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Map tokens to learned vectors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81B8-F772-4380-B47D-D17DE25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A1468-7C7D-4CE8-BB20-767A025A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6374C-D546-4691-B2CE-4463ECCC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FD855-A872-46A6-A252-64B6032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Attend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A8475-4549-4811-967E-4D88D6BE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Weight relevant context relationships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A21FA-2F4E-4717-93FB-1EDE7727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9C8D2-05E2-40F7-8A49-C0767ED9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44835-1020-4682-B2AE-7A12998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9A577-E0C5-4415-92C1-EDD25AC4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Predict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D622B-39C4-4978-BFF4-EFAB957C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Estimate the next-token distribution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01794-5A84-481C-B5E1-0722D82B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The model learns likely continuations. Fluent text can still be wrong.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ED231-E7C6-4CE6-B0C3-E2B6CA28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7307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E1B89-7C41-4848-8AD9-576FBAF7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02  ATTENTION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66480-F401-4286-B836-F09CD7FA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Queries, keys, and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7D9CD-A399-496B-99BD-9A95DFBD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B993-7289-4867-98DE-FE6829E4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1577B-EB23-4BB3-BF10-FA5FC645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7DA03-9C05-4EB2-A908-827E7D54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0029B-124C-41A9-8DF2-3E739897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What information does the current token need?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5617F-F757-4595-A484-822E2DEF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5E83E-AA46-4E7A-A83B-6C6BFB5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F8F3A-7689-4AD4-8106-DB126877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What kind of information can each context token offer?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A74E5-DEC6-4B95-975E-C26E2D5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781E1-B725-4768-ACEA-53665E4C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A920D-B469-40EC-B74D-C14E9DE9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Compare query and keys to create attention weights.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C79C6-38FD-4F32-B838-22A78EA1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BF8EE-1BE8-4D60-9F53-C60DC632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7FEB5-1751-42BA-9343-1E4EF1E9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Blend the selected information into a contextual representation.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40159-AA56-4DC1-B5D6-863AA79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7488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3DC55-F666-45E0-A0AC-D98B9B34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  FAILURE MODE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25858-58A8-4F8E-AAF6-9B7C1E4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Hallucinations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8564D-C268-4D9E-B945-242C2BAF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50C75-8155-4DC9-A4C9-B2915FFB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207DD-E721-4D19-BE0C-B1354CC8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WHY IT HAPPENS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1BC6B-2F53-45ED-A92E-2286D2D1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Training rewards likely text, not verified facts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Missing context makes guessing more likely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Confident wording can mislead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11BCE-28A9-44B0-A464-66D252CA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C1DE3-4114-47EC-A545-5C7086E5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PRACTICAL SAFEGUARDS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646D0-9D98-4FE9-9691-9AC04BC6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Check important claims against real sources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Use trusted documents when possible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Send high-stakes cases to a person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02E81-1CC2-42D6-8EEE-3C169541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CE6A5-B403-4FB2-8F0F-05AAE86C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 citation can look real even when the source does not exist.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EB31C-7EEE-46E7-994A-5A5C1E58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6916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8EEC2-B0AC-4946-9DD3-F5E4C121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04  PROMPTING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A21F5-0DC4-4EE1-BE3D-20E6759C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A better prompt gives clearer instructions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A7CEE-E366-4513-B3CE-8D46C0D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025B3-106D-41EF-B0FE-62D7A54C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C36DB-30A8-47B7-91BF-DB0B0DBB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VAGUE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DEB83-C858-488B-AF58-F4A7487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“Write about our charity.”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The audience and source are missing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The result may be generic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45F27-0DEC-4B23-ABB0-72BC64ED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C7990-1F06-4652-9627-4B7153F5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SPECIFIC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C79CB-3465-4F2F-A60B-FAA4E3CE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Audience: local donors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Task: a 120-word update from the supplied facts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Use plain language and mark missing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2753F-4117-40A6-88A4-6476CF6B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386C5-02C6-4EFD-8544-AA6F726B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 clearer prompt helps, but you still need to check the answer.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353D9-B352-4BE5-A849-A5EDF13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7217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CBED38-7075-4A83-AAE1-70E6FE8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05  SYSTEMS AROUND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D329C-7A87-4AEE-A2EE-E19FFCFB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RAG, agents, and multimodality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8193B-CFAF-476A-8AA5-EBAF0B7E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DB6B9-97A9-433C-8F68-B26CECAB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A514F-8E41-485B-8969-4976FFF8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7FB55-06DE-4944-8E86-A89C4DEC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6DE61-9587-449B-AAD4-EB9EB9F0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1B6A0-9F94-4518-81F5-51C5EDE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Adds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7507C-F600-420B-9162-7ACADE81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1D612-EE81-4BCB-ADD6-B67E2EF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AI-for-good potential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D6DD0-7BE4-4BF6-8BC9-7C86CCA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812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9FB8E-D5DE-42C0-9D94-29E530DB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Main concern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FDCE3-0F3A-4D6C-89D3-A18CD497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C6A81-6228-4898-BB92-41B09499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0D0A8-E51B-49B8-AE20-50A87420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D6276-116F-45AE-BC64-476F6C04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Retrieved external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37BD3-E5B8-464F-A1B4-DCB31997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0FE73-8F7D-40D0-8DBB-BCB15D04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Most potential: grounded public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8D49F-601A-4A83-8260-CF4926FA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69FE9-88C6-4956-B242-6570360D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289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Bad or stale 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9EB6B-5EA9-43C5-AD54-9565DF30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A0E1A-0698-4AAC-9D22-D38EB00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24B99-9A54-4E7D-AF96-17905BB8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30067-7730-4922-875A-EC335CCB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Tool use and multi-step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2BA0B-FE67-4C56-ACBC-295C55DB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86EDC-C34E-418B-8AC8-0D827822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Help staff with repeated tasks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D5186-2113-462F-96FB-C1E2E63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DF9FBB-6AB0-42A5-8105-B21FB78E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Most concerning: it can act on errors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60369-731D-48BC-8CBB-AB92E9FF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B45DE9-19BC-4F15-B7B0-9CFFBA0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Multimodal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34C73-E678-4A20-882E-BE94A7C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90FB9F-6ED1-4B50-AA99-14DF118D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Text, image and audio inputs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DD459A-B270-4F48-9BAB-6314EE7B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65333-09A5-456E-90A6-DB77AFC4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Interfaces using text, images, and audio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4F30AB-4A0A-4FAC-A405-58525F57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F8203A-D944-4B09-B411-3ED4E129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Privacy and modality bias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B14B9D-AD05-49E2-B0D8-FB2B71CD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4101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E42CF-4FF1-4118-A83D-BE6E97F2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06  POKE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E6C3F-F7AF-4285-96C2-BA28834D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Poke an LLM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1FA8A-264C-4FC4-92F1-86F33717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E5B0E-F0B7-4EC7-905D-730CEC58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03733-DC58-4EB3-83A2-ACD00B5B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PROMPT /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B5084-8C50-45FC-9C2F-68C780FB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F8EB3-3DC4-4360-83D0-B04918F9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188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75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Ask a factual question and verify it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75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Repeat one summary with three prompts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75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Change the audience and style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75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Ask for medical or legal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6ADEF-E815-448C-AD96-B324976F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14DEB-598D-47FF-A489-0782E369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647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8"/>
              </a:spcAft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42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Save the full chats and date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8"/>
              </a:spcAft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42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Record what improved or failed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8"/>
              </a:spcAft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42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Add one LLM product you use or find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1A9CD-17D6-4B7A-A8E8-428F235A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24350"/>
            <a:ext cx="3905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08820-6A3C-4590-84E2-41BA22C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F3869-13CD-4CD7-B036-31F59960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72050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Use the saved results from your four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B990B-7D8D-4572-9E28-336EA863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4618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12D8B-3BCD-408F-A0FD-8D9F4305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07  MY JUDGMENT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5A8F2-9D3C-441C-AD7F-3CF512AA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91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1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My rules for using a language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3A4C1-1EB1-424E-8A43-C9D63E70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426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E1E06-5157-4B89-BC5E-8F59AC9F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4C757-44BD-402B-81E5-AFE6FCBE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Check important claims against sources you can open.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E0A23-0E0D-4667-B5DD-BC4C73CE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Limit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CDEE4-090C-4D18-976C-0FA38227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Limit what the system can do when mistakes matter.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9690B-C155-4ABD-B5BE-13DF2E6E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Escalate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F234D-25A5-4D18-B5EF-32DE448B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Show uncertainty and give users a human contact.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3E9DF-855D-44BF-9A8B-86659030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3C091-BC6E-41AA-86E8-0275D28E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My commitment: check sources and keep a person involved when mistakes matter.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A919-B9BC-400A-BFE9-A70A25B5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    Attendance resit    Week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FBDD6-C88B-411B-8944-1F96819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2338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2026-10-30T16:51:04.1080000Z</dcterms:created>
  <dcterms:modified xsi:type="dcterms:W3CDTF">2026-10-30T16:51:04.1080000Z</dcterms:modified>
</coreProperties>
</file>