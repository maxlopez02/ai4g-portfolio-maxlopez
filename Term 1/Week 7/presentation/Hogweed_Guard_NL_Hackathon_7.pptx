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d48c15c853a402e" /><Relationship Type="http://schemas.openxmlformats.org/officeDocument/2006/relationships/extended-properties" Target="/docProps/app.xml" Id="Rfdf4042cb18d4e8b" /><Relationship Type="http://schemas.openxmlformats.org/officeDocument/2006/relationships/officeDocument" Target="/ppt/presentation.xml" Id="Ra2292f2fa35e4d5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b3feabdc03646d4"/>
  </p:sldMasterIdLst>
  <p:sldIdLst>
    <p:sldId xmlns:r="http://schemas.openxmlformats.org/officeDocument/2006/relationships" id="256" r:id="Rd58d1737f3404f9d"/>
    <p:sldId xmlns:r="http://schemas.openxmlformats.org/officeDocument/2006/relationships" id="257" r:id="R5fb3da4f88234326"/>
    <p:sldId xmlns:r="http://schemas.openxmlformats.org/officeDocument/2006/relationships" id="258" r:id="R95179cd7996846c6"/>
    <p:sldId xmlns:r="http://schemas.openxmlformats.org/officeDocument/2006/relationships" id="259" r:id="R7551462cd475469e"/>
    <p:sldId xmlns:r="http://schemas.openxmlformats.org/officeDocument/2006/relationships" id="260" r:id="R9e39bc74a3ee4a1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63312787cc54746" /><Relationship Type="http://schemas.openxmlformats.org/officeDocument/2006/relationships/slideMaster" Target="/ppt/slideMasters/slideMaster1.xml" Id="R1b3feabdc03646d4" /><Relationship Type="http://schemas.openxmlformats.org/officeDocument/2006/relationships/presProps" Target="/ppt/presProps.xml" Id="Rcc4217ed1d214d4e" /><Relationship Type="http://schemas.openxmlformats.org/officeDocument/2006/relationships/tableStyles" Target="/ppt/tableStyles.xml" Id="R2ff2aa780ab8475f" /><Relationship Type="http://schemas.openxmlformats.org/officeDocument/2006/relationships/slide" Target="/ppt/slides/slide1.xml" Id="Rd58d1737f3404f9d" /><Relationship Type="http://schemas.openxmlformats.org/officeDocument/2006/relationships/slide" Target="/ppt/slides/slide2.xml" Id="R5fb3da4f88234326" /><Relationship Type="http://schemas.openxmlformats.org/officeDocument/2006/relationships/slide" Target="/ppt/slides/slide3.xml" Id="R95179cd7996846c6" /><Relationship Type="http://schemas.openxmlformats.org/officeDocument/2006/relationships/slide" Target="/ppt/slides/slide4.xml" Id="R7551462cd475469e" /><Relationship Type="http://schemas.openxmlformats.org/officeDocument/2006/relationships/slide" Target="/ppt/slides/slide5.xml" Id="R9e39bc74a3ee4a1c" /></Relationship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591e46527c043e6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cfa6538589411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8d6994c42d427b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bb95df8e2ce4128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6a7273a423c409b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9e856e0d7b14c4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55DAEFF-0DFE-4F0E-8D08-48018036494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2BED78D4-392D-4ADD-AB82-A0FF90FCAA19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CAAA9CF3-704D-4704-BA09-5FD89C870D3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F678FA89-85E6-4853-A637-C8DEE8A7528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08C56A5-6FC5-410F-A27B-59FACFC0C53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27094C8-3996-47F6-A80E-C95055E7DD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4F03F1-72FB-42AF-9180-0F242C7D5B8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4C41D8F-682E-43C4-98AD-11755BC843A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7BD1C530-DD87-4670-8320-91D3CEE62A3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5FB9703-32CF-46F8-BBA7-FACDFAAA7C3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f47190581934680" /><Relationship Type="http://schemas.openxmlformats.org/officeDocument/2006/relationships/slideLayout" Target="/ppt/slideLayouts/slideLayout1.xml" Id="Rdd214cf538864710" /><Relationship Type="http://schemas.openxmlformats.org/officeDocument/2006/relationships/slideLayout" Target="/ppt/slideLayouts/slideLayout2.xml" Id="R8268d4b8ff154fe2" /><Relationship Type="http://schemas.openxmlformats.org/officeDocument/2006/relationships/slideLayout" Target="/ppt/slideLayouts/slideLayout3.xml" Id="R35808e583d5940e9" /><Relationship Type="http://schemas.openxmlformats.org/officeDocument/2006/relationships/slideLayout" Target="/ppt/slideLayouts/slideLayout4.xml" Id="Rfe29bdcf143d46d8" /><Relationship Type="http://schemas.openxmlformats.org/officeDocument/2006/relationships/slideLayout" Target="/ppt/slideLayouts/slideLayout5.xml" Id="Rc931fe50e8fa44d7" /><Relationship Type="http://schemas.openxmlformats.org/officeDocument/2006/relationships/slideLayout" Target="/ppt/slideLayouts/slideLayout6.xml" Id="R141143a9037a451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d214cf538864710"/>
    <p:sldLayoutId xmlns:r="http://schemas.openxmlformats.org/officeDocument/2006/relationships" id="2147483650" r:id="R8268d4b8ff154fe2"/>
    <p:sldLayoutId xmlns:r="http://schemas.openxmlformats.org/officeDocument/2006/relationships" id="2147483651" r:id="R35808e583d5940e9"/>
    <p:sldLayoutId xmlns:r="http://schemas.openxmlformats.org/officeDocument/2006/relationships" id="2147483652" r:id="Rfe29bdcf143d46d8"/>
    <p:sldLayoutId xmlns:r="http://schemas.openxmlformats.org/officeDocument/2006/relationships" id="2147483653" r:id="Rc931fe50e8fa44d7"/>
    <p:sldLayoutId xmlns:r="http://schemas.openxmlformats.org/officeDocument/2006/relationships" id="2147483654" r:id="R141143a9037a451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36aafd05b274808" /><Relationship Type="http://schemas.openxmlformats.org/officeDocument/2006/relationships/image" Target="/ppt/media/image.jpeg" Id="R311f110f45ff49c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a3bfd10b7b4ebe" /><Relationship Type="http://schemas.openxmlformats.org/officeDocument/2006/relationships/image" Target="/ppt/media/image2.jpeg" Id="R9efd37865a264b9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fb1149127414775" /><Relationship Type="http://schemas.openxmlformats.org/officeDocument/2006/relationships/image" Target="/ppt/media/image3.jpeg" Id="Rcb461612f90c45fb" /><Relationship Type="http://schemas.openxmlformats.org/officeDocument/2006/relationships/image" Target="/ppt/media/image4.jpeg" Id="R87eaba1b7cf5401d" /><Relationship Type="http://schemas.openxmlformats.org/officeDocument/2006/relationships/image" Target="/ppt/media/image5.jpeg" Id="R8178a86fdc5e4e6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d70d5f9b0ea4e72" /><Relationship Type="http://schemas.openxmlformats.org/officeDocument/2006/relationships/image" Target="/ppt/media/image.png" Id="R7b9f815b597f4d4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c8f9f810d7401f" /><Relationship Type="http://schemas.openxmlformats.org/officeDocument/2006/relationships/image" Target="/ppt/media/image2.png" Id="R17101aac6e44447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825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33859-6E81-4CEB-99E1-2121E173B81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11f110f45ff49c1"/>
          <a:srcRect xmlns:a="http://schemas.openxmlformats.org/drawingml/2006/main" l="30859" t="0" r="30859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524750" y="0"/>
            <a:ext cx="4667250" cy="68580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D6514A-3C26-4695-A48D-9C14821B1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723900"/>
            <a:ext cx="5715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00" b="1" i="0">
                <a:solidFill>
                  <a:srgbClr val="E7AE3F"/>
                </a:solidFill>
                <a:latin typeface="Verdana"/>
                <a:ea typeface="Verdana"/>
                <a:cs typeface="Verdana"/>
              </a:rPr>
              <a:t>AI FOR GOOD · HACKATHON 7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01415E-17EA-482B-AE67-05D831FD75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371600"/>
            <a:ext cx="6477000" cy="2190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4575" b="1" i="0">
                <a:solidFill>
                  <a:srgbClr val="F5F7F1"/>
                </a:solidFill>
                <a:latin typeface="Georgia"/>
                <a:ea typeface="Georgia"/>
                <a:cs typeface="Georgia"/>
              </a:rPr>
              <a:t>Hogweed</a:t>
            </a:r>
            <a:br>
              <a:rPr sz="4575" b="1" i="0">
                <a:solidFill>
                  <a:srgbClr val="F5F7F1"/>
                </a:solidFill>
                <a:latin typeface="Georgia"/>
                <a:ea typeface="Georgia"/>
                <a:cs typeface="Georgia"/>
              </a:rPr>
            </a:br>
            <a:r>
              <a:rPr sz="4575" b="1" i="0">
                <a:solidFill>
                  <a:srgbClr val="F5F7F1"/>
                </a:solidFill>
                <a:latin typeface="Georgia"/>
                <a:ea typeface="Georgia"/>
                <a:cs typeface="Georgia"/>
              </a:rPr>
              <a:t>Guard NL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49DDA7-03A4-4140-A6D2-6983E7FF2E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867150"/>
            <a:ext cx="5905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650" b="0" i="0">
                <a:solidFill>
                  <a:srgbClr val="DCE7D8"/>
                </a:solidFill>
                <a:latin typeface="Verdana"/>
                <a:ea typeface="Verdana"/>
                <a:cs typeface="Verdana"/>
              </a:rPr>
              <a:t>A cautious Roboflow screening tool for Dutch nature volunteers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8CC8298-749E-4AF0-89A8-1E6E9D306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864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Max Lopez  ·  SDG 15, Life on Land</a:t>
            </a:r>
          </a:p>
        </p:txBody>
      </p:sp>
    </p:spTree>
    <p:extLst>
      <p:ext uri="{BB962C8B-B14F-4D97-AF65-F5344CB8AC3E}">
        <p14:creationId xmlns:p14="http://schemas.microsoft.com/office/powerpoint/2010/main" val="176133758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6D8A13-F3C1-449D-A744-C7EF13D6F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074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2850" b="1" i="0">
                <a:solidFill>
                  <a:srgbClr val="18251E"/>
                </a:solidFill>
                <a:latin typeface="Georgia"/>
                <a:ea typeface="Georgia"/>
                <a:cs typeface="Georgia"/>
              </a:rPr>
              <a:t>The identification problem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FCEB5F-2E24-4554-9056-A68608517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428750"/>
            <a:ext cx="514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800" b="0" i="0">
                <a:solidFill>
                  <a:srgbClr val="18251E"/>
                </a:solidFill>
                <a:latin typeface="Verdana"/>
                <a:ea typeface="Verdana"/>
                <a:cs typeface="Verdana"/>
              </a:rPr>
              <a:t>Giant hogweed is invasive in the Netherlands. Dense stands can displace native vegetation, while contact with its sap and sunlight can cause severe skin injury.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4DA5C18-A853-4AA4-9340-ED65686A8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143250"/>
            <a:ext cx="514350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500" b="0" i="0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The Dutch NVWA warns that people can confuse it with native common hogweed. Nature volunteers need a safe first screening before expert inspection.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0DE79C-E970-4911-B6FC-BB1517DDA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933950"/>
            <a:ext cx="514350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3F6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35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A wrong guess has two costs: native plants may be removed, or a person may approach a hazardous plant.</a:t>
            </a:r>
          </a:p>
        </p:txBody>
      </p:sp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EF07952-40C2-4DDC-879F-00C4473E0DF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fd37865a264b95"/>
          <a:srcRect xmlns:a="http://schemas.openxmlformats.org/drawingml/2006/main" l="0" t="12350" r="0" b="1235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667500" y="1276350"/>
            <a:ext cx="4762500" cy="4762500"/>
          </a:xfrm>
          <a:prstGeom xmlns:a="http://schemas.openxmlformats.org/drawingml/2006/main" prst="rect">
            <a:avLst/>
          </a:prstGeom>
        </p:spPr>
      </p:pic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A35DFA-AFD3-4635-A438-0301EFDB4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67450"/>
            <a:ext cx="1074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/>
            <a:lvl1pPr algn="r">
              <a:buNone/>
              <a:defRPr/>
            </a:lvl1pPr>
            <a:lvl2pPr algn="r">
              <a:buNone/>
              <a:defRPr/>
            </a:lvl2pPr>
            <a:lvl3pPr algn="r">
              <a:buNone/>
              <a:defRPr/>
            </a:lvl3pPr>
            <a:lvl4pPr algn="r">
              <a:buNone/>
              <a:defRPr/>
            </a:lvl4pPr>
            <a:lvl5pPr algn="r">
              <a:buNone/>
              <a:defRPr/>
            </a:lvl5pPr>
            <a:lvl6pPr algn="r">
              <a:buNone/>
              <a:defRPr/>
            </a:lvl6pPr>
            <a:lvl7pPr algn="r">
              <a:buNone/>
              <a:defRPr/>
            </a:lvl7pPr>
            <a:lvl8pPr algn="r">
              <a:buNone/>
              <a:defRPr/>
            </a:lvl8pPr>
            <a:lvl9pPr algn="r">
              <a:buNone/>
              <a:defRPr/>
            </a:lvl9pPr>
          </a:lstStyle>
          <a:p xmlns:a="http://schemas.openxmlformats.org/drawingml/2006/main">
            <a:pPr algn="r">
              <a:buNone/>
            </a:pPr>
            <a:r>
              <a:rPr sz="675" b="1" i="0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HOGWEED GUARD NL   ·   2/5</a:t>
            </a:r>
          </a:p>
        </p:txBody>
      </p:sp>
    </p:spTree>
    <p:extLst>
      <p:ext uri="{BB962C8B-B14F-4D97-AF65-F5344CB8AC3E}">
        <p14:creationId xmlns:p14="http://schemas.microsoft.com/office/powerpoint/2010/main" val="710405957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FBA60DE-EF81-470D-B82E-38C9F4319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074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2850" b="1" i="0">
                <a:solidFill>
                  <a:srgbClr val="18251E"/>
                </a:solidFill>
                <a:latin typeface="Georgia"/>
                <a:ea typeface="Georgia"/>
                <a:cs typeface="Georgia"/>
              </a:rPr>
              <a:t>A Dutch, licence-tracked dataset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6433D5-A4EB-4963-B5EA-C1747EDE284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b461612f90c45fb"/>
          <a:srcRect xmlns:a="http://schemas.openxmlformats.org/drawingml/2006/main" l="20060" t="0" r="2006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23900" y="1314450"/>
            <a:ext cx="3143250" cy="2952750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60A1EC-DD1C-4945-9F20-003ED2A4A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386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275" b="1" i="0">
                <a:solidFill>
                  <a:srgbClr val="18251E"/>
                </a:solidFill>
                <a:latin typeface="Verdana"/>
                <a:ea typeface="Verdana"/>
                <a:cs typeface="Verdana"/>
              </a:rPr>
              <a:t>Giant hogweed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D82DB4-0FC2-4EEF-846A-1C8EC27DB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7625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0" i="1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Heracleum mantegazzianum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0EDB9B-6A19-4EAD-B2F7-758FB8277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1625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00" b="1" i="0">
                <a:solidFill>
                  <a:srgbClr val="6F3F63"/>
                </a:solidFill>
                <a:latin typeface="Verdana"/>
                <a:ea typeface="Verdana"/>
                <a:cs typeface="Verdana"/>
              </a:rPr>
              <a:t>108 model images  ·  12 held out</a:t>
            </a:r>
          </a:p>
        </p:txBody>
      </p:sp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77E2ABE-724B-4C8F-BDE3-0BAFECBACF5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eaba1b7cf5401d"/>
          <a:srcRect xmlns:a="http://schemas.openxmlformats.org/drawingml/2006/main" l="0" t="14773" r="0" b="1477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267200" y="1314450"/>
            <a:ext cx="3143250" cy="2952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815B05-D116-41A1-AE88-52549B624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386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275" b="1" i="0">
                <a:solidFill>
                  <a:srgbClr val="18251E"/>
                </a:solidFill>
                <a:latin typeface="Verdana"/>
                <a:ea typeface="Verdana"/>
                <a:cs typeface="Verdana"/>
              </a:rPr>
              <a:t>Common hogweed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5B8E42F-48A6-453A-B9FD-3BDFFBCB8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7625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0" i="1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Heracleum sphondylium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0FB7865-34ED-410A-8FF9-253AAB0C87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51625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00" b="1" i="0">
                <a:solidFill>
                  <a:srgbClr val="6F3F63"/>
                </a:solidFill>
                <a:latin typeface="Verdana"/>
                <a:ea typeface="Verdana"/>
                <a:cs typeface="Verdana"/>
              </a:rPr>
              <a:t>108 model images  ·  12 held out</a:t>
            </a:r>
          </a:p>
        </p:txBody>
      </p:sp>
      <p:pic>
        <p:nvPic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0661D8-DEB0-41C2-8470-43CC864497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78a86fdc5e4e65"/>
          <a:srcRect xmlns:a="http://schemas.openxmlformats.org/drawingml/2006/main" l="20060" t="0" r="20060" b="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0" y="1314450"/>
            <a:ext cx="3143250" cy="2952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2051D30-9804-4E7D-9589-35E34CD95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4386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275" b="1" i="0">
                <a:solidFill>
                  <a:srgbClr val="18251E"/>
                </a:solidFill>
                <a:latin typeface="Verdana"/>
                <a:ea typeface="Verdana"/>
                <a:cs typeface="Verdana"/>
              </a:rPr>
              <a:t>Cow parsley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2249FF9-E0F3-4123-8E53-203AC604B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4762500"/>
            <a:ext cx="3143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0" i="1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Anthriscus sylvestris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6DEB04-6428-4C64-8592-3B159E7B9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5162550"/>
            <a:ext cx="3143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00" b="1" i="0">
                <a:solidFill>
                  <a:srgbClr val="6F3F63"/>
                </a:solidFill>
                <a:latin typeface="Verdana"/>
                <a:ea typeface="Verdana"/>
                <a:cs typeface="Verdana"/>
              </a:rPr>
              <a:t>108 model images  ·  12 held 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5EF9889-0DEE-4A11-B71E-0263C06F3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57875"/>
            <a:ext cx="10229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ctr"/>
            <a:lvl1pPr algn="ctr">
              <a:buNone/>
              <a:defRPr/>
            </a:lvl1pPr>
            <a:lvl2pPr algn="ctr">
              <a:buNone/>
              <a:defRPr/>
            </a:lvl2pPr>
            <a:lvl3pPr algn="ctr">
              <a:buNone/>
              <a:defRPr/>
            </a:lvl3pPr>
            <a:lvl4pPr algn="ctr">
              <a:buNone/>
              <a:defRPr/>
            </a:lvl4pPr>
            <a:lvl5pPr algn="ctr">
              <a:buNone/>
              <a:defRPr/>
            </a:lvl5pPr>
            <a:lvl6pPr algn="ctr">
              <a:buNone/>
              <a:defRPr/>
            </a:lvl6pPr>
            <a:lvl7pPr algn="ctr">
              <a:buNone/>
              <a:defRPr/>
            </a:lvl7pPr>
            <a:lvl8pPr algn="ctr">
              <a:buNone/>
              <a:defRPr/>
            </a:lvl8pPr>
            <a:lvl9pPr algn="ctr">
              <a:buNone/>
              <a:defRPr/>
            </a:lvl9pPr>
          </a:lstStyle>
          <a:p xmlns:a="http://schemas.openxmlformats.org/drawingml/2006/main">
            <a:pPr algn="ctr">
              <a:buNone/>
            </a:pPr>
            <a:r>
              <a:rPr sz="1125" b="1" i="0">
                <a:solidFill>
                  <a:srgbClr val="315C45"/>
                </a:solidFill>
                <a:latin typeface="Verdana"/>
                <a:ea typeface="Verdana"/>
                <a:cs typeface="Verdana"/>
              </a:rPr>
              <a:t>360 Dutch GBIF observations · creator, licence and source URL preserved · no synthetic images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5D94A96-E7DD-4084-9885-151CDCDCF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67450"/>
            <a:ext cx="1074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/>
            <a:lvl1pPr algn="r">
              <a:buNone/>
              <a:defRPr/>
            </a:lvl1pPr>
            <a:lvl2pPr algn="r">
              <a:buNone/>
              <a:defRPr/>
            </a:lvl2pPr>
            <a:lvl3pPr algn="r">
              <a:buNone/>
              <a:defRPr/>
            </a:lvl3pPr>
            <a:lvl4pPr algn="r">
              <a:buNone/>
              <a:defRPr/>
            </a:lvl4pPr>
            <a:lvl5pPr algn="r">
              <a:buNone/>
              <a:defRPr/>
            </a:lvl5pPr>
            <a:lvl6pPr algn="r">
              <a:buNone/>
              <a:defRPr/>
            </a:lvl6pPr>
            <a:lvl7pPr algn="r">
              <a:buNone/>
              <a:defRPr/>
            </a:lvl7pPr>
            <a:lvl8pPr algn="r">
              <a:buNone/>
              <a:defRPr/>
            </a:lvl8pPr>
            <a:lvl9pPr algn="r">
              <a:buNone/>
              <a:defRPr/>
            </a:lvl9pPr>
          </a:lstStyle>
          <a:p xmlns:a="http://schemas.openxmlformats.org/drawingml/2006/main">
            <a:pPr algn="r">
              <a:buNone/>
            </a:pPr>
            <a:r>
              <a:rPr sz="675" b="1" i="0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HOGWEED GUARD NL   ·   3/5</a:t>
            </a:r>
          </a:p>
        </p:txBody>
      </p:sp>
    </p:spTree>
    <p:extLst>
      <p:ext uri="{BB962C8B-B14F-4D97-AF65-F5344CB8AC3E}">
        <p14:creationId xmlns:p14="http://schemas.microsoft.com/office/powerpoint/2010/main" val="149125509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7F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78133B-22BC-4047-AA4B-C7CFA19B0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074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2850" b="1" i="0">
                <a:solidFill>
                  <a:srgbClr val="18251E"/>
                </a:solidFill>
                <a:latin typeface="Georgia"/>
                <a:ea typeface="Georgia"/>
                <a:cs typeface="Georgia"/>
              </a:rPr>
              <a:t>Photo to cautious screening result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9D1FF7-A819-4F0E-AA18-81AAC42F36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b9f815b597f4d4a"/>
          <a:stretch xmlns:a="http://schemas.openxmlformats.org/drawingml/2006/main"/>
        </p:blipFill>
        <p:spPr>
          <a:xfrm xmlns:a="http://schemas.openxmlformats.org/drawingml/2006/main">
            <a:off x="5880093" y="1381125"/>
            <a:ext cx="4813314" cy="353377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1693FB5-AACB-4D66-9040-708756437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3525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950" b="1" i="0">
                <a:solidFill>
                  <a:srgbClr val="6F3F63"/>
                </a:solidFill>
                <a:latin typeface="Georgia"/>
                <a:ea typeface="Georgia"/>
                <a:cs typeface="Georgia"/>
              </a:rPr>
              <a:t>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853F50-E0ED-4403-8D86-62E0C130E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3525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275" b="1" i="0">
                <a:solidFill>
                  <a:srgbClr val="18251E"/>
                </a:solidFill>
                <a:latin typeface="Verdana"/>
                <a:ea typeface="Verdana"/>
                <a:cs typeface="Verdana"/>
              </a:rPr>
              <a:t>Upload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5980DD-F346-40ED-BF8B-8EB23A602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16573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0" i="0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A volunteer provides one clear plant photograph.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5D73088-970B-4557-945C-2279EC269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4765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950" b="1" i="0">
                <a:solidFill>
                  <a:srgbClr val="6F3F63"/>
                </a:solidFill>
                <a:latin typeface="Georgia"/>
                <a:ea typeface="Georgia"/>
                <a:cs typeface="Georgia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607A1D7-4FDC-455F-BB2B-94A9B4DA11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4765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275" b="1" i="0">
                <a:solidFill>
                  <a:srgbClr val="18251E"/>
                </a:solidFill>
                <a:latin typeface="Verdana"/>
                <a:ea typeface="Verdana"/>
                <a:cs typeface="Verdana"/>
              </a:rPr>
              <a:t>Classify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43DBB5-300C-4C07-B7A1-C931129C0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7813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0" i="0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The Roboflow DINOv3 Small workflow compares three trained species.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576618F-F739-420B-BD29-FCA9B9CCF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0045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950" b="1" i="0">
                <a:solidFill>
                  <a:srgbClr val="6F3F63"/>
                </a:solidFill>
                <a:latin typeface="Georgia"/>
                <a:ea typeface="Georgia"/>
                <a:cs typeface="Georgia"/>
              </a:rPr>
              <a:t>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97DD77A-530D-41B1-B3F4-4163E310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6004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275" b="1" i="0">
                <a:solidFill>
                  <a:srgbClr val="18251E"/>
                </a:solidFill>
                <a:latin typeface="Verdana"/>
                <a:ea typeface="Verdana"/>
                <a:cs typeface="Verdana"/>
              </a:rPr>
              <a:t>Check confidence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3299025-F266-4A3F-9A2F-2AC579B409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390525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0" i="0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The app withholds results below the safety threshold.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D56FF05-5687-4CB4-BAD4-905C2F0DD7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724400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950" b="1" i="0">
                <a:solidFill>
                  <a:srgbClr val="6F3F63"/>
                </a:solidFill>
                <a:latin typeface="Georgia"/>
                <a:ea typeface="Georgia"/>
                <a:cs typeface="Georgia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8E559A-DFE4-441C-BEBF-99F0DE21BC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7244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275" b="1" i="0">
                <a:solidFill>
                  <a:srgbClr val="18251E"/>
                </a:solidFill>
                <a:latin typeface="Verdana"/>
                <a:ea typeface="Verdana"/>
                <a:cs typeface="Verdana"/>
              </a:rPr>
              <a:t>Act cautiously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3787D6F-B525-412C-AACE-CAF07AF404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5029200"/>
            <a:ext cx="3238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0" i="0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The user keeps distance and requests expert confirmation.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A7E930-1E4E-4454-8FC0-1B05BB941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162550"/>
            <a:ext cx="62865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F3F63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>
            <a:defPPr algn="ctr"/>
            <a:lvl1pPr algn="ctr">
              <a:buNone/>
              <a:defRPr/>
            </a:lvl1pPr>
            <a:lvl2pPr algn="ctr">
              <a:buNone/>
              <a:defRPr/>
            </a:lvl2pPr>
            <a:lvl3pPr algn="ctr">
              <a:buNone/>
              <a:defRPr/>
            </a:lvl3pPr>
            <a:lvl4pPr algn="ctr">
              <a:buNone/>
              <a:defRPr/>
            </a:lvl4pPr>
            <a:lvl5pPr algn="ctr">
              <a:buNone/>
              <a:defRPr/>
            </a:lvl5pPr>
            <a:lvl6pPr algn="ctr">
              <a:buNone/>
              <a:defRPr/>
            </a:lvl6pPr>
            <a:lvl7pPr algn="ctr">
              <a:buNone/>
              <a:defRPr/>
            </a:lvl7pPr>
            <a:lvl8pPr algn="ctr">
              <a:buNone/>
              <a:defRPr/>
            </a:lvl8pPr>
            <a:lvl9pPr algn="ctr">
              <a:buNone/>
              <a:defRPr/>
            </a:lvl9pPr>
          </a:lstStyle>
          <a:p xmlns:a="http://schemas.openxmlformats.org/drawingml/2006/main">
            <a:pPr algn="ctr">
              <a:buNone/>
            </a:pPr>
            <a:r>
              <a:rPr sz="120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Held-out example: giant hogweed at 95% confidence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54E288-F31E-4E63-98D5-2D98BCC42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10250"/>
            <a:ext cx="3905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75" b="1" i="0">
                <a:solidFill>
                  <a:srgbClr val="315C45"/>
                </a:solidFill>
                <a:latin typeface="Verdana"/>
                <a:ea typeface="Verdana"/>
                <a:cs typeface="Verdana"/>
              </a:rPr>
              <a:t>Roboflow performs the essential visual classification. Without the trained model, the app cannot screen the photograph.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F06A24-4285-4AAD-AAE7-1660B57F5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67450"/>
            <a:ext cx="1074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/>
            <a:lvl1pPr algn="r">
              <a:buNone/>
              <a:defRPr/>
            </a:lvl1pPr>
            <a:lvl2pPr algn="r">
              <a:buNone/>
              <a:defRPr/>
            </a:lvl2pPr>
            <a:lvl3pPr algn="r">
              <a:buNone/>
              <a:defRPr/>
            </a:lvl3pPr>
            <a:lvl4pPr algn="r">
              <a:buNone/>
              <a:defRPr/>
            </a:lvl4pPr>
            <a:lvl5pPr algn="r">
              <a:buNone/>
              <a:defRPr/>
            </a:lvl5pPr>
            <a:lvl6pPr algn="r">
              <a:buNone/>
              <a:defRPr/>
            </a:lvl6pPr>
            <a:lvl7pPr algn="r">
              <a:buNone/>
              <a:defRPr/>
            </a:lvl7pPr>
            <a:lvl8pPr algn="r">
              <a:buNone/>
              <a:defRPr/>
            </a:lvl8pPr>
            <a:lvl9pPr algn="r">
              <a:buNone/>
              <a:defRPr/>
            </a:lvl9pPr>
          </a:lstStyle>
          <a:p xmlns:a="http://schemas.openxmlformats.org/drawingml/2006/main">
            <a:pPr algn="r">
              <a:buNone/>
            </a:pPr>
            <a:r>
              <a:rPr sz="675" b="1" i="0">
                <a:solidFill>
                  <a:srgbClr val="647268"/>
                </a:solidFill>
                <a:latin typeface="Verdana"/>
                <a:ea typeface="Verdana"/>
                <a:cs typeface="Verdana"/>
              </a:rPr>
              <a:t>HOGWEED GUARD NL   ·   4/5</a:t>
            </a:r>
          </a:p>
        </p:txBody>
      </p:sp>
    </p:spTree>
    <p:extLst>
      <p:ext uri="{BB962C8B-B14F-4D97-AF65-F5344CB8AC3E}">
        <p14:creationId xmlns:p14="http://schemas.microsoft.com/office/powerpoint/2010/main" val="20350128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18251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D0C5FC1-9C1A-428C-A222-5D6196F31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57200"/>
            <a:ext cx="10744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2850" b="1" i="0">
                <a:solidFill>
                  <a:srgbClr val="F5F7F1"/>
                </a:solidFill>
                <a:latin typeface="Georgia"/>
                <a:ea typeface="Georgia"/>
                <a:cs typeface="Georgia"/>
              </a:rPr>
              <a:t>Independent test confirms the safety limits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B52D0B-43B8-4F68-B0A4-3B798B4B9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42875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00" b="1" i="0">
                <a:solidFill>
                  <a:srgbClr val="E7AE3F"/>
                </a:solidFill>
                <a:latin typeface="Verdana"/>
                <a:ea typeface="Verdana"/>
                <a:cs typeface="Verdana"/>
              </a:rPr>
              <a:t>HELD-OUT RESULT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6DE8C4-C78C-4368-B98C-37B7D3547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62125"/>
            <a:ext cx="4857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3000" b="1" i="0">
                <a:solidFill>
                  <a:srgbClr val="F5F7F1"/>
                </a:solidFill>
                <a:latin typeface="Georgia"/>
                <a:ea typeface="Georgia"/>
                <a:cs typeface="Georgia"/>
              </a:rPr>
              <a:t>30 / 36 correct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0D0DEF-64B4-425F-AEE8-9389890C7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00300"/>
            <a:ext cx="4953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350" b="0" i="0">
                <a:solidFill>
                  <a:srgbClr val="DCE7D8"/>
                </a:solidFill>
                <a:latin typeface="Verdana"/>
                <a:ea typeface="Verdana"/>
                <a:cs typeface="Verdana"/>
              </a:rPr>
              <a:t>83.3% accuracy on images Roboflow never saw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3C5053-F309-402C-9204-C697A71AD4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028950"/>
            <a:ext cx="4762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50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Giant hogweed  10/12</a:t>
            </a:r>
            <a:br>
              <a:rPr sz="150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</a:br>
            <a:r>
              <a:rPr sz="150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Common hogweed  8/12</a:t>
            </a:r>
            <a:br>
              <a:rPr sz="150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</a:br>
            <a:r>
              <a:rPr sz="150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Cow parsley  12/12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410BAA1-5545-4CE8-9707-DE7CC4703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67200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900" b="1" i="0">
                <a:solidFill>
                  <a:srgbClr val="E7AE3F"/>
                </a:solidFill>
                <a:latin typeface="Verdana"/>
                <a:ea typeface="Verdana"/>
                <a:cs typeface="Verdana"/>
              </a:rPr>
              <a:t>SAFETY-RELEVANT ERRORS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489A2B5-E35A-4695-8E9B-806409F392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91050"/>
            <a:ext cx="4905375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275" b="0" i="0">
                <a:solidFill>
                  <a:srgbClr val="DCE7D8"/>
                </a:solidFill>
                <a:latin typeface="Verdana"/>
                <a:ea typeface="Verdana"/>
                <a:cs typeface="Verdana"/>
              </a:rPr>
              <a:t>One giant hogweed image was labelled common hogweed. One common hogweed image was labelled giant hogweed.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0192EF6-3296-4CFC-8572-82919814D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05450"/>
            <a:ext cx="1028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l"/>
            <a:lvl1pPr algn="l">
              <a:buNone/>
              <a:defRPr/>
            </a:lvl1pPr>
            <a:lvl2pPr algn="l">
              <a:buNone/>
              <a:defRPr/>
            </a:lvl2pPr>
            <a:lvl3pPr algn="l">
              <a:buNone/>
              <a:defRPr/>
            </a:lvl3pPr>
            <a:lvl4pPr algn="l">
              <a:buNone/>
              <a:defRPr/>
            </a:lvl4pPr>
            <a:lvl5pPr algn="l">
              <a:buNone/>
              <a:defRPr/>
            </a:lvl5pPr>
            <a:lvl6pPr algn="l">
              <a:buNone/>
              <a:defRPr/>
            </a:lvl6pPr>
            <a:lvl7pPr algn="l">
              <a:buNone/>
              <a:defRPr/>
            </a:lvl7pPr>
            <a:lvl8pPr algn="l">
              <a:buNone/>
              <a:defRPr/>
            </a:lvl8pPr>
            <a:lvl9pPr algn="l">
              <a:buNone/>
              <a:defRPr/>
            </a:lvl9pPr>
          </a:lstStyle>
          <a:p xmlns:a="http://schemas.openxmlformats.org/drawingml/2006/main">
            <a:pPr algn="l">
              <a:buNone/>
            </a:pPr>
            <a:r>
              <a:rPr sz="1350" b="1" i="0">
                <a:solidFill>
                  <a:srgbClr val="FFFFFF"/>
                </a:solidFill>
                <a:latin typeface="Verdana"/>
                <a:ea typeface="Verdana"/>
                <a:cs typeface="Verdana"/>
              </a:rPr>
              <a:t>The app withholds scores below 65%, never recommends removal, and requires expert confirmation.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E927D7-46F1-4DC6-AF3E-B8AEAAD37AC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101aac6e444471"/>
          <a:stretch xmlns:a="http://schemas.openxmlformats.org/drawingml/2006/main"/>
        </p:blipFill>
        <p:spPr>
          <a:xfrm xmlns:a="http://schemas.openxmlformats.org/drawingml/2006/main">
            <a:off x="6551510" y="1285875"/>
            <a:ext cx="4756355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0B84EA-D33F-4032-A76B-021B7B728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6267450"/>
            <a:ext cx="10744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/>
          <a:lstStyle xmlns:a="http://schemas.openxmlformats.org/drawingml/2006/main">
            <a:defPPr algn="r"/>
            <a:lvl1pPr algn="r">
              <a:buNone/>
              <a:defRPr/>
            </a:lvl1pPr>
            <a:lvl2pPr algn="r">
              <a:buNone/>
              <a:defRPr/>
            </a:lvl2pPr>
            <a:lvl3pPr algn="r">
              <a:buNone/>
              <a:defRPr/>
            </a:lvl3pPr>
            <a:lvl4pPr algn="r">
              <a:buNone/>
              <a:defRPr/>
            </a:lvl4pPr>
            <a:lvl5pPr algn="r">
              <a:buNone/>
              <a:defRPr/>
            </a:lvl5pPr>
            <a:lvl6pPr algn="r">
              <a:buNone/>
              <a:defRPr/>
            </a:lvl6pPr>
            <a:lvl7pPr algn="r">
              <a:buNone/>
              <a:defRPr/>
            </a:lvl7pPr>
            <a:lvl8pPr algn="r">
              <a:buNone/>
              <a:defRPr/>
            </a:lvl8pPr>
            <a:lvl9pPr algn="r">
              <a:buNone/>
              <a:defRPr/>
            </a:lvl9pPr>
          </a:lstStyle>
          <a:p xmlns:a="http://schemas.openxmlformats.org/drawingml/2006/main">
            <a:pPr algn="r">
              <a:buNone/>
            </a:pPr>
            <a:r>
              <a:rPr sz="675" b="1" i="0">
                <a:solidFill>
                  <a:srgbClr val="DCE7D8"/>
                </a:solidFill>
                <a:latin typeface="Verdana"/>
                <a:ea typeface="Verdana"/>
                <a:cs typeface="Verdana"/>
              </a:rPr>
              <a:t>HOGWEED GUARD NL   ·   5/5</a:t>
            </a:r>
          </a:p>
        </p:txBody>
      </p:sp>
    </p:spTree>
    <p:extLst>
      <p:ext uri="{BB962C8B-B14F-4D97-AF65-F5344CB8AC3E}">
        <p14:creationId xmlns:p14="http://schemas.microsoft.com/office/powerpoint/2010/main" val="131861500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2026-10-29T16:58:42.3520000Z</dcterms:created>
  <dcterms:modified xsi:type="dcterms:W3CDTF">2026-10-29T16:58:42.3520000Z</dcterms:modified>
</coreProperties>
</file>