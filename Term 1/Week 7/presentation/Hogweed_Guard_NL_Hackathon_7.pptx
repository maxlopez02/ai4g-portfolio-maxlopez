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fcb8bfd2d4cd6" /><Relationship Type="http://schemas.openxmlformats.org/officeDocument/2006/relationships/extended-properties" Target="/docProps/app.xml" Id="R1b36500f3b1a4443" /><Relationship Type="http://schemas.openxmlformats.org/officeDocument/2006/relationships/officeDocument" Target="/ppt/presentation.xml" Id="R74cf2d43de52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e61e6645d14d03"/>
  </p:sldMasterIdLst>
  <p:sldIdLst>
    <p:sldId xmlns:r="http://schemas.openxmlformats.org/officeDocument/2006/relationships" id="256" r:id="R7ef5580da89f4885"/>
    <p:sldId xmlns:r="http://schemas.openxmlformats.org/officeDocument/2006/relationships" id="257" r:id="Rf6f07ee0473c40f1"/>
    <p:sldId xmlns:r="http://schemas.openxmlformats.org/officeDocument/2006/relationships" id="258" r:id="Rdb3832ff86c940a1"/>
    <p:sldId xmlns:r="http://schemas.openxmlformats.org/officeDocument/2006/relationships" id="259" r:id="Rad39d64255914df2"/>
    <p:sldId xmlns:r="http://schemas.openxmlformats.org/officeDocument/2006/relationships" id="260" r:id="Ra15fbee3421844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459bdc65e24277" /><Relationship Type="http://schemas.openxmlformats.org/officeDocument/2006/relationships/slideMaster" Target="/ppt/slideMasters/slideMaster1.xml" Id="R85e61e6645d14d03" /><Relationship Type="http://schemas.openxmlformats.org/officeDocument/2006/relationships/presProps" Target="/ppt/presProps.xml" Id="R32fa317a2fa2429c" /><Relationship Type="http://schemas.openxmlformats.org/officeDocument/2006/relationships/tableStyles" Target="/ppt/tableStyles.xml" Id="R54ed1be35fcb40d5" /><Relationship Type="http://schemas.openxmlformats.org/officeDocument/2006/relationships/slide" Target="/ppt/slides/slide1.xml" Id="R7ef5580da89f4885" /><Relationship Type="http://schemas.openxmlformats.org/officeDocument/2006/relationships/slide" Target="/ppt/slides/slide2.xml" Id="Rf6f07ee0473c40f1" /><Relationship Type="http://schemas.openxmlformats.org/officeDocument/2006/relationships/slide" Target="/ppt/slides/slide3.xml" Id="Rdb3832ff86c940a1" /><Relationship Type="http://schemas.openxmlformats.org/officeDocument/2006/relationships/slide" Target="/ppt/slides/slide4.xml" Id="Rad39d64255914df2" /><Relationship Type="http://schemas.openxmlformats.org/officeDocument/2006/relationships/slide" Target="/ppt/slides/slide5.xml" Id="Ra15fbee34218443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cac9b01174c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af70d935a4a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fbed7e9ac4b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7a22f738a4e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2611c6c2445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8c0701ae641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5DAEFF-0DFE-4F0E-8D08-480180364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ED78D4-392D-4ADD-AB82-A0FF90FCAA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AA9CF3-704D-4704-BA09-5FD89C870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8FA89-85E6-4853-A637-C8DEE8A75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8C56A5-6FC5-410F-A27B-59FACFC0C5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7094C8-3996-47F6-A80E-C95055E7D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4F03F1-72FB-42AF-9180-0F242C7D5B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C41D8F-682E-43C4-98AD-11755BC843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D1C530-DD87-4670-8320-91D3CEE62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FB9703-32CF-46F8-BBA7-FACDFAAA7C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2d487f11674d2a" /><Relationship Type="http://schemas.openxmlformats.org/officeDocument/2006/relationships/slideLayout" Target="/ppt/slideLayouts/slideLayout1.xml" Id="R03b7ccb585a147a2" /><Relationship Type="http://schemas.openxmlformats.org/officeDocument/2006/relationships/slideLayout" Target="/ppt/slideLayouts/slideLayout2.xml" Id="R8a7c4a3362644d7f" /><Relationship Type="http://schemas.openxmlformats.org/officeDocument/2006/relationships/slideLayout" Target="/ppt/slideLayouts/slideLayout3.xml" Id="Rc8828ee7727e4a3d" /><Relationship Type="http://schemas.openxmlformats.org/officeDocument/2006/relationships/slideLayout" Target="/ppt/slideLayouts/slideLayout4.xml" Id="R1d04f7ea63f44e24" /><Relationship Type="http://schemas.openxmlformats.org/officeDocument/2006/relationships/slideLayout" Target="/ppt/slideLayouts/slideLayout5.xml" Id="R5d2d5403a2c0499a" /><Relationship Type="http://schemas.openxmlformats.org/officeDocument/2006/relationships/slideLayout" Target="/ppt/slideLayouts/slideLayout6.xml" Id="R058e729759e2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b7ccb585a147a2"/>
    <p:sldLayoutId xmlns:r="http://schemas.openxmlformats.org/officeDocument/2006/relationships" id="2147483650" r:id="R8a7c4a3362644d7f"/>
    <p:sldLayoutId xmlns:r="http://schemas.openxmlformats.org/officeDocument/2006/relationships" id="2147483651" r:id="Rc8828ee7727e4a3d"/>
    <p:sldLayoutId xmlns:r="http://schemas.openxmlformats.org/officeDocument/2006/relationships" id="2147483652" r:id="R1d04f7ea63f44e24"/>
    <p:sldLayoutId xmlns:r="http://schemas.openxmlformats.org/officeDocument/2006/relationships" id="2147483653" r:id="R5d2d5403a2c0499a"/>
    <p:sldLayoutId xmlns:r="http://schemas.openxmlformats.org/officeDocument/2006/relationships" id="2147483654" r:id="R058e729759e2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2afb6f6124cb5" /><Relationship Type="http://schemas.openxmlformats.org/officeDocument/2006/relationships/image" Target="/ppt/media/image.jpeg" Id="Rc32d0fae60bf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d90e3456f43ce" /><Relationship Type="http://schemas.openxmlformats.org/officeDocument/2006/relationships/image" Target="/ppt/media/image2.jpeg" Id="R4abd1751f23540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cb34ec5e148fa" /><Relationship Type="http://schemas.openxmlformats.org/officeDocument/2006/relationships/image" Target="/ppt/media/image3.jpeg" Id="R0678a41dae764ccf" /><Relationship Type="http://schemas.openxmlformats.org/officeDocument/2006/relationships/image" Target="/ppt/media/image4.jpeg" Id="R67867417aaf443c1" /><Relationship Type="http://schemas.openxmlformats.org/officeDocument/2006/relationships/image" Target="/ppt/media/image5.jpeg" Id="R73107f17526a45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ee3f2b6e54d2c" /><Relationship Type="http://schemas.openxmlformats.org/officeDocument/2006/relationships/image" Target="/ppt/media/image.png" Id="Rc13b9807ecd34f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08811aa7b463d" /><Relationship Type="http://schemas.openxmlformats.org/officeDocument/2006/relationships/image" Target="/ppt/media/image2.png" Id="Rd11fdcc8057f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A2DF-6E70-4A86-BFCC-A85821F70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d0fae60bf408d"/>
          <a:srcRect xmlns:a="http://schemas.openxmlformats.org/drawingml/2006/main" l="30859" t="0" r="308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6514A-3C26-4695-A48D-9C14821B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E7AE3F"/>
                </a:solidFill>
                <a:latin typeface="Verdana"/>
                <a:ea typeface="Verdana"/>
                <a:cs typeface="Verdana"/>
              </a:rPr>
              <a:t>AI FOR GOOD · HACKATHON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1415E-17EA-482B-AE67-05D831F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47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4575" b="1" i="0">
                <a:solidFill>
                  <a:srgbClr val="F5F7F1"/>
                </a:solidFill>
                <a:latin typeface="Georgia"/>
                <a:ea typeface="Georgia"/>
                <a:cs typeface="Georgia"/>
              </a:rPr>
              <a:t>Hogweed</a:t>
            </a:r>
            <a:br>
              <a:rPr sz="4575" b="1" i="0">
                <a:solidFill>
                  <a:srgbClr val="F5F7F1"/>
                </a:solidFill>
                <a:latin typeface="Georgia"/>
                <a:ea typeface="Georgia"/>
                <a:cs typeface="Georgia"/>
              </a:rPr>
            </a:br>
            <a:r>
              <a:rPr sz="4575" b="1" i="0">
                <a:solidFill>
                  <a:srgbClr val="F5F7F1"/>
                </a:solidFill>
                <a:latin typeface="Georgia"/>
                <a:ea typeface="Georgia"/>
                <a:cs typeface="Georgia"/>
              </a:rPr>
              <a:t>Guard NL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9DDA7-03A4-4140-A6D2-6983E7F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650" b="0" i="0">
                <a:solidFill>
                  <a:srgbClr val="DCE7D8"/>
                </a:solidFill>
                <a:latin typeface="Verdana"/>
                <a:ea typeface="Verdana"/>
                <a:cs typeface="Verdana"/>
              </a:rPr>
              <a:t>A cautious Roboflow screening tool for Dutch nature volunteers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C8298-749E-4AF0-89A8-1E6E9D30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Max Lopez  ·  SDG 15, Life on Land</a:t>
            </a:r>
          </a:p>
        </p:txBody>
      </p:sp>
    </p:spTree>
    <p:extLst>
      <p:ext uri="{BB962C8B-B14F-4D97-AF65-F5344CB8AC3E}">
        <p14:creationId xmlns:p14="http://schemas.microsoft.com/office/powerpoint/2010/main" val="1761337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D8A13-F3C1-449D-A744-C7EF13D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2850" b="1" i="0">
                <a:solidFill>
                  <a:srgbClr val="18251E"/>
                </a:solidFill>
                <a:latin typeface="Georgia"/>
                <a:ea typeface="Georgia"/>
                <a:cs typeface="Georgia"/>
              </a:rPr>
              <a:t>The identification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CEB5F-2E24-4554-9056-A6860851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Giant hogweed is invasive in the Netherlands. Dense stands can displace native vegetation, while contact with its sap and sunlight can cause severe skin injury.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A5C18-A853-4AA4-9340-ED65686A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The Dutch NVWA warns that people can confuse it with native common hogweed. Intended users are nature volunteers and site managers — not people seeking medical advice or automatic removal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DE79C-E970-4911-B6FC-BB1517D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F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35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 wrong guess has two costs: native plants may be removed, or a person may approach a hazardous plant.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3C1DE-DEA7-4EA0-A485-0DF3C30A4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d1751f2354048"/>
          <a:srcRect xmlns:a="http://schemas.openxmlformats.org/drawingml/2006/main" l="0" t="12350" r="0" b="12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276350"/>
            <a:ext cx="47625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35DFA-AFD3-4635-A438-0301EFDB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/>
            <a:lvl1pPr algn="r">
              <a:buNone/>
              <a:defRPr/>
            </a:lvl1pPr>
            <a:lvl2pPr algn="r">
              <a:buNone/>
              <a:defRPr/>
            </a:lvl2pPr>
            <a:lvl3pPr algn="r">
              <a:buNone/>
              <a:defRPr/>
            </a:lvl3pPr>
            <a:lvl4pPr algn="r">
              <a:buNone/>
              <a:defRPr/>
            </a:lvl4pPr>
            <a:lvl5pPr algn="r">
              <a:buNone/>
              <a:defRPr/>
            </a:lvl5pPr>
            <a:lvl6pPr algn="r">
              <a:buNone/>
              <a:defRPr/>
            </a:lvl6pPr>
            <a:lvl7pPr algn="r">
              <a:buNone/>
              <a:defRPr/>
            </a:lvl7pPr>
            <a:lvl8pPr algn="r">
              <a:buNone/>
              <a:defRPr/>
            </a:lvl8pPr>
            <a:lvl9pPr algn="r">
              <a:buNone/>
              <a:defRPr/>
            </a:lvl9pPr>
          </a:lstStyle>
          <a:p xmlns:a="http://schemas.openxmlformats.org/drawingml/2006/main">
            <a:pPr algn="r">
              <a:buNone/>
            </a:pPr>
            <a:r>
              <a:rPr sz="675" b="1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HOGWEED GUARD NL   ·   2/5</a:t>
            </a:r>
          </a:p>
        </p:txBody>
      </p:sp>
    </p:spTree>
    <p:extLst>
      <p:ext uri="{BB962C8B-B14F-4D97-AF65-F5344CB8AC3E}">
        <p14:creationId xmlns:p14="http://schemas.microsoft.com/office/powerpoint/2010/main" val="710405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A60DE-EF81-470D-B82E-38C9F43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2850" b="1" i="0">
                <a:solidFill>
                  <a:srgbClr val="18251E"/>
                </a:solidFill>
                <a:latin typeface="Georgia"/>
                <a:ea typeface="Georgia"/>
                <a:cs typeface="Georgia"/>
              </a:rPr>
              <a:t>A Dutch, licence-tracked dataset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08A2C-EC14-4EFD-8E37-CE1EBF7A1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8a41dae764ccf"/>
          <a:srcRect xmlns:a="http://schemas.openxmlformats.org/drawingml/2006/main" l="20060" t="0" r="200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314450"/>
            <a:ext cx="3143250" cy="2952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0A1EC-DD1C-4945-9F20-003ED2A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Giant hogweed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82DB4-0FC2-4EEF-846A-1C8EC27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1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Heracleum mantegazzianum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EDB9B-6A19-4EAD-B2F7-758FB82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6F3F63"/>
                </a:solidFill>
                <a:latin typeface="Verdana"/>
                <a:ea typeface="Verdana"/>
                <a:cs typeface="Verdana"/>
              </a:rPr>
              <a:t>108 model images  ·  12 held out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9A36A-7EB1-4F5C-8C13-5E28F354BD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67417aaf443c1"/>
          <a:srcRect xmlns:a="http://schemas.openxmlformats.org/drawingml/2006/main" l="0" t="14773" r="0" b="14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314450"/>
            <a:ext cx="314325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15B05-D116-41A1-AE88-52549B6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Common hogweed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8E42F-48A6-453A-B9FD-3BDFFBC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1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Heracleum sphondylium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B7865-34ED-410A-8FF9-253AAB0C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62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6F3F63"/>
                </a:solidFill>
                <a:latin typeface="Verdana"/>
                <a:ea typeface="Verdana"/>
                <a:cs typeface="Verdana"/>
              </a:rPr>
              <a:t>108 model images  ·  12 held out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71B57-FE1A-4D61-A4CE-11BD59307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07f17526a4521"/>
          <a:srcRect xmlns:a="http://schemas.openxmlformats.org/drawingml/2006/main" l="20060" t="0" r="200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314450"/>
            <a:ext cx="3143250" cy="2952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51D30-9804-4E7D-9589-35E34CD9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Cow parsley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49FF9-E0F3-4123-8E53-203AC604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1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Anthriscus sylvestris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DEB04-6428-4C64-8592-3B159E7B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6F3F63"/>
                </a:solidFill>
                <a:latin typeface="Verdana"/>
                <a:ea typeface="Verdana"/>
                <a:cs typeface="Verdana"/>
              </a:rPr>
              <a:t>108 model images  ·  12 held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F9889-0DEE-4A11-B71E-0263C06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22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/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 xmlns:a="http://schemas.openxmlformats.org/drawingml/2006/main">
            <a:pPr algn="ctr">
              <a:buNone/>
            </a:pPr>
            <a:r>
              <a:rPr sz="1125" b="1" i="0">
                <a:solidFill>
                  <a:srgbClr val="315C45"/>
                </a:solidFill>
                <a:latin typeface="Verdana"/>
                <a:ea typeface="Verdana"/>
                <a:cs typeface="Verdana"/>
              </a:rPr>
              <a:t>360 Dutch GBIF observations · creator, licence and source URL preserved · no synthetic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94A96-E7DD-4084-9885-151CDCD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/>
            <a:lvl1pPr algn="r">
              <a:buNone/>
              <a:defRPr/>
            </a:lvl1pPr>
            <a:lvl2pPr algn="r">
              <a:buNone/>
              <a:defRPr/>
            </a:lvl2pPr>
            <a:lvl3pPr algn="r">
              <a:buNone/>
              <a:defRPr/>
            </a:lvl3pPr>
            <a:lvl4pPr algn="r">
              <a:buNone/>
              <a:defRPr/>
            </a:lvl4pPr>
            <a:lvl5pPr algn="r">
              <a:buNone/>
              <a:defRPr/>
            </a:lvl5pPr>
            <a:lvl6pPr algn="r">
              <a:buNone/>
              <a:defRPr/>
            </a:lvl6pPr>
            <a:lvl7pPr algn="r">
              <a:buNone/>
              <a:defRPr/>
            </a:lvl7pPr>
            <a:lvl8pPr algn="r">
              <a:buNone/>
              <a:defRPr/>
            </a:lvl8pPr>
            <a:lvl9pPr algn="r">
              <a:buNone/>
              <a:defRPr/>
            </a:lvl9pPr>
          </a:lstStyle>
          <a:p xmlns:a="http://schemas.openxmlformats.org/drawingml/2006/main">
            <a:pPr algn="r">
              <a:buNone/>
            </a:pPr>
            <a:r>
              <a:rPr sz="675" b="1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HOGWEED GUARD NL   ·   3/5</a:t>
            </a:r>
          </a:p>
        </p:txBody>
      </p:sp>
    </p:spTree>
    <p:extLst>
      <p:ext uri="{BB962C8B-B14F-4D97-AF65-F5344CB8AC3E}">
        <p14:creationId xmlns:p14="http://schemas.microsoft.com/office/powerpoint/2010/main" val="1491255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8133B-22BC-4047-AA4B-C7CFA19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2850" b="1" i="0">
                <a:solidFill>
                  <a:srgbClr val="18251E"/>
                </a:solidFill>
                <a:latin typeface="Georgia"/>
                <a:ea typeface="Georgia"/>
                <a:cs typeface="Georgia"/>
              </a:rPr>
              <a:t>Photo to cautious screening result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0642B-DF29-4BC3-AF2B-47CC525C17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b9807ecd34feb"/>
          <a:stretch xmlns:a="http://schemas.openxmlformats.org/drawingml/2006/main"/>
        </p:blipFill>
        <p:spPr>
          <a:xfrm xmlns:a="http://schemas.openxmlformats.org/drawingml/2006/main">
            <a:off x="5880093" y="1381125"/>
            <a:ext cx="4813314" cy="35337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93FB5-AACB-4D66-9040-70875643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950" b="1" i="0">
                <a:solidFill>
                  <a:srgbClr val="6F3F63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3F50-E0ED-4403-8D86-62E0C130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52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980DD-F346-40ED-BF8B-8EB23A6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57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A volunteer provides one clear plant photograph.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73088-970B-4557-945C-2279EC26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950" b="1" i="0">
                <a:solidFill>
                  <a:srgbClr val="6F3F63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7A1D7-4FDC-455F-BB2B-94A9B4DA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Classify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3DBB5-300C-4C07-B7A1-C931129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The Roboflow DINOv3 Small workflow compares three trained species.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6618F-F739-420B-BD29-FCA9B9C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950" b="1" i="0">
                <a:solidFill>
                  <a:srgbClr val="6F3F63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DD77A-530D-41B1-B3F4-4163E310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Check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99025-F266-4A3F-9A2F-2AC579B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The app withholds results below the safety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6FF05-5687-4CB4-BAD4-905C2F0D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950" b="1" i="0">
                <a:solidFill>
                  <a:srgbClr val="6F3F63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E559A-DFE4-441C-BEBF-99F0DE2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1" i="0">
                <a:solidFill>
                  <a:srgbClr val="18251E"/>
                </a:solidFill>
                <a:latin typeface="Verdana"/>
                <a:ea typeface="Verdana"/>
                <a:cs typeface="Verdana"/>
              </a:rPr>
              <a:t>Act cautiously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87D6F-B525-412C-AACE-CAF07AF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0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The user keeps distance and requests expert confirmation.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7E930-1E4E-4454-8FC0-1B05BB9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625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F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/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Held-out example: giant hogweed at 95%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4E288-F31E-4E63-98D5-2D98BCC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75" b="1" i="0">
                <a:solidFill>
                  <a:srgbClr val="315C45"/>
                </a:solidFill>
                <a:latin typeface="Verdana"/>
                <a:ea typeface="Verdana"/>
                <a:cs typeface="Verdana"/>
              </a:rPr>
              <a:t>Roboflow performs the essential visual classification. Without the trained model, the app cannot screen the photograph.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06A24-4285-4AAD-AAE7-1660B57F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/>
            <a:lvl1pPr algn="r">
              <a:buNone/>
              <a:defRPr/>
            </a:lvl1pPr>
            <a:lvl2pPr algn="r">
              <a:buNone/>
              <a:defRPr/>
            </a:lvl2pPr>
            <a:lvl3pPr algn="r">
              <a:buNone/>
              <a:defRPr/>
            </a:lvl3pPr>
            <a:lvl4pPr algn="r">
              <a:buNone/>
              <a:defRPr/>
            </a:lvl4pPr>
            <a:lvl5pPr algn="r">
              <a:buNone/>
              <a:defRPr/>
            </a:lvl5pPr>
            <a:lvl6pPr algn="r">
              <a:buNone/>
              <a:defRPr/>
            </a:lvl6pPr>
            <a:lvl7pPr algn="r">
              <a:buNone/>
              <a:defRPr/>
            </a:lvl7pPr>
            <a:lvl8pPr algn="r">
              <a:buNone/>
              <a:defRPr/>
            </a:lvl8pPr>
            <a:lvl9pPr algn="r">
              <a:buNone/>
              <a:defRPr/>
            </a:lvl9pPr>
          </a:lstStyle>
          <a:p xmlns:a="http://schemas.openxmlformats.org/drawingml/2006/main">
            <a:pPr algn="r">
              <a:buNone/>
            </a:pPr>
            <a:r>
              <a:rPr sz="675" b="1" i="0">
                <a:solidFill>
                  <a:srgbClr val="647268"/>
                </a:solidFill>
                <a:latin typeface="Verdana"/>
                <a:ea typeface="Verdana"/>
                <a:cs typeface="Verdana"/>
              </a:rPr>
              <a:t>HOGWEED GUARD NL   ·   4/5</a:t>
            </a:r>
          </a:p>
        </p:txBody>
      </p:sp>
    </p:spTree>
    <p:extLst>
      <p:ext uri="{BB962C8B-B14F-4D97-AF65-F5344CB8AC3E}">
        <p14:creationId xmlns:p14="http://schemas.microsoft.com/office/powerpoint/2010/main" val="2035012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25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C5FC1-9C1A-428C-A222-5D6196F3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2850" b="1" i="0">
                <a:solidFill>
                  <a:srgbClr val="F5F7F1"/>
                </a:solidFill>
                <a:latin typeface="Georgia"/>
                <a:ea typeface="Georgia"/>
                <a:cs typeface="Georgia"/>
              </a:rPr>
              <a:t>Independent test confirms the safety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52D0B-43B8-4F68-B0A4-3B798B4B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E7AE3F"/>
                </a:solidFill>
                <a:latin typeface="Verdana"/>
                <a:ea typeface="Verdana"/>
                <a:cs typeface="Verdana"/>
              </a:rPr>
              <a:t>HELD-OUT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DE8C4-C78C-4368-B98C-37B7D354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F5F7F1"/>
                </a:solidFill>
                <a:latin typeface="Georgia"/>
                <a:ea typeface="Georgia"/>
                <a:cs typeface="Georgia"/>
              </a:rPr>
              <a:t>30 / 36 correct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D0DEF-64B4-425F-AEE8-9389890C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DCE7D8"/>
                </a:solidFill>
                <a:latin typeface="Verdana"/>
                <a:ea typeface="Verdana"/>
                <a:cs typeface="Verdana"/>
              </a:rPr>
              <a:t>83.3% accuracy on images Roboflow never saw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C5053-F309-402C-9204-C697A71A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Giant hogweed  10/12</a:t>
            </a:r>
            <a:br>
              <a:rPr sz="15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5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Common hogweed  8/12</a:t>
            </a:r>
            <a:br>
              <a:rPr sz="15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50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Cow parsley 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0BAA1-5545-4CE8-9707-DE7CC47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E7AE3F"/>
                </a:solidFill>
                <a:latin typeface="Verdana"/>
                <a:ea typeface="Verdana"/>
                <a:cs typeface="Verdana"/>
              </a:rPr>
              <a:t>SAFETY-RELEVANT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9A2B5-E35A-4695-8E9B-806409F3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905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275" b="0" i="0">
                <a:solidFill>
                  <a:srgbClr val="DCE7D8"/>
                </a:solidFill>
                <a:latin typeface="Verdana"/>
                <a:ea typeface="Verdana"/>
                <a:cs typeface="Verdana"/>
              </a:rPr>
              <a:t>One giant hogweed image was labelled common hogweed. One common hogweed image was labelled giant hogweed.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92EF6-3296-4CFC-8572-82919814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algn="l">
              <a:buNone/>
            </a:pPr>
            <a:r>
              <a:rPr sz="1350" b="1" i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What I learned: held-out testing exposed important errors, so the app withholds scores below 65% and requires expert confirmation.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20C38-1048-441C-807A-911E25FB7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dcc8057f4145"/>
          <a:stretch xmlns:a="http://schemas.openxmlformats.org/drawingml/2006/main"/>
        </p:blipFill>
        <p:spPr>
          <a:xfrm xmlns:a="http://schemas.openxmlformats.org/drawingml/2006/main">
            <a:off x="6551510" y="1285875"/>
            <a:ext cx="4756355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84EA-D33F-4032-A76B-021B7B7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/>
            <a:lvl1pPr algn="r">
              <a:buNone/>
              <a:defRPr/>
            </a:lvl1pPr>
            <a:lvl2pPr algn="r">
              <a:buNone/>
              <a:defRPr/>
            </a:lvl2pPr>
            <a:lvl3pPr algn="r">
              <a:buNone/>
              <a:defRPr/>
            </a:lvl3pPr>
            <a:lvl4pPr algn="r">
              <a:buNone/>
              <a:defRPr/>
            </a:lvl4pPr>
            <a:lvl5pPr algn="r">
              <a:buNone/>
              <a:defRPr/>
            </a:lvl5pPr>
            <a:lvl6pPr algn="r">
              <a:buNone/>
              <a:defRPr/>
            </a:lvl6pPr>
            <a:lvl7pPr algn="r">
              <a:buNone/>
              <a:defRPr/>
            </a:lvl7pPr>
            <a:lvl8pPr algn="r">
              <a:buNone/>
              <a:defRPr/>
            </a:lvl8pPr>
            <a:lvl9pPr algn="r">
              <a:buNone/>
              <a:defRPr/>
            </a:lvl9pPr>
          </a:lstStyle>
          <a:p xmlns:a="http://schemas.openxmlformats.org/drawingml/2006/main">
            <a:pPr algn="r">
              <a:buNone/>
            </a:pPr>
            <a:r>
              <a:rPr sz="675" b="1" i="0">
                <a:solidFill>
                  <a:srgbClr val="DCE7D8"/>
                </a:solidFill>
                <a:latin typeface="Verdana"/>
                <a:ea typeface="Verdana"/>
                <a:cs typeface="Verdana"/>
              </a:rPr>
              <a:t>HOGWEED GUARD NL   ·   5/5</a:t>
            </a:r>
          </a:p>
        </p:txBody>
      </p:sp>
    </p:spTree>
    <p:extLst>
      <p:ext uri="{BB962C8B-B14F-4D97-AF65-F5344CB8AC3E}">
        <p14:creationId xmlns:p14="http://schemas.microsoft.com/office/powerpoint/2010/main" val="1318615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2026-10-30T00:17:53.7150000Z</dcterms:created>
  <dcterms:modified xsi:type="dcterms:W3CDTF">2026-10-30T00:17:53.7160000Z</dcterms:modified>
</coreProperties>
</file>