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780db9c9794ee0" /><Relationship Type="http://schemas.openxmlformats.org/officeDocument/2006/relationships/extended-properties" Target="/docProps/app.xml" Id="Rf5baf7e81c594096" /><Relationship Type="http://schemas.openxmlformats.org/officeDocument/2006/relationships/officeDocument" Target="/ppt/presentation.xml" Id="Rd167f5830c244f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b82793ff0a4685"/>
  </p:sldMasterIdLst>
  <p:notesMasterIdLst>
    <p:notesMasterId xmlns:r="http://schemas.openxmlformats.org/officeDocument/2006/relationships" r:id="Rd23529c2c7d04193"/>
  </p:notesMasterIdLst>
  <p:sldIdLst>
    <p:sldId xmlns:r="http://schemas.openxmlformats.org/officeDocument/2006/relationships" id="256" r:id="Rd39bb53494434cbb"/>
    <p:sldId xmlns:r="http://schemas.openxmlformats.org/officeDocument/2006/relationships" id="257" r:id="R26e564f261fc4fc4"/>
    <p:sldId xmlns:r="http://schemas.openxmlformats.org/officeDocument/2006/relationships" id="258" r:id="Ra8b70e2ded5740d1"/>
    <p:sldId xmlns:r="http://schemas.openxmlformats.org/officeDocument/2006/relationships" id="259" r:id="Re1c0399ab49a4fcc"/>
    <p:sldId xmlns:r="http://schemas.openxmlformats.org/officeDocument/2006/relationships" id="260" r:id="R37f7216d9e9742cd"/>
    <p:sldId xmlns:r="http://schemas.openxmlformats.org/officeDocument/2006/relationships" id="261" r:id="R2c39994d1cac4978"/>
    <p:sldId xmlns:r="http://schemas.openxmlformats.org/officeDocument/2006/relationships" id="262" r:id="R9b7d999ebd7847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b746db299541ab" /><Relationship Type="http://schemas.openxmlformats.org/officeDocument/2006/relationships/slideMaster" Target="/ppt/slideMasters/slideMaster1.xml" Id="R51b82793ff0a4685" /><Relationship Type="http://schemas.openxmlformats.org/officeDocument/2006/relationships/notesMaster" Target="/ppt/notesMasters/notesMaster1.xml" Id="Rd23529c2c7d04193" /><Relationship Type="http://schemas.openxmlformats.org/officeDocument/2006/relationships/presProps" Target="/ppt/presProps.xml" Id="R5533255e980e4085" /><Relationship Type="http://schemas.openxmlformats.org/officeDocument/2006/relationships/tableStyles" Target="/ppt/tableStyles.xml" Id="R563b3b974bef4621" /><Relationship Type="http://schemas.openxmlformats.org/officeDocument/2006/relationships/slide" Target="/ppt/slides/slide1.xml" Id="Rd39bb53494434cbb" /><Relationship Type="http://schemas.openxmlformats.org/officeDocument/2006/relationships/slide" Target="/ppt/slides/slide2.xml" Id="R26e564f261fc4fc4" /><Relationship Type="http://schemas.openxmlformats.org/officeDocument/2006/relationships/slide" Target="/ppt/slides/slide3.xml" Id="Ra8b70e2ded5740d1" /><Relationship Type="http://schemas.openxmlformats.org/officeDocument/2006/relationships/slide" Target="/ppt/slides/slide4.xml" Id="Re1c0399ab49a4fcc" /><Relationship Type="http://schemas.openxmlformats.org/officeDocument/2006/relationships/slide" Target="/ppt/slides/slide5.xml" Id="R37f7216d9e9742cd" /><Relationship Type="http://schemas.openxmlformats.org/officeDocument/2006/relationships/slide" Target="/ppt/slides/slide6.xml" Id="R2c39994d1cac4978" /><Relationship Type="http://schemas.openxmlformats.org/officeDocument/2006/relationships/slide" Target="/ppt/slides/slide7.xml" Id="R9b7d999ebd7847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30db160e194d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6b2d2e1a714b69" /><Relationship Type="http://schemas.openxmlformats.org/officeDocument/2006/relationships/notesMaster" Target="/ppt/notesMasters/notesMaster1.xml" Id="R8d890899917f4d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270434e1594291" /><Relationship Type="http://schemas.openxmlformats.org/officeDocument/2006/relationships/notesMaster" Target="/ppt/notesMasters/notesMaster1.xml" Id="Rd16751e0094444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aedb02d05a4d05" /><Relationship Type="http://schemas.openxmlformats.org/officeDocument/2006/relationships/notesMaster" Target="/ppt/notesMasters/notesMaster1.xml" Id="Radd9409a1c3d48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e1e3ed24c944fe" /><Relationship Type="http://schemas.openxmlformats.org/officeDocument/2006/relationships/notesMaster" Target="/ppt/notesMasters/notesMaster1.xml" Id="R4ecb7731fd6d4e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80d2a92c7f4eb7" /><Relationship Type="http://schemas.openxmlformats.org/officeDocument/2006/relationships/notesMaster" Target="/ppt/notesMasters/notesMaster1.xml" Id="R05a2001b504f4e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892734700645a0" /><Relationship Type="http://schemas.openxmlformats.org/officeDocument/2006/relationships/notesMaster" Target="/ppt/notesMasters/notesMaster1.xml" Id="R33d3bc04d21144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264916a4114172" /><Relationship Type="http://schemas.openxmlformats.org/officeDocument/2006/relationships/notesMaster" Target="/ppt/notesMasters/notesMaster1.xml" Id="R64405ba83eb64e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source: U.S. Census Bureau, Income, Poverty, and Valuation of Noncash Benefits: 1994. https://www.census.gov/library/publications/1996/demo/p60-189.html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historical poverty statistic supplies the scale and setting for the economic-security problem. It is context only: poverty status is not the notebook target, which is income class at the $50,000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10853b00c4b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548c221d44a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1a90768ce24e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a29213dfd4e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417c5a2264a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1a7c81562c4f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3F53E0-B307-4243-BDC0-C9C4984C0F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F1FA935-F9F5-4404-AC7F-21BEBA3500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3783522-F24B-4D71-8284-6944BBC236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5C77E0-D8C7-4A8C-9AA8-B576AC163D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E16A56-6D8C-48BA-868D-64F535B8EF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1EFF25-96CA-4B9F-8310-341DC53522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5C7F17-D792-4B12-845F-E2D7355C18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3547DD-2248-4EA8-A531-08B2E7AFD4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21FF7F-41C5-45A7-B8D7-908D294628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D8A8EB-1C13-4D26-8865-076A073C3A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97ca9192964f26" /><Relationship Type="http://schemas.openxmlformats.org/officeDocument/2006/relationships/slideLayout" Target="/ppt/slideLayouts/slideLayout1.xml" Id="Rca985cb3e9c64ce6" /><Relationship Type="http://schemas.openxmlformats.org/officeDocument/2006/relationships/slideLayout" Target="/ppt/slideLayouts/slideLayout2.xml" Id="R455793450115427f" /><Relationship Type="http://schemas.openxmlformats.org/officeDocument/2006/relationships/slideLayout" Target="/ppt/slideLayouts/slideLayout3.xml" Id="R8e358147d36447bc" /><Relationship Type="http://schemas.openxmlformats.org/officeDocument/2006/relationships/slideLayout" Target="/ppt/slideLayouts/slideLayout4.xml" Id="R23ebc94ce7eb4d44" /><Relationship Type="http://schemas.openxmlformats.org/officeDocument/2006/relationships/slideLayout" Target="/ppt/slideLayouts/slideLayout5.xml" Id="Rc7e6a80b26b24738" /><Relationship Type="http://schemas.openxmlformats.org/officeDocument/2006/relationships/slideLayout" Target="/ppt/slideLayouts/slideLayout6.xml" Id="Rf62008ff6dec44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985cb3e9c64ce6"/>
    <p:sldLayoutId xmlns:r="http://schemas.openxmlformats.org/officeDocument/2006/relationships" id="2147483650" r:id="R455793450115427f"/>
    <p:sldLayoutId xmlns:r="http://schemas.openxmlformats.org/officeDocument/2006/relationships" id="2147483651" r:id="R8e358147d36447bc"/>
    <p:sldLayoutId xmlns:r="http://schemas.openxmlformats.org/officeDocument/2006/relationships" id="2147483652" r:id="R23ebc94ce7eb4d44"/>
    <p:sldLayoutId xmlns:r="http://schemas.openxmlformats.org/officeDocument/2006/relationships" id="2147483653" r:id="Rc7e6a80b26b24738"/>
    <p:sldLayoutId xmlns:r="http://schemas.openxmlformats.org/officeDocument/2006/relationships" id="2147483654" r:id="Rf62008ff6dec44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ec8530f6c944a9" /><Relationship Type="http://schemas.openxmlformats.org/officeDocument/2006/relationships/notesSlide" Target="/ppt/notesSlides/notesSlide1.xml" Id="Rda363c82326345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657b369a8144aa" /><Relationship Type="http://schemas.openxmlformats.org/officeDocument/2006/relationships/notesSlide" Target="/ppt/notesSlides/notesSlide2.xml" Id="R350a6304bddd4a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866b3608be4500" /><Relationship Type="http://schemas.openxmlformats.org/officeDocument/2006/relationships/notesSlide" Target="/ppt/notesSlides/notesSlide3.xml" Id="R65d80e666d2e4b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0f5d973da440f6" /><Relationship Type="http://schemas.openxmlformats.org/officeDocument/2006/relationships/notesSlide" Target="/ppt/notesSlides/notesSlide4.xml" Id="Rc23c8e56ae244f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1aa9cd512f41b6" /><Relationship Type="http://schemas.openxmlformats.org/officeDocument/2006/relationships/notesSlide" Target="/ppt/notesSlides/notesSlide5.xml" Id="Rc887ec7c644e4f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0b503230443fc" /><Relationship Type="http://schemas.openxmlformats.org/officeDocument/2006/relationships/notesSlide" Target="/ppt/notesSlides/notesSlide6.xml" Id="Rfd25360ddc2a44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000e1cfc96475f" /><Relationship Type="http://schemas.openxmlformats.org/officeDocument/2006/relationships/notesSlide" Target="/ppt/notesSlides/notesSlide7.xml" Id="R22a52ef25c2244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A226D-7E99-46DD-B0D3-12871C82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Model Showdown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69C0A-9CFA-4061-B8D1-47735512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D7E5F6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D7E5F6"/>
                </a:solidFill>
              </a:defRPr>
            </a:pPr>
            <a:r>
              <a:rPr sz="1875">
                <a:solidFill>
                  <a:srgbClr val="D7E5F6"/>
                </a:solidFill>
              </a:rPr>
              <a:t>Predicting income class from education and employment characteristics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A9882-9AD1-4F4F-9420-AA0B0EF5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93C5FD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rgbClr val="93C5FD"/>
                </a:solidFill>
              </a:defRPr>
            </a:pPr>
            <a:r>
              <a:rPr sz="1500">
                <a:solidFill>
                  <a:srgbClr val="93C5FD"/>
                </a:solidFill>
              </a:rPr>
              <a:t>UCI Adult dataset | SDG 8: Decent Work and Economic Growth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AE48A-545B-4B0D-BF41-A2E34800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EAD4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EEAD4"/>
                </a:solidFill>
              </a:defRPr>
            </a:pPr>
            <a:r>
              <a:rPr sz="1350" b="1">
                <a:solidFill>
                  <a:srgbClr val="5EEAD4"/>
                </a:solidFill>
              </a:rPr>
              <a:t>Hackathon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1EA0D-A850-4870-A1C9-D5F9E690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17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CBD5E1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Research use only. The model must not decide who receives jobs, benefits, training or financial support.</a:t>
            </a:r>
          </a:p>
        </p:txBody>
      </p:sp>
    </p:spTree>
    <p:extLst>
      <p:ext uri="{BB962C8B-B14F-4D97-AF65-F5344CB8AC3E}">
        <p14:creationId xmlns:p14="http://schemas.microsoft.com/office/powerpoint/2010/main" val="2120040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5FA53-399B-42DD-AC0E-3718E13E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Problem, user and SDG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88FA2-806B-4FA6-81B1-75C90808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AI for Good | Hackathon 5 |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A49F8-BA04-4D51-BDAA-2BC38399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E7490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E7490"/>
                </a:solidFill>
              </a:defRPr>
            </a:pPr>
            <a:r>
              <a:rPr sz="1425" b="1">
                <a:solidFill>
                  <a:srgbClr val="0E7490"/>
                </a:solidFill>
              </a:rPr>
              <a:t>Research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F7BE9-7091-4A45-96ED-93B60447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2203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22033"/>
                </a:solidFill>
              </a:defRPr>
            </a:pPr>
            <a:r>
              <a:rPr sz="2250" b="1">
                <a:solidFill>
                  <a:srgbClr val="122033"/>
                </a:solidFill>
              </a:rPr>
              <a:t>Can we predict whether a U.S. adult earns at most $50,000 per year from education and employment characteristics?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D1BF0-16CF-4BE2-85D2-1A13E667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E7490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E7490"/>
                </a:solidFill>
              </a:defRPr>
            </a:pPr>
            <a:r>
              <a:rPr sz="1425" b="1">
                <a:solidFill>
                  <a:srgbClr val="0E7490"/>
                </a:solidFill>
              </a:rPr>
              <a:t>Named 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2F5E8-81D0-4680-AE6E-8020DE4E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3333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22033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122033"/>
                </a:solidFill>
              </a:defRPr>
            </a:pPr>
            <a:r>
              <a:rPr sz="1800">
                <a:solidFill>
                  <a:srgbClr val="122033"/>
                </a:solidFill>
              </a:rPr>
              <a:t>Labour-market researchers studying patterns linked to economic security and planning broad training support.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C702A-DFE2-4251-A82A-35E293C7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E7490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E7490"/>
                </a:solidFill>
              </a:defRPr>
            </a:pPr>
            <a:r>
              <a:rPr sz="1425" b="1">
                <a:solidFill>
                  <a:srgbClr val="0E7490"/>
                </a:solidFill>
              </a:rPr>
              <a:t>Why SDG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F8509-1E28-4AAE-9E6E-C3F36AF4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22033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The project examines income patterns connected with decent work and economic growth. It supports research, not automated decisions about individuals.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BEF77-40D7-4C45-9D48-1E03230C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1994 context: 38.1 million people in the United States (14.5% of the population) were below the official poverty level.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AF21B-7280-49BC-A41F-DE7FCB70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Source: U.S. Census Bureau, Income, Poverty, and Valuation of Noncash Benefits: 1994.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27BA1-89D8-41BD-A119-D21F0CA6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B42318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B42318"/>
                </a:solidFill>
              </a:defRPr>
            </a:pPr>
            <a:r>
              <a:rPr sz="1425" b="1">
                <a:solidFill>
                  <a:srgbClr val="B42318"/>
                </a:solidFill>
              </a:rPr>
              <a:t>Decision context: identify patterns for research and policy evaluation. Do not use the prediction to approve or deny personal support.</a:t>
            </a:r>
          </a:p>
        </p:txBody>
      </p:sp>
    </p:spTree>
    <p:extLst>
      <p:ext uri="{BB962C8B-B14F-4D97-AF65-F5344CB8AC3E}">
        <p14:creationId xmlns:p14="http://schemas.microsoft.com/office/powerpoint/2010/main" val="1898886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8936E-5E09-4EB9-BD23-F8FC6038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Dataset and 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51526-02D1-4FC6-A91D-970D6B22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AI for Good | Hackathon 5 | 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EE610-6511-44EC-B0F5-E52CCB541126}"/>
              </a:ext>
            </a:extLst>
          </p:cNvPr>
          <p:cNvGraphicFramePr/>
          <p:nvPr/>
        </p:nvGraphicFramePr>
        <p:xfrm>
          <a:off xmlns:a="http://schemas.openxmlformats.org/drawingml/2006/main" x="723900" y="1371600"/>
          <a:ext xmlns:a="http://schemas.openxmlformats.org/drawingml/2006/main" cx="107442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2476500"/>
                <a:gridCol w="5886450"/>
              </a:tblGrid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95250" marR="95250" marT="76200" marB="762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95250" marR="95250" marT="76200" marB="762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 marL="95250" marR="95250" marT="76200" marB="76200">
                    <a:solidFill>
                      <a:srgbClr val="0B1F3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Source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UCI Adult / Census Income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U.S. adults recorded in 1994</a:t>
                      </a:r>
                    </a:p>
                  </a:txBody>
                  <a:tcPr marL="95250" marR="95250" marT="66675" marB="66675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Cleaned data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48,790 rows, 13 columns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52 exact duplicates removed</a:t>
                      </a:r>
                    </a:p>
                  </a:txBody>
                  <a:tcPr marL="95250" marR="95250" marT="66675" marB="66675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Target balance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76.1% &lt;=50K | 23.9% &gt;50K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The &gt;50K group is the minority class</a:t>
                      </a:r>
                    </a:p>
                  </a:txBody>
                  <a:tcPr marL="95250" marR="95250" marT="66675" marB="66675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Evaluation split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80% training | 20% test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Stratified split, random_state = 42</a:t>
                      </a:r>
                    </a:p>
                  </a:txBody>
                  <a:tcPr marL="95250" marR="95250" marT="66675" marB="66675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B415C-E8AD-4DD2-9F68-7060CFD1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We use balanced accuracy during tuning because ordinary accuracy would reward predicting the majority class for everyone.</a:t>
            </a:r>
          </a:p>
        </p:txBody>
      </p:sp>
    </p:spTree>
    <p:extLst>
      <p:ext uri="{BB962C8B-B14F-4D97-AF65-F5344CB8AC3E}">
        <p14:creationId xmlns:p14="http://schemas.microsoft.com/office/powerpoint/2010/main" val="2124084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B7042-EC28-42AF-BC51-F52A0ABC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Pipeline and the key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491AD-1CAC-427F-894D-F07641E9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AI for Good | Hackathon 5 |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03643-B0F5-40EB-92CB-EA83FCA2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E7490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E7490"/>
                </a:solidFill>
              </a:defRPr>
            </a:pPr>
            <a:r>
              <a:rPr sz="1875" b="1">
                <a:solidFill>
                  <a:srgbClr val="0E7490"/>
                </a:solidFill>
              </a:rPr>
              <a:t>Raw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21F52-CA45-43FA-974F-DE2FAA61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22033"/>
                </a:solidFill>
              </a:defRPr>
            </a:defPPr>
          </a:lstStyle>
          <a:p xmlns:a="http://schemas.openxmlformats.org/drawingml/2006/main">
            <a:pPr>
              <a:defRPr sz="1575">
                <a:solidFill>
                  <a:srgbClr val="122033"/>
                </a:solidFill>
              </a:defRPr>
            </a:pPr>
            <a:r>
              <a:rPr sz="1575">
                <a:solidFill>
                  <a:srgbClr val="122033"/>
                </a:solidFill>
              </a:rPr>
              <a:t>Clean only what is known for every row: standardise labels, remove 52 exact duplicates and drop fnlwgt and education_num.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FE28D-4259-411C-8EEC-283B7DFB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E7490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E7490"/>
                </a:solidFill>
              </a:defRPr>
            </a:pPr>
            <a:r>
              <a:rPr sz="1875" b="1">
                <a:solidFill>
                  <a:srgbClr val="0E7490"/>
                </a:solidFill>
              </a:rPr>
              <a:t>Train/test split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F6204-C14A-4E6C-9BD5-6ADA8E2B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22033"/>
                </a:solidFill>
              </a:defRPr>
            </a:defPPr>
          </a:lstStyle>
          <a:p xmlns:a="http://schemas.openxmlformats.org/drawingml/2006/main">
            <a:pPr>
              <a:defRPr sz="1575">
                <a:solidFill>
                  <a:srgbClr val="122033"/>
                </a:solidFill>
              </a:defRPr>
            </a:pPr>
            <a:r>
              <a:rPr sz="1575">
                <a:solidFill>
                  <a:srgbClr val="122033"/>
                </a:solidFill>
              </a:rPr>
              <a:t>Keep 20% unseen until final evaluation. Stratification preserves the 76.1% / 23.9% class balance.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A735D-D4D5-47B8-AC4D-7E13BC45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E7490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E7490"/>
                </a:solidFill>
              </a:defRPr>
            </a:pPr>
            <a:r>
              <a:rPr sz="1875" b="1">
                <a:solidFill>
                  <a:srgbClr val="0E7490"/>
                </a:solidFill>
              </a:rPr>
              <a:t>Preprocessing inside the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38CED-E516-4D85-BA8B-F4715369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22033"/>
                </a:solidFill>
              </a:defRPr>
            </a:defPPr>
          </a:lstStyle>
          <a:p xmlns:a="http://schemas.openxmlformats.org/drawingml/2006/main">
            <a:pPr>
              <a:defRPr sz="1575">
                <a:solidFill>
                  <a:srgbClr val="122033"/>
                </a:solidFill>
              </a:defRPr>
            </a:pPr>
            <a:r>
              <a:rPr sz="1575">
                <a:solidFill>
                  <a:srgbClr val="122033"/>
                </a:solidFill>
              </a:rPr>
              <a:t>Impute missing values, scale numerical values and one-hot encode categories using training data only. Then tune KNN, logistic regression and random forest with 3-fold cross-validation.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C001B-828D-476B-834F-42A6EFEC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42318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Decision we defend hardest: fitting preprocessing only on the training data prevents data leakage from the test set.</a:t>
            </a:r>
          </a:p>
        </p:txBody>
      </p:sp>
    </p:spTree>
    <p:extLst>
      <p:ext uri="{BB962C8B-B14F-4D97-AF65-F5344CB8AC3E}">
        <p14:creationId xmlns:p14="http://schemas.microsoft.com/office/powerpoint/2010/main" val="2074222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46EFD-91F6-474D-9E8D-53A89D7E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BA588-D289-4272-A364-D91524D3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AI for Good | Hackathon 5 | 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2C48E-2573-4D3D-B3A9-26C584E77B94}"/>
              </a:ext>
            </a:extLst>
          </p:cNvPr>
          <p:cNvGraphicFramePr/>
          <p:nvPr/>
        </p:nvGraphicFramePr>
        <p:xfrm>
          <a:off xmlns:a="http://schemas.openxmlformats.org/drawingml/2006/main" x="533400" y="1257300"/>
          <a:ext xmlns:a="http://schemas.openxmlformats.org/drawingml/2006/main" cx="111252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52600"/>
                <a:gridCol w="2571750"/>
                <a:gridCol w="2095500"/>
                <a:gridCol w="1571625"/>
                <a:gridCol w="1571625"/>
                <a:gridCol w="1562100"/>
              </a:tblGrid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95250" marR="95250" marT="76200" marB="762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Best setting</a:t>
                      </a:r>
                    </a:p>
                  </a:txBody>
                  <a:tcPr marL="95250" marR="95250" marT="76200" marB="762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3-fold CV</a:t>
                      </a:r>
                    </a:p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balanced accuracy</a:t>
                      </a:r>
                    </a:p>
                  </a:txBody>
                  <a:tcPr marL="95250" marR="95250" marT="76200" marB="762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precision</a:t>
                      </a:r>
                    </a:p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&gt;50K</a:t>
                      </a:r>
                    </a:p>
                  </a:txBody>
                  <a:tcPr marL="95250" marR="95250" marT="76200" marB="762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recall</a:t>
                      </a:r>
                    </a:p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&gt;50K</a:t>
                      </a:r>
                    </a:p>
                  </a:txBody>
                  <a:tcPr marL="95250" marR="95250" marT="76200" marB="762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F1</a:t>
                      </a:r>
                    </a:p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&gt;50K</a:t>
                      </a:r>
                    </a:p>
                  </a:txBody>
                  <a:tcPr marL="95250" marR="95250" marT="76200" marB="76200">
                    <a:solidFill>
                      <a:srgbClr val="0B1F3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Dummy baseline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Most frequent class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0.500 ± 0.000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0.00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0.00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0.00</a:t>
                      </a:r>
                    </a:p>
                  </a:txBody>
                  <a:tcPr marL="95250" marR="95250" marT="66675" marB="66675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KNN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n_neighbors = 7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0.742 ± 0.005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0.67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0.60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0.63</a:t>
                      </a:r>
                    </a:p>
                  </a:txBody>
                  <a:tcPr marL="95250" marR="95250" marT="66675" marB="66675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Logistic regression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C = 10.0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0.746 ± 0.008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0.70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0.58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0.64</a:t>
                      </a:r>
                    </a:p>
                  </a:txBody>
                  <a:tcPr marL="95250" marR="95250" marT="66675" marB="66675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033"/>
                          </a:solidFill>
                        </a:rPr>
                        <a:t>Random forest</a:t>
                      </a:r>
                    </a:p>
                  </a:txBody>
                  <a:tcPr marL="95250" marR="95250" marT="66675" marB="66675">
                    <a:solidFill>
                      <a:srgbClr val="DF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033"/>
                          </a:solidFill>
                        </a:rPr>
                        <a:t>100 trees, no depth limit</a:t>
                      </a:r>
                    </a:p>
                  </a:txBody>
                  <a:tcPr marL="95250" marR="95250" marT="66675" marB="66675">
                    <a:solidFill>
                      <a:srgbClr val="DF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033"/>
                          </a:solidFill>
                        </a:rPr>
                        <a:t>0.757 ± 0.003</a:t>
                      </a:r>
                    </a:p>
                  </a:txBody>
                  <a:tcPr marL="95250" marR="95250" marT="66675" marB="66675">
                    <a:solidFill>
                      <a:srgbClr val="DF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033"/>
                          </a:solidFill>
                        </a:rPr>
                        <a:t>0.69</a:t>
                      </a:r>
                    </a:p>
                  </a:txBody>
                  <a:tcPr marL="95250" marR="95250" marT="66675" marB="66675">
                    <a:solidFill>
                      <a:srgbClr val="DF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033"/>
                          </a:solidFill>
                        </a:rPr>
                        <a:t>0.62</a:t>
                      </a:r>
                    </a:p>
                  </a:txBody>
                  <a:tcPr marL="95250" marR="95250" marT="66675" marB="66675">
                    <a:solidFill>
                      <a:srgbClr val="DF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033"/>
                          </a:solidFill>
                        </a:rPr>
                        <a:t>0.65</a:t>
                      </a:r>
                    </a:p>
                  </a:txBody>
                  <a:tcPr marL="95250" marR="95250" marT="66675" marB="66675">
                    <a:solidFill>
                      <a:srgbClr val="DFF5F2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8D238-34AA-4FE7-BB53-0E242D66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Random forest has the strongest cross-validation score and the highest recall and F1 score for the smaller &gt;50K group.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AEB25-B5EB-4E7F-9B03-CD9C18B8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Scores recalculated from the notebook's current Pipeline, parameter grid and balanced-accuracy scoring.</a:t>
            </a:r>
          </a:p>
        </p:txBody>
      </p:sp>
    </p:spTree>
    <p:extLst>
      <p:ext uri="{BB962C8B-B14F-4D97-AF65-F5344CB8AC3E}">
        <p14:creationId xmlns:p14="http://schemas.microsoft.com/office/powerpoint/2010/main" val="1200836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91D84-F8AE-4D23-AF3B-F6815DB0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Recommended model: Random Forest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AA992-11E3-4D33-8F3B-D43181BA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AI for Good | Hackathon 5 |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5DCD5-BFDA-4889-AB0F-9C50A69A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E7490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E7490"/>
                </a:solidFill>
              </a:defRPr>
            </a:pPr>
            <a:r>
              <a:rPr sz="1650" b="1">
                <a:solidFill>
                  <a:srgbClr val="0E7490"/>
                </a:solidFill>
              </a:rPr>
              <a:t>Test-set confusion matrix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4D666-7B6B-448D-922A-C22A32EE2C52}"/>
              </a:ext>
            </a:extLst>
          </p:cNvPr>
          <p:cNvGraphicFramePr/>
          <p:nvPr/>
        </p:nvGraphicFramePr>
        <p:xfrm>
          <a:off xmlns:a="http://schemas.openxmlformats.org/drawingml/2006/main" x="723900" y="1847850"/>
          <a:ext xmlns:a="http://schemas.openxmlformats.org/drawingml/2006/main" cx="561975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90750"/>
                <a:gridCol w="1714500"/>
                <a:gridCol w="1714500"/>
              </a:tblGrid>
              <a:tr h="793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Actual / predicted</a:t>
                      </a:r>
                    </a:p>
                  </a:txBody>
                  <a:tcPr marL="95250" marR="95250" marT="76200" marB="762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&lt;=50K</a:t>
                      </a:r>
                    </a:p>
                  </a:txBody>
                  <a:tcPr marL="95250" marR="95250" marT="76200" marB="7620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&gt;50K</a:t>
                      </a:r>
                    </a:p>
                  </a:txBody>
                  <a:tcPr marL="95250" marR="95250" marT="76200" marB="76200">
                    <a:solidFill>
                      <a:srgbClr val="0B1F33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&lt;=50K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6,784 correct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638 false positives</a:t>
                      </a:r>
                    </a:p>
                  </a:txBody>
                  <a:tcPr marL="95250" marR="95250" marT="66675" marB="66675"/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&gt;50K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891 false negatives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</a:rPr>
                        <a:t>1,445 correct</a:t>
                      </a:r>
                    </a:p>
                  </a:txBody>
                  <a:tcPr marL="95250" marR="95250" marT="66675" marB="66675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3DE2F-61F2-4E1B-9E6E-85641756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E7490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E7490"/>
                </a:solidFill>
              </a:defRPr>
            </a:pPr>
            <a:r>
              <a:rPr sz="1725" b="1">
                <a:solidFill>
                  <a:srgbClr val="0E7490"/>
                </a:solidFill>
              </a:rPr>
              <a:t>Why recommend it?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08198-F829-4E9B-A937-B538E550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361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22033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It recognises 62% of the real &gt;50K cases, more than KNN (60%) and logistic regression (58%).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A245C-3CD4-4781-9936-72868F79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361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Its F1 score for &gt;50K is 0.65, the best result in this comparison.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F40F2-D87C-47C5-A9AB-5E4BFB86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33900"/>
            <a:ext cx="361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B42318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rgbClr val="B42318"/>
                </a:solidFill>
              </a:defRPr>
            </a:pPr>
            <a:r>
              <a:rPr sz="1500">
                <a:solidFill>
                  <a:srgbClr val="B42318"/>
                </a:solidFill>
              </a:rPr>
              <a:t>It still misses 891 higher-income adults. That error matters if someone uses the result to target support or research.</a:t>
            </a:r>
          </a:p>
        </p:txBody>
      </p:sp>
    </p:spTree>
    <p:extLst>
      <p:ext uri="{BB962C8B-B14F-4D97-AF65-F5344CB8AC3E}">
        <p14:creationId xmlns:p14="http://schemas.microsoft.com/office/powerpoint/2010/main" val="287063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49E14-14ED-4658-BC2E-F83F2D2C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Live prediction and responsible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DDA9A-082B-4463-86AF-6490CCFA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B5563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  <a:r>
              <a:rPr sz="900">
                <a:solidFill>
                  <a:srgbClr val="4B5563"/>
                </a:solidFill>
              </a:rPr>
              <a:t>AI for Good | Hackathon 5 |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AC34B-8810-4604-96B8-8EFBDDE4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E7490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E7490"/>
                </a:solidFill>
              </a:defRPr>
            </a:pPr>
            <a:r>
              <a:rPr sz="1650" b="1">
                <a:solidFill>
                  <a:srgbClr val="0E7490"/>
                </a:solidFill>
              </a:rPr>
              <a:t>Live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E9A59-F363-463E-964F-36CD2133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122033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rgbClr val="122033"/>
                </a:solidFill>
              </a:defRPr>
            </a:pPr>
            <a:r>
              <a:rPr sz="1950">
                <a:solidFill>
                  <a:srgbClr val="122033"/>
                </a:solidFill>
              </a:rPr>
              <a:t>Fictional case: 35 years old, private-sector employee, Bachelor's degree, executive-managerial role, 50 working hours per week.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32BDE-1E1A-496E-84E6-CBD915B5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Model output: &lt;=50K with 62.1% predicted probability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00385-A8C7-4BCF-8173-455863D8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E7490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E7490"/>
                </a:solidFill>
              </a:defRPr>
            </a:pPr>
            <a:r>
              <a:rPr sz="1650" b="1">
                <a:solidFill>
                  <a:srgbClr val="0E7490"/>
                </a:solidFill>
              </a:rPr>
              <a:t>Responsible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832C0-8FDA-414E-9C0F-355EDC77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122033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122033"/>
                </a:solidFill>
              </a:defRPr>
            </a:pPr>
            <a:r>
              <a:rPr sz="1725">
                <a:solidFill>
                  <a:srgbClr val="122033"/>
                </a:solidFill>
              </a:rPr>
              <a:t>The data describes U.S. adults in 1994. It may reflect historical inequality and is not representative of people today or outside the United States.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66E30-A4FA-4F74-895F-0E487A76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B42318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B42318"/>
                </a:solidFill>
              </a:defRPr>
            </a:pPr>
            <a:r>
              <a:rPr sz="1725">
                <a:solidFill>
                  <a:srgbClr val="B42318"/>
                </a:solidFill>
              </a:rPr>
              <a:t>Race and sex are sensitive variables. We must check performance by group and never use this model as an automatic decision-maker.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29B73-3542-435E-8B51-5949C355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Final message: use the model to study patterns, with human judgement and clear limits.</a:t>
            </a:r>
          </a:p>
        </p:txBody>
      </p:sp>
    </p:spTree>
    <p:extLst>
      <p:ext uri="{BB962C8B-B14F-4D97-AF65-F5344CB8AC3E}">
        <p14:creationId xmlns:p14="http://schemas.microsoft.com/office/powerpoint/2010/main" val="1220496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2026-10-08T21:32:57.0930000Z</dcterms:created>
  <dcterms:modified xsi:type="dcterms:W3CDTF">2026-10-08T21:32:57.0930000Z</dcterms:modified>
</coreProperties>
</file>