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3ecc8b87e448ff" /><Relationship Type="http://schemas.openxmlformats.org/officeDocument/2006/relationships/extended-properties" Target="/docProps/app.xml" Id="Rb9fd81c2dd464c50" /><Relationship Type="http://schemas.openxmlformats.org/officeDocument/2006/relationships/officeDocument" Target="/ppt/presentation.xml" Id="R4f1a5e95baf3459e" /></Relationships>
</file>

<file path=ppt/presentation.xml><?xml version="1.0" encoding="utf-8"?>
<p:presentation xmlns:p="http://schemas.openxmlformats.org/presentationml/2006/main">
  <p:sldMasterIdLst>
    <p:sldMasterId xmlns:r="http://schemas.openxmlformats.org/officeDocument/2006/relationships" id="2147483648" r:id="R304673adcac04765"/>
  </p:sldMasterIdLst>
  <p:notesMasterIdLst>
    <p:notesMasterId xmlns:r="http://schemas.openxmlformats.org/officeDocument/2006/relationships" r:id="R6fd562287428454a"/>
  </p:notesMasterIdLst>
  <p:sldIdLst>
    <p:sldId xmlns:r="http://schemas.openxmlformats.org/officeDocument/2006/relationships" id="256" r:id="Rf2b2bbef206343b7"/>
    <p:sldId xmlns:r="http://schemas.openxmlformats.org/officeDocument/2006/relationships" id="257" r:id="Rcd3b124904f5446f"/>
    <p:sldId xmlns:r="http://schemas.openxmlformats.org/officeDocument/2006/relationships" id="258" r:id="R7580e29db4354cbf"/>
    <p:sldId xmlns:r="http://schemas.openxmlformats.org/officeDocument/2006/relationships" id="259" r:id="R37ba86e3562d46c7"/>
    <p:sldId xmlns:r="http://schemas.openxmlformats.org/officeDocument/2006/relationships" id="260" r:id="Rd20cb24654754fc0"/>
    <p:sldId xmlns:r="http://schemas.openxmlformats.org/officeDocument/2006/relationships" id="261" r:id="Ra847adee3b174fd0"/>
    <p:sldId xmlns:r="http://schemas.openxmlformats.org/officeDocument/2006/relationships" id="262" r:id="Rae4e0b937a9e4b51"/>
    <p:sldId xmlns:r="http://schemas.openxmlformats.org/officeDocument/2006/relationships" id="263" r:id="R27a81629e4ce4d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1cb5a63e2449ae" /><Relationship Type="http://schemas.openxmlformats.org/officeDocument/2006/relationships/slideMaster" Target="/ppt/slideMasters/slideMaster1.xml" Id="R304673adcac04765" /><Relationship Type="http://schemas.openxmlformats.org/officeDocument/2006/relationships/notesMaster" Target="/ppt/notesMasters/notesMaster1.xml" Id="R6fd562287428454a" /><Relationship Type="http://schemas.openxmlformats.org/officeDocument/2006/relationships/presProps" Target="/ppt/presProps.xml" Id="Rf5866dfee0774120" /><Relationship Type="http://schemas.openxmlformats.org/officeDocument/2006/relationships/tableStyles" Target="/ppt/tableStyles.xml" Id="Rcabe29e46f194c84" /><Relationship Type="http://schemas.openxmlformats.org/officeDocument/2006/relationships/slide" Target="/ppt/slides/slide1.xml" Id="Rf2b2bbef206343b7" /><Relationship Type="http://schemas.openxmlformats.org/officeDocument/2006/relationships/slide" Target="/ppt/slides/slide2.xml" Id="Rcd3b124904f5446f" /><Relationship Type="http://schemas.openxmlformats.org/officeDocument/2006/relationships/slide" Target="/ppt/slides/slide3.xml" Id="R7580e29db4354cbf" /><Relationship Type="http://schemas.openxmlformats.org/officeDocument/2006/relationships/slide" Target="/ppt/slides/slide4.xml" Id="R37ba86e3562d46c7" /><Relationship Type="http://schemas.openxmlformats.org/officeDocument/2006/relationships/slide" Target="/ppt/slides/slide5.xml" Id="Rd20cb24654754fc0" /><Relationship Type="http://schemas.openxmlformats.org/officeDocument/2006/relationships/slide" Target="/ppt/slides/slide6.xml" Id="Ra847adee3b174fd0" /><Relationship Type="http://schemas.openxmlformats.org/officeDocument/2006/relationships/slide" Target="/ppt/slides/slide7.xml" Id="Rae4e0b937a9e4b51" /><Relationship Type="http://schemas.openxmlformats.org/officeDocument/2006/relationships/slide" Target="/ppt/slides/slide8.xml" Id="R27a81629e4ce4d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c20cae3db445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94c71010e04a42" /><Relationship Type="http://schemas.openxmlformats.org/officeDocument/2006/relationships/notesMaster" Target="/ppt/notesMasters/notesMaster1.xml" Id="R9ccd7c7dd2f14a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4422b3255a4952" /><Relationship Type="http://schemas.openxmlformats.org/officeDocument/2006/relationships/notesMaster" Target="/ppt/notesMasters/notesMaster1.xml" Id="Ra96d953ea52449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83a955a2304a53" /><Relationship Type="http://schemas.openxmlformats.org/officeDocument/2006/relationships/notesMaster" Target="/ppt/notesMasters/notesMaster1.xml" Id="Ra2f6dcda4dd346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9c6ddf2cc04363" /><Relationship Type="http://schemas.openxmlformats.org/officeDocument/2006/relationships/notesMaster" Target="/ppt/notesMasters/notesMaster1.xml" Id="R2da76311d9264d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0576590f904966" /><Relationship Type="http://schemas.openxmlformats.org/officeDocument/2006/relationships/notesMaster" Target="/ppt/notesMasters/notesMaster1.xml" Id="R680a78b82ea04a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66c5ec9ab243e2" /><Relationship Type="http://schemas.openxmlformats.org/officeDocument/2006/relationships/notesMaster" Target="/ppt/notesMasters/notesMaster1.xml" Id="Rb8e2c4d0868e41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ab8afcc99543dc" /><Relationship Type="http://schemas.openxmlformats.org/officeDocument/2006/relationships/notesMaster" Target="/ppt/notesMasters/notesMaster1.xml" Id="R96a5693591b145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3a22f8db324f2e" /><Relationship Type="http://schemas.openxmlformats.org/officeDocument/2006/relationships/notesMaster" Target="/ppt/notesMasters/notesMaster1.xml" Id="R88caa090202f46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Coach helps beginners practise writing useful AI prompts without asking the AI to complete their assignment. Introduce the project, Lovable requirement and SDG 4 connection in about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tested Python example as the evidence required by the rubric. The problem occurs when beginner students formulate coursework prompts before they understand what information an AI system needs. The current tool assumes internet access, English reading ability and basic familiarity with an AI chat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steps from left to right. Stress that the coach does not prefill the learner's revision. The learner must interpret the feedback and make a change before the second AI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comes from the connected Lovable preview after a real AI response on 10 September 2026. The first AI call evaluates the draft. The second compares the original and revision. Codex refined the interface later, but it did not replace Lovable or the Lovable AI 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captures from the connected Lovable preview. The demo uses the draft 'Help me learn Python' and a revision that specifies while loops, learner level, plain English, one short example and a practice question without the answer. The full animated capture is stored in the Week 2 hackathon demo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SDG 4 calls for inclusive and equitable quality education and lifelong learning opportunities. Prompt Coach makes a focused contribution through beginner AI literacy practice. Source: https://sdgs.un.org/goals/goal4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one risk in detail if time is short. The important pattern is consequence, current safeguard and a concrete next action. The full reflection is in ETHICAL_REFLECTION.md in the Week 2 hackathon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demo: click Try an example, request feedback, explain one missing dimension, paste the prepared revision, and compare. The captured GIF is a backup if the live AI service is slow. End by stating that the learner did the revision and the coach never answered the homework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5eaad1b47248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6507c3d6ef4ba1" /><Relationship Type="http://schemas.openxmlformats.org/officeDocument/2006/relationships/slideLayout" Target="/ppt/slideLayouts/slideLayout1.xml" Id="R291987da1f7740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1987da1f7740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79497cbea347d0" /><Relationship Type="http://schemas.openxmlformats.org/officeDocument/2006/relationships/notesSlide" Target="/ppt/notesSlides/notesSlide1.xml" Id="R5a21d057cb9148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7f2c3bb4d24f25" /><Relationship Type="http://schemas.openxmlformats.org/officeDocument/2006/relationships/notesSlide" Target="/ppt/notesSlides/notesSlide2.xml" Id="R4cb9b6443fa14e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a983eb6a5d4180" /><Relationship Type="http://schemas.openxmlformats.org/officeDocument/2006/relationships/notesSlide" Target="/ppt/notesSlides/notesSlide3.xml" Id="R7e23b8864de24a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7c5b6e260249c7" /><Relationship Type="http://schemas.openxmlformats.org/officeDocument/2006/relationships/image" Target="/ppt/media/image.jpeg" Id="R56a8d8831a95474a" /><Relationship Type="http://schemas.openxmlformats.org/officeDocument/2006/relationships/notesSlide" Target="/ppt/notesSlides/notesSlide4.xml" Id="R9213758529d440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6bdf0760d9456a" /><Relationship Type="http://schemas.openxmlformats.org/officeDocument/2006/relationships/image" Target="/ppt/media/image2.jpeg" Id="R31733ac655c24564" /><Relationship Type="http://schemas.openxmlformats.org/officeDocument/2006/relationships/image" Target="/ppt/media/image3.jpeg" Id="Rc90719b072204c1a" /><Relationship Type="http://schemas.openxmlformats.org/officeDocument/2006/relationships/notesSlide" Target="/ppt/notesSlides/notesSlide5.xml" Id="R6a74d8eb8d574c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beda3f683449b6" /><Relationship Type="http://schemas.openxmlformats.org/officeDocument/2006/relationships/notesSlide" Target="/ppt/notesSlides/notesSlide6.xml" Id="R6c6b5e4c748b44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0eb48a42c740e0" /><Relationship Type="http://schemas.openxmlformats.org/officeDocument/2006/relationships/notesSlide" Target="/ppt/notesSlides/notesSlide7.xml" Id="Rd7b430894bdb4f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8041a51709456d" /><Relationship Type="http://schemas.openxmlformats.org/officeDocument/2006/relationships/hyperlink" Target="https://github.com/Maxlopez02/ai4g-portfolio-MaxLopez/tree/main/Term%201/Week%202/hackathon" TargetMode="External" Id="Re0afb4228f27473c" /><Relationship Type="http://schemas.openxmlformats.org/officeDocument/2006/relationships/notesSlide" Target="/ppt/notesSlides/notesSlide8.xml" Id="Rcc033bd5add24923" /></Relationships>
</file>

<file path=ppt/slides/slide1.xml><?xml version="1.0" encoding="utf-8"?>
<p:sld xmlns:p="http://schemas.openxmlformats.org/presentationml/2006/main">
  <p:cSld>
    <p:bg>
      <p:bgPr>
        <a:solidFill xmlns:a="http://schemas.openxmlformats.org/drawingml/2006/main">
          <a:srgbClr val="24222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58208E-1E2F-465A-B049-1AB546D767B1}"/>
              </a:ext>
            </a:extLst>
          </p:cNvPr>
          <p:cNvSpPr>
            <a:spLocks xmlns:a="http://schemas.openxmlformats.org/drawingml/2006/main" noGrp="1"/>
          </p:cNvSpPr>
          <p:nvPr/>
        </p:nvSpPr>
        <p:spPr>
          <a:xfrm xmlns:a="http://schemas.openxmlformats.org/drawingml/2006/main">
            <a:off x="685800" y="609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AA4FF"/>
                </a:solidFill>
                <a:latin typeface="Helvetica Neue"/>
                <a:ea typeface="Helvetica Neue"/>
                <a:cs typeface="Helvetica Neue"/>
              </a:defRPr>
            </a:pPr>
            <a:r>
              <a:rPr sz="1275" b="1">
                <a:solidFill>
                  <a:srgbClr val="AAA4FF"/>
                </a:solidFill>
                <a:latin typeface="Helvetica Neue"/>
                <a:ea typeface="Helvetica Neue"/>
                <a:cs typeface="Helvetica Neue"/>
              </a:rPr>
              <a:t>AI FOR GOOD  ·  TERM 1  ·  WEEK 2</a:t>
            </a:r>
          </a:p>
        </p:txBody>
      </p:sp>
      <p:sp>
        <p:nvSpPr>
          <p:cNvPr id="2" name="">
            <a:extLst xmlns:a="http://schemas.openxmlformats.org/drawingml/2006/main">
              <a:ext uri="{FF2B5EF4-FFF2-40B4-BE49-F238E27FC236}">
                <a16:creationId xmlns:a16="http://schemas.microsoft.com/office/drawing/2014/main" id="{1F10449D-21C6-49EE-92DA-C6FF1869638E}"/>
              </a:ext>
            </a:extLst>
          </p:cNvPr>
          <p:cNvSpPr>
            <a:spLocks xmlns:a="http://schemas.openxmlformats.org/drawingml/2006/main" noGrp="1"/>
          </p:cNvSpPr>
          <p:nvPr/>
        </p:nvSpPr>
        <p:spPr>
          <a:xfrm xmlns:a="http://schemas.openxmlformats.org/drawingml/2006/main">
            <a:off x="685800" y="1381125"/>
            <a:ext cx="7239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6000"/>
              </a:lnSpc>
              <a:buNone/>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Prompt</a:t>
            </a:r>
          </a:p>
          <a:p xmlns:a="http://schemas.openxmlformats.org/drawingml/2006/main">
            <a:pPr algn="l">
              <a:lnSpc>
                <a:spcPct val="86000"/>
              </a:lnSpc>
              <a:buNone/>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Coach</a:t>
            </a:r>
          </a:p>
        </p:txBody>
      </p:sp>
      <p:sp>
        <p:nvSpPr>
          <p:cNvPr id="3" name="">
            <a:extLst xmlns:a="http://schemas.openxmlformats.org/drawingml/2006/main">
              <a:ext uri="{FF2B5EF4-FFF2-40B4-BE49-F238E27FC236}">
                <a16:creationId xmlns:a16="http://schemas.microsoft.com/office/drawing/2014/main" id="{D37B3834-F0AD-41BD-AE7B-C8C287BB239F}"/>
              </a:ext>
            </a:extLst>
          </p:cNvPr>
          <p:cNvSpPr>
            <a:spLocks xmlns:a="http://schemas.openxmlformats.org/drawingml/2006/main" noGrp="1"/>
          </p:cNvSpPr>
          <p:nvPr/>
        </p:nvSpPr>
        <p:spPr>
          <a:xfrm xmlns:a="http://schemas.openxmlformats.org/drawingml/2006/main">
            <a:off x="685800" y="40005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0">
                <a:solidFill>
                  <a:srgbClr val="D8D5E4"/>
                </a:solidFill>
                <a:latin typeface="Helvetica Neue"/>
                <a:ea typeface="Helvetica Neue"/>
                <a:cs typeface="Helvetica Neue"/>
              </a:defRPr>
            </a:pPr>
            <a:r>
              <a:rPr sz="2250" b="0">
                <a:solidFill>
                  <a:srgbClr val="D8D5E4"/>
                </a:solidFill>
                <a:latin typeface="Helvetica Neue"/>
                <a:ea typeface="Helvetica Neue"/>
                <a:cs typeface="Helvetica Neue"/>
              </a:rPr>
              <a:t>A guided way for beginner students to improve how they ask AI for learning support</a:t>
            </a:r>
          </a:p>
        </p:txBody>
      </p:sp>
      <p:sp>
        <p:nvSpPr>
          <p:cNvPr id="4" name="">
            <a:extLst xmlns:a="http://schemas.openxmlformats.org/drawingml/2006/main">
              <a:ext uri="{FF2B5EF4-FFF2-40B4-BE49-F238E27FC236}">
                <a16:creationId xmlns:a16="http://schemas.microsoft.com/office/drawing/2014/main" id="{35BB6B10-284D-4A0D-8341-E51E8A40A63C}"/>
              </a:ext>
            </a:extLst>
          </p:cNvPr>
          <p:cNvSpPr>
            <a:spLocks xmlns:a="http://schemas.openxmlformats.org/drawingml/2006/main" noGrp="1"/>
          </p:cNvSpPr>
          <p:nvPr/>
        </p:nvSpPr>
        <p:spPr>
          <a:xfrm xmlns:a="http://schemas.openxmlformats.org/drawingml/2006/main">
            <a:off x="685800" y="59626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AAA6B8"/>
                </a:solidFill>
                <a:latin typeface="Helvetica Neue"/>
                <a:ea typeface="Helvetica Neue"/>
                <a:cs typeface="Helvetica Neue"/>
              </a:defRPr>
            </a:pPr>
            <a:r>
              <a:rPr sz="1425" b="0">
                <a:solidFill>
                  <a:srgbClr val="AAA6B8"/>
                </a:solidFill>
                <a:latin typeface="Helvetica Neue"/>
                <a:ea typeface="Helvetica Neue"/>
                <a:cs typeface="Helvetica Neue"/>
              </a:rPr>
              <a:t>Max Lopez  ·  Lovable  ·  UN SDG 4 Quality Education</a:t>
            </a:r>
          </a:p>
        </p:txBody>
      </p:sp>
      <p:sp>
        <p:nvSpPr>
          <p:cNvPr id="5" name="">
            <a:extLst xmlns:a="http://schemas.openxmlformats.org/drawingml/2006/main">
              <a:ext uri="{FF2B5EF4-FFF2-40B4-BE49-F238E27FC236}">
                <a16:creationId xmlns:a16="http://schemas.microsoft.com/office/drawing/2014/main" id="{3F75C7C6-4E7B-4ABE-A2E5-294384CEBEE5}"/>
              </a:ext>
            </a:extLst>
          </p:cNvPr>
          <p:cNvSpPr>
            <a:spLocks xmlns:a="http://schemas.openxmlformats.org/drawingml/2006/main" noGrp="1"/>
          </p:cNvSpPr>
          <p:nvPr/>
        </p:nvSpPr>
        <p:spPr>
          <a:xfrm xmlns:a="http://schemas.openxmlformats.org/drawingml/2006/main">
            <a:off x="9525000" y="1524000"/>
            <a:ext cx="1714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Draft</a:t>
            </a:r>
          </a:p>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Refine</a:t>
            </a:r>
          </a:p>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Reflect</a:t>
            </a:r>
          </a:p>
        </p:txBody>
      </p:sp>
    </p:spTree>
    <p:extLst>
      <p:ext uri="{BB962C8B-B14F-4D97-AF65-F5344CB8AC3E}">
        <p14:creationId xmlns:p14="http://schemas.microsoft.com/office/powerpoint/2010/main" val="1227589898"/>
      </p:ext>
    </p:extLst>
  </p:cSld>
</p:sld>
</file>

<file path=ppt/slides/slide2.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608D84-DAA7-472C-B088-4FC866887192}"/>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99DC11F-E299-4548-85DB-4F3EC26EDA01}"/>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A vague prompt produces generic help</a:t>
            </a:r>
          </a:p>
        </p:txBody>
      </p:sp>
      <p:sp>
        <p:nvSpPr>
          <p:cNvPr id="3" name="">
            <a:extLst xmlns:a="http://schemas.openxmlformats.org/drawingml/2006/main">
              <a:ext uri="{FF2B5EF4-FFF2-40B4-BE49-F238E27FC236}">
                <a16:creationId xmlns:a16="http://schemas.microsoft.com/office/drawing/2014/main" id="{B62F1414-E77C-4F16-BE18-DCA87353D2D7}"/>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47DF372B-6D5F-4DF4-921C-6EE4363BF918}"/>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0984613A-C7D4-42C2-9DF5-10A10B0DC3B4}"/>
              </a:ext>
            </a:extLst>
          </p:cNvPr>
          <p:cNvSpPr>
            <a:spLocks xmlns:a="http://schemas.openxmlformats.org/drawingml/2006/main" noGrp="1"/>
          </p:cNvSpPr>
          <p:nvPr/>
        </p:nvSpPr>
        <p:spPr>
          <a:xfrm xmlns:a="http://schemas.openxmlformats.org/drawingml/2006/main">
            <a:off x="628650" y="194310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900" b="1">
                <a:solidFill>
                  <a:srgbClr val="5B4FCC"/>
                </a:solidFill>
                <a:latin typeface="Helvetica Neue"/>
                <a:ea typeface="Helvetica Neue"/>
                <a:cs typeface="Helvetica Neue"/>
              </a:defRPr>
            </a:pPr>
            <a:r>
              <a:rPr sz="3900" b="1">
                <a:solidFill>
                  <a:srgbClr val="5B4FCC"/>
                </a:solidFill>
                <a:latin typeface="Helvetica Neue"/>
                <a:ea typeface="Helvetica Neue"/>
                <a:cs typeface="Helvetica Neue"/>
              </a:rPr>
              <a:t>“Help me learn Python.”</a:t>
            </a:r>
          </a:p>
        </p:txBody>
      </p:sp>
      <p:sp>
        <p:nvSpPr>
          <p:cNvPr id="6" name="">
            <a:extLst xmlns:a="http://schemas.openxmlformats.org/drawingml/2006/main">
              <a:ext uri="{FF2B5EF4-FFF2-40B4-BE49-F238E27FC236}">
                <a16:creationId xmlns:a16="http://schemas.microsoft.com/office/drawing/2014/main" id="{9972D5BB-29A5-4689-9502-4844627F6733}"/>
              </a:ext>
            </a:extLst>
          </p:cNvPr>
          <p:cNvSpPr>
            <a:spLocks xmlns:a="http://schemas.openxmlformats.org/drawingml/2006/main" noGrp="1"/>
          </p:cNvSpPr>
          <p:nvPr/>
        </p:nvSpPr>
        <p:spPr>
          <a:xfrm xmlns:a="http://schemas.openxmlformats.org/drawingml/2006/main">
            <a:off x="647700" y="35814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6E6B78"/>
                </a:solidFill>
                <a:latin typeface="Helvetica Neue"/>
                <a:ea typeface="Helvetica Neue"/>
                <a:cs typeface="Helvetica Neue"/>
              </a:defRPr>
            </a:pPr>
            <a:r>
              <a:rPr sz="1350" b="0">
                <a:solidFill>
                  <a:srgbClr val="6E6B78"/>
                </a:solidFill>
                <a:latin typeface="Helvetica Neue"/>
                <a:ea typeface="Helvetica Neue"/>
                <a:cs typeface="Helvetica Neue"/>
              </a:rPr>
              <a:t>A real draft from the tested example</a:t>
            </a:r>
          </a:p>
        </p:txBody>
      </p:sp>
      <p:sp>
        <p:nvSpPr>
          <p:cNvPr id="7" name="">
            <a:extLst xmlns:a="http://schemas.openxmlformats.org/drawingml/2006/main">
              <a:ext uri="{FF2B5EF4-FFF2-40B4-BE49-F238E27FC236}">
                <a16:creationId xmlns:a16="http://schemas.microsoft.com/office/drawing/2014/main" id="{BE81F26D-9FDF-44EA-A9EB-5E3B2D49F0D3}"/>
              </a:ext>
            </a:extLst>
          </p:cNvPr>
          <p:cNvSpPr>
            <a:spLocks xmlns:a="http://schemas.openxmlformats.org/drawingml/2006/main" noGrp="1"/>
          </p:cNvSpPr>
          <p:nvPr/>
        </p:nvSpPr>
        <p:spPr>
          <a:xfrm xmlns:a="http://schemas.openxmlformats.org/drawingml/2006/main">
            <a:off x="5810250" y="1809750"/>
            <a:ext cx="190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8" name="">
            <a:extLst xmlns:a="http://schemas.openxmlformats.org/drawingml/2006/main">
              <a:ext uri="{FF2B5EF4-FFF2-40B4-BE49-F238E27FC236}">
                <a16:creationId xmlns:a16="http://schemas.microsoft.com/office/drawing/2014/main" id="{65BE28E9-6B54-4126-9A3C-2135A2B08AB5}"/>
              </a:ext>
            </a:extLst>
          </p:cNvPr>
          <p:cNvSpPr>
            <a:spLocks xmlns:a="http://schemas.openxmlformats.org/drawingml/2006/main" noGrp="1"/>
          </p:cNvSpPr>
          <p:nvPr/>
        </p:nvSpPr>
        <p:spPr>
          <a:xfrm xmlns:a="http://schemas.openxmlformats.org/drawingml/2006/main">
            <a:off x="630555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WHAT GOES WRONG</a:t>
            </a:r>
          </a:p>
        </p:txBody>
      </p:sp>
      <p:sp>
        <p:nvSpPr>
          <p:cNvPr id="9" name="">
            <a:extLst xmlns:a="http://schemas.openxmlformats.org/drawingml/2006/main">
              <a:ext uri="{FF2B5EF4-FFF2-40B4-BE49-F238E27FC236}">
                <a16:creationId xmlns:a16="http://schemas.microsoft.com/office/drawing/2014/main" id="{82CC1EF7-0DA0-42B8-A439-E4DAC64814FE}"/>
              </a:ext>
            </a:extLst>
          </p:cNvPr>
          <p:cNvSpPr>
            <a:spLocks xmlns:a="http://schemas.openxmlformats.org/drawingml/2006/main" noGrp="1"/>
          </p:cNvSpPr>
          <p:nvPr/>
        </p:nvSpPr>
        <p:spPr>
          <a:xfrm xmlns:a="http://schemas.openxmlformats.org/drawingml/2006/main">
            <a:off x="6305550" y="213360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64"/>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The topic stays broad. The learner gives no experience level, boundaries or useful response format.</a:t>
            </a:r>
          </a:p>
        </p:txBody>
      </p:sp>
      <p:sp>
        <p:nvSpPr>
          <p:cNvPr id="10" name="">
            <a:extLst xmlns:a="http://schemas.openxmlformats.org/drawingml/2006/main">
              <a:ext uri="{FF2B5EF4-FFF2-40B4-BE49-F238E27FC236}">
                <a16:creationId xmlns:a16="http://schemas.microsoft.com/office/drawing/2014/main" id="{B8B32956-E83F-47CB-B8F9-4139DC396B71}"/>
              </a:ext>
            </a:extLst>
          </p:cNvPr>
          <p:cNvSpPr>
            <a:spLocks xmlns:a="http://schemas.openxmlformats.org/drawingml/2006/main" noGrp="1"/>
          </p:cNvSpPr>
          <p:nvPr/>
        </p:nvSpPr>
        <p:spPr>
          <a:xfrm xmlns:a="http://schemas.openxmlformats.org/drawingml/2006/main">
            <a:off x="6305550" y="3162300"/>
            <a:ext cx="4857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1" name="">
            <a:extLst xmlns:a="http://schemas.openxmlformats.org/drawingml/2006/main">
              <a:ext uri="{FF2B5EF4-FFF2-40B4-BE49-F238E27FC236}">
                <a16:creationId xmlns:a16="http://schemas.microsoft.com/office/drawing/2014/main" id="{A92F6E19-8692-44F6-80E4-E97BDC7C75A2}"/>
              </a:ext>
            </a:extLst>
          </p:cNvPr>
          <p:cNvSpPr>
            <a:spLocks xmlns:a="http://schemas.openxmlformats.org/drawingml/2006/main" noGrp="1"/>
          </p:cNvSpPr>
          <p:nvPr/>
        </p:nvSpPr>
        <p:spPr>
          <a:xfrm xmlns:a="http://schemas.openxmlformats.org/drawingml/2006/main">
            <a:off x="6305550" y="342900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WHO EXPERIENCES IT</a:t>
            </a:r>
          </a:p>
        </p:txBody>
      </p:sp>
      <p:sp>
        <p:nvSpPr>
          <p:cNvPr id="12" name="">
            <a:extLst xmlns:a="http://schemas.openxmlformats.org/drawingml/2006/main">
              <a:ext uri="{FF2B5EF4-FFF2-40B4-BE49-F238E27FC236}">
                <a16:creationId xmlns:a16="http://schemas.microsoft.com/office/drawing/2014/main" id="{96EFF6A0-5398-40CB-AA0A-DF2249C794F3}"/>
              </a:ext>
            </a:extLst>
          </p:cNvPr>
          <p:cNvSpPr>
            <a:spLocks xmlns:a="http://schemas.openxmlformats.org/drawingml/2006/main" noGrp="1"/>
          </p:cNvSpPr>
          <p:nvPr/>
        </p:nvSpPr>
        <p:spPr>
          <a:xfrm xmlns:a="http://schemas.openxmlformats.org/drawingml/2006/main">
            <a:off x="6305550" y="3752850"/>
            <a:ext cx="4857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First-year college and university students beginning to use generative AI for coursework.</a:t>
            </a:r>
          </a:p>
        </p:txBody>
      </p:sp>
      <p:sp>
        <p:nvSpPr>
          <p:cNvPr id="13" name="">
            <a:extLst xmlns:a="http://schemas.openxmlformats.org/drawingml/2006/main">
              <a:ext uri="{FF2B5EF4-FFF2-40B4-BE49-F238E27FC236}">
                <a16:creationId xmlns:a16="http://schemas.microsoft.com/office/drawing/2014/main" id="{1991460E-A2CE-4CC9-B9F8-61613B9912CC}"/>
              </a:ext>
            </a:extLst>
          </p:cNvPr>
          <p:cNvSpPr>
            <a:spLocks xmlns:a="http://schemas.openxmlformats.org/drawingml/2006/main" noGrp="1"/>
          </p:cNvSpPr>
          <p:nvPr/>
        </p:nvSpPr>
        <p:spPr>
          <a:xfrm xmlns:a="http://schemas.openxmlformats.org/drawingml/2006/main">
            <a:off x="6305550" y="4638675"/>
            <a:ext cx="4857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4" name="">
            <a:extLst xmlns:a="http://schemas.openxmlformats.org/drawingml/2006/main">
              <a:ext uri="{FF2B5EF4-FFF2-40B4-BE49-F238E27FC236}">
                <a16:creationId xmlns:a16="http://schemas.microsoft.com/office/drawing/2014/main" id="{657AC2CF-0175-4AA4-9437-4A8928820568}"/>
              </a:ext>
            </a:extLst>
          </p:cNvPr>
          <p:cNvSpPr>
            <a:spLocks xmlns:a="http://schemas.openxmlformats.org/drawingml/2006/main" noGrp="1"/>
          </p:cNvSpPr>
          <p:nvPr/>
        </p:nvSpPr>
        <p:spPr>
          <a:xfrm xmlns:a="http://schemas.openxmlformats.org/drawingml/2006/main">
            <a:off x="6305550" y="48958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OUTSIDE THE TARGET</a:t>
            </a:r>
          </a:p>
        </p:txBody>
      </p:sp>
      <p:sp>
        <p:nvSpPr>
          <p:cNvPr id="15" name="">
            <a:extLst xmlns:a="http://schemas.openxmlformats.org/drawingml/2006/main">
              <a:ext uri="{FF2B5EF4-FFF2-40B4-BE49-F238E27FC236}">
                <a16:creationId xmlns:a16="http://schemas.microsoft.com/office/drawing/2014/main" id="{8C17B49E-E5B3-4ED6-943C-36A73D785077}"/>
              </a:ext>
            </a:extLst>
          </p:cNvPr>
          <p:cNvSpPr>
            <a:spLocks xmlns:a="http://schemas.openxmlformats.org/drawingml/2006/main" noGrp="1"/>
          </p:cNvSpPr>
          <p:nvPr/>
        </p:nvSpPr>
        <p:spPr>
          <a:xfrm xmlns:a="http://schemas.openxmlformats.org/drawingml/2006/main">
            <a:off x="6305550" y="52197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236"/>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Advanced prompt writers and students seeking completed assessed work.</a:t>
            </a:r>
          </a:p>
        </p:txBody>
      </p:sp>
      <p:sp>
        <p:nvSpPr>
          <p:cNvPr id="16" name="">
            <a:extLst xmlns:a="http://schemas.openxmlformats.org/drawingml/2006/main">
              <a:ext uri="{FF2B5EF4-FFF2-40B4-BE49-F238E27FC236}">
                <a16:creationId xmlns:a16="http://schemas.microsoft.com/office/drawing/2014/main" id="{C41360B5-F041-4DB7-B871-548ACDB9AE6E}"/>
              </a:ext>
            </a:extLst>
          </p:cNvPr>
          <p:cNvSpPr>
            <a:spLocks xmlns:a="http://schemas.openxmlformats.org/drawingml/2006/main" noGrp="1"/>
          </p:cNvSpPr>
          <p:nvPr/>
        </p:nvSpPr>
        <p:spPr>
          <a:xfrm xmlns:a="http://schemas.openxmlformats.org/drawingml/2006/main">
            <a:off x="647700" y="4857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6E6B78"/>
                </a:solidFill>
                <a:latin typeface="Helvetica Neue"/>
                <a:ea typeface="Helvetica Neue"/>
                <a:cs typeface="Helvetica Neue"/>
              </a:defRPr>
            </a:pPr>
            <a:r>
              <a:rPr sz="1275" b="1">
                <a:solidFill>
                  <a:srgbClr val="6E6B78"/>
                </a:solidFill>
                <a:latin typeface="Helvetica Neue"/>
                <a:ea typeface="Helvetica Neue"/>
                <a:cs typeface="Helvetica Neue"/>
              </a:rPr>
              <a:t>Concrete observation</a:t>
            </a:r>
          </a:p>
        </p:txBody>
      </p:sp>
      <p:sp>
        <p:nvSpPr>
          <p:cNvPr id="17" name="">
            <a:extLst xmlns:a="http://schemas.openxmlformats.org/drawingml/2006/main">
              <a:ext uri="{FF2B5EF4-FFF2-40B4-BE49-F238E27FC236}">
                <a16:creationId xmlns:a16="http://schemas.microsoft.com/office/drawing/2014/main" id="{64C304D9-E657-41E5-B9C7-6DD97A6A7FE5}"/>
              </a:ext>
            </a:extLst>
          </p:cNvPr>
          <p:cNvSpPr>
            <a:spLocks xmlns:a="http://schemas.openxmlformats.org/drawingml/2006/main" noGrp="1"/>
          </p:cNvSpPr>
          <p:nvPr/>
        </p:nvSpPr>
        <p:spPr>
          <a:xfrm xmlns:a="http://schemas.openxmlformats.org/drawingml/2006/main">
            <a:off x="647700" y="5191125"/>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In the live test, the coach marked Context, Constraints and Output as not specified.</a:t>
            </a:r>
          </a:p>
        </p:txBody>
      </p:sp>
    </p:spTree>
    <p:extLst>
      <p:ext uri="{BB962C8B-B14F-4D97-AF65-F5344CB8AC3E}">
        <p14:creationId xmlns:p14="http://schemas.microsoft.com/office/powerpoint/2010/main" val="580907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171D38-AE2A-44DB-AD7B-20AA3CE730D9}"/>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67736DBB-2848-418C-A925-AF56242AAEB9}"/>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The learning loop</a:t>
            </a:r>
          </a:p>
        </p:txBody>
      </p:sp>
      <p:sp>
        <p:nvSpPr>
          <p:cNvPr id="3" name="">
            <a:extLst xmlns:a="http://schemas.openxmlformats.org/drawingml/2006/main">
              <a:ext uri="{FF2B5EF4-FFF2-40B4-BE49-F238E27FC236}">
                <a16:creationId xmlns:a16="http://schemas.microsoft.com/office/drawing/2014/main" id="{45C9B11E-E230-4E30-B206-CF79AD158260}"/>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236B76D8-F094-4FCF-893F-A96CA2FFC256}"/>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3</a:t>
            </a:r>
          </a:p>
        </p:txBody>
      </p:sp>
      <p:sp>
        <p:nvSpPr>
          <p:cNvPr id="5" name="">
            <a:extLst xmlns:a="http://schemas.openxmlformats.org/drawingml/2006/main">
              <a:ext uri="{FF2B5EF4-FFF2-40B4-BE49-F238E27FC236}">
                <a16:creationId xmlns:a16="http://schemas.microsoft.com/office/drawing/2014/main" id="{9C3682DA-2542-4125-BB84-D86DCAAA05F3}"/>
              </a:ext>
            </a:extLst>
          </p:cNvPr>
          <p:cNvSpPr>
            <a:spLocks xmlns:a="http://schemas.openxmlformats.org/drawingml/2006/main" noGrp="1"/>
          </p:cNvSpPr>
          <p:nvPr/>
        </p:nvSpPr>
        <p:spPr>
          <a:xfrm xmlns:a="http://schemas.openxmlformats.org/drawingml/2006/main">
            <a:off x="609600" y="14573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0">
                <a:solidFill>
                  <a:srgbClr val="6E6B78"/>
                </a:solidFill>
                <a:latin typeface="Helvetica Neue"/>
                <a:ea typeface="Helvetica Neue"/>
                <a:cs typeface="Helvetica Neue"/>
              </a:defRPr>
            </a:pPr>
            <a:r>
              <a:rPr sz="1725" b="0">
                <a:solidFill>
                  <a:srgbClr val="6E6B78"/>
                </a:solidFill>
                <a:latin typeface="Helvetica Neue"/>
                <a:ea typeface="Helvetica Neue"/>
                <a:cs typeface="Helvetica Neue"/>
              </a:rPr>
              <a:t>The student stays responsible for the revision</a:t>
            </a:r>
          </a:p>
        </p:txBody>
      </p:sp>
      <p:sp>
        <p:nvSpPr>
          <p:cNvPr id="6" name="">
            <a:extLst xmlns:a="http://schemas.openxmlformats.org/drawingml/2006/main">
              <a:ext uri="{FF2B5EF4-FFF2-40B4-BE49-F238E27FC236}">
                <a16:creationId xmlns:a16="http://schemas.microsoft.com/office/drawing/2014/main" id="{2CF6AB0E-AEE3-4B6C-B47D-2CBB089DEEE8}"/>
              </a:ext>
            </a:extLst>
          </p:cNvPr>
          <p:cNvSpPr>
            <a:spLocks xmlns:a="http://schemas.openxmlformats.org/drawingml/2006/main" noGrp="1"/>
          </p:cNvSpPr>
          <p:nvPr/>
        </p:nvSpPr>
        <p:spPr>
          <a:xfrm xmlns:a="http://schemas.openxmlformats.org/drawingml/2006/main">
            <a:off x="609600" y="2247900"/>
            <a:ext cx="2266950" cy="2933700"/>
          </a:xfrm>
          <a:prstGeom xmlns:a="http://schemas.openxmlformats.org/drawingml/2006/main" prst="roundRect">
            <a:avLst>
              <a:gd name="adj" fmla="val 5882"/>
            </a:avLst>
          </a:prstGeom>
          <a:solidFill xmlns:a="http://schemas.openxmlformats.org/drawingml/2006/main">
            <a:srgbClr val="F4F3F8"/>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01</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Draft</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Enter a learning goal and first prompt.</a:t>
            </a:r>
          </a:p>
        </p:txBody>
      </p:sp>
      <p:sp>
        <p:nvSpPr>
          <p:cNvPr id="7" name="">
            <a:extLst xmlns:a="http://schemas.openxmlformats.org/drawingml/2006/main">
              <a:ext uri="{FF2B5EF4-FFF2-40B4-BE49-F238E27FC236}">
                <a16:creationId xmlns:a16="http://schemas.microsoft.com/office/drawing/2014/main" id="{1C383335-9097-4636-857E-9220DDBA5A7E}"/>
              </a:ext>
            </a:extLst>
          </p:cNvPr>
          <p:cNvSpPr>
            <a:spLocks xmlns:a="http://schemas.openxmlformats.org/drawingml/2006/main" noGrp="1"/>
          </p:cNvSpPr>
          <p:nvPr/>
        </p:nvSpPr>
        <p:spPr>
          <a:xfrm xmlns:a="http://schemas.openxmlformats.org/drawingml/2006/main">
            <a:off x="3524250" y="2247900"/>
            <a:ext cx="2266950" cy="2933700"/>
          </a:xfrm>
          <a:prstGeom xmlns:a="http://schemas.openxmlformats.org/drawingml/2006/main" prst="roundRect">
            <a:avLst>
              <a:gd name="adj" fmla="val 5882"/>
            </a:avLst>
          </a:prstGeom>
          <a:solidFill xmlns:a="http://schemas.openxmlformats.org/drawingml/2006/main">
            <a:srgbClr val="E7F3EF"/>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02</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AI feedback</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Lovable analyses Goal, Context, Constraints and Output.</a:t>
            </a:r>
          </a:p>
        </p:txBody>
      </p:sp>
      <p:sp>
        <p:nvSpPr>
          <p:cNvPr id="8" name="">
            <a:extLst xmlns:a="http://schemas.openxmlformats.org/drawingml/2006/main">
              <a:ext uri="{FF2B5EF4-FFF2-40B4-BE49-F238E27FC236}">
                <a16:creationId xmlns:a16="http://schemas.microsoft.com/office/drawing/2014/main" id="{8AF1ED0A-D34A-40CD-839F-6B743C3E0B56}"/>
              </a:ext>
            </a:extLst>
          </p:cNvPr>
          <p:cNvSpPr>
            <a:spLocks xmlns:a="http://schemas.openxmlformats.org/drawingml/2006/main" noGrp="1"/>
          </p:cNvSpPr>
          <p:nvPr/>
        </p:nvSpPr>
        <p:spPr>
          <a:xfrm xmlns:a="http://schemas.openxmlformats.org/drawingml/2006/main">
            <a:off x="6438900" y="2247900"/>
            <a:ext cx="2266950" cy="2933700"/>
          </a:xfrm>
          <a:prstGeom xmlns:a="http://schemas.openxmlformats.org/drawingml/2006/main" prst="roundRect">
            <a:avLst>
              <a:gd name="adj" fmla="val 5882"/>
            </a:avLst>
          </a:prstGeom>
          <a:solidFill xmlns:a="http://schemas.openxmlformats.org/drawingml/2006/main">
            <a:srgbClr val="F7EEDC"/>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03</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Revise</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Write a clearer request in your own words.</a:t>
            </a:r>
          </a:p>
        </p:txBody>
      </p:sp>
      <p:sp>
        <p:nvSpPr>
          <p:cNvPr id="9" name="">
            <a:extLst xmlns:a="http://schemas.openxmlformats.org/drawingml/2006/main">
              <a:ext uri="{FF2B5EF4-FFF2-40B4-BE49-F238E27FC236}">
                <a16:creationId xmlns:a16="http://schemas.microsoft.com/office/drawing/2014/main" id="{35FEA9D2-B230-483B-B874-8AA813F2CB13}"/>
              </a:ext>
            </a:extLst>
          </p:cNvPr>
          <p:cNvSpPr>
            <a:spLocks xmlns:a="http://schemas.openxmlformats.org/drawingml/2006/main" noGrp="1"/>
          </p:cNvSpPr>
          <p:nvPr/>
        </p:nvSpPr>
        <p:spPr>
          <a:xfrm xmlns:a="http://schemas.openxmlformats.org/drawingml/2006/main">
            <a:off x="9353550" y="2247900"/>
            <a:ext cx="2266950" cy="2933700"/>
          </a:xfrm>
          <a:prstGeom xmlns:a="http://schemas.openxmlformats.org/drawingml/2006/main" prst="roundRect">
            <a:avLst>
              <a:gd name="adj" fmla="val 5882"/>
            </a:avLst>
          </a:prstGeom>
          <a:solidFill xmlns:a="http://schemas.openxmlformats.org/drawingml/2006/main">
            <a:srgbClr val="ECE9FB"/>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04</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Compare</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Lovable names improvements, one gap and one next step.</a:t>
            </a:r>
          </a:p>
        </p:txBody>
      </p:sp>
      <p:sp>
        <p:nvSpPr>
          <p:cNvPr id="10" name="">
            <a:extLst xmlns:a="http://schemas.openxmlformats.org/drawingml/2006/main">
              <a:ext uri="{FF2B5EF4-FFF2-40B4-BE49-F238E27FC236}">
                <a16:creationId xmlns:a16="http://schemas.microsoft.com/office/drawing/2014/main" id="{DD565252-0CDD-4345-AD8B-8B1BDDD88DA1}"/>
              </a:ext>
            </a:extLst>
          </p:cNvPr>
          <p:cNvSpPr>
            <a:spLocks xmlns:a="http://schemas.openxmlformats.org/drawingml/2006/main" noGrp="1"/>
          </p:cNvSpPr>
          <p:nvPr/>
        </p:nvSpPr>
        <p:spPr>
          <a:xfrm xmlns:a="http://schemas.openxmlformats.org/drawingml/2006/main">
            <a:off x="60960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E6B78"/>
                </a:solidFill>
                <a:latin typeface="Helvetica Neue"/>
                <a:ea typeface="Helvetica Neue"/>
                <a:cs typeface="Helvetica Neue"/>
              </a:defRPr>
            </a:pPr>
            <a:r>
              <a:rPr sz="1125" b="1">
                <a:solidFill>
                  <a:srgbClr val="6E6B78"/>
                </a:solidFill>
                <a:latin typeface="Helvetica Neue"/>
                <a:ea typeface="Helvetica Neue"/>
                <a:cs typeface="Helvetica Neue"/>
              </a:rPr>
              <a:t>INPUT</a:t>
            </a:r>
          </a:p>
        </p:txBody>
      </p:sp>
      <p:sp>
        <p:nvSpPr>
          <p:cNvPr id="11" name="">
            <a:extLst xmlns:a="http://schemas.openxmlformats.org/drawingml/2006/main">
              <a:ext uri="{FF2B5EF4-FFF2-40B4-BE49-F238E27FC236}">
                <a16:creationId xmlns:a16="http://schemas.microsoft.com/office/drawing/2014/main" id="{8917BBA1-A1D7-4FC1-BA54-6C5BCFC0F47C}"/>
              </a:ext>
            </a:extLst>
          </p:cNvPr>
          <p:cNvSpPr>
            <a:spLocks xmlns:a="http://schemas.openxmlformats.org/drawingml/2006/main" noGrp="1"/>
          </p:cNvSpPr>
          <p:nvPr/>
        </p:nvSpPr>
        <p:spPr>
          <a:xfrm xmlns:a="http://schemas.openxmlformats.org/drawingml/2006/main">
            <a:off x="352425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86C60"/>
                </a:solidFill>
                <a:latin typeface="Helvetica Neue"/>
                <a:ea typeface="Helvetica Neue"/>
                <a:cs typeface="Helvetica Neue"/>
              </a:defRPr>
            </a:pPr>
            <a:r>
              <a:rPr sz="1125" b="1">
                <a:solidFill>
                  <a:srgbClr val="286C60"/>
                </a:solidFill>
                <a:latin typeface="Helvetica Neue"/>
                <a:ea typeface="Helvetica Neue"/>
                <a:cs typeface="Helvetica Neue"/>
              </a:rPr>
              <a:t>REQUIRED AI STEP</a:t>
            </a:r>
          </a:p>
        </p:txBody>
      </p:sp>
      <p:sp>
        <p:nvSpPr>
          <p:cNvPr id="12" name="">
            <a:extLst xmlns:a="http://schemas.openxmlformats.org/drawingml/2006/main">
              <a:ext uri="{FF2B5EF4-FFF2-40B4-BE49-F238E27FC236}">
                <a16:creationId xmlns:a16="http://schemas.microsoft.com/office/drawing/2014/main" id="{7A09C2CD-36B8-4C1C-902E-A47E13E22914}"/>
              </a:ext>
            </a:extLst>
          </p:cNvPr>
          <p:cNvSpPr>
            <a:spLocks xmlns:a="http://schemas.openxmlformats.org/drawingml/2006/main" noGrp="1"/>
          </p:cNvSpPr>
          <p:nvPr/>
        </p:nvSpPr>
        <p:spPr>
          <a:xfrm xmlns:a="http://schemas.openxmlformats.org/drawingml/2006/main">
            <a:off x="643890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C55647"/>
                </a:solidFill>
                <a:latin typeface="Helvetica Neue"/>
                <a:ea typeface="Helvetica Neue"/>
                <a:cs typeface="Helvetica Neue"/>
              </a:defRPr>
            </a:pPr>
            <a:r>
              <a:rPr sz="1125" b="1">
                <a:solidFill>
                  <a:srgbClr val="C55647"/>
                </a:solidFill>
                <a:latin typeface="Helvetica Neue"/>
                <a:ea typeface="Helvetica Neue"/>
                <a:cs typeface="Helvetica Neue"/>
              </a:rPr>
              <a:t>LEARNER ACTION</a:t>
            </a:r>
          </a:p>
        </p:txBody>
      </p:sp>
      <p:sp>
        <p:nvSpPr>
          <p:cNvPr id="13" name="">
            <a:extLst xmlns:a="http://schemas.openxmlformats.org/drawingml/2006/main">
              <a:ext uri="{FF2B5EF4-FFF2-40B4-BE49-F238E27FC236}">
                <a16:creationId xmlns:a16="http://schemas.microsoft.com/office/drawing/2014/main" id="{3DDD43D1-7B8A-44B8-9832-7BDC85D07A5D}"/>
              </a:ext>
            </a:extLst>
          </p:cNvPr>
          <p:cNvSpPr>
            <a:spLocks xmlns:a="http://schemas.openxmlformats.org/drawingml/2006/main" noGrp="1"/>
          </p:cNvSpPr>
          <p:nvPr/>
        </p:nvSpPr>
        <p:spPr>
          <a:xfrm xmlns:a="http://schemas.openxmlformats.org/drawingml/2006/main">
            <a:off x="935355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B4FCC"/>
                </a:solidFill>
                <a:latin typeface="Helvetica Neue"/>
                <a:ea typeface="Helvetica Neue"/>
                <a:cs typeface="Helvetica Neue"/>
              </a:defRPr>
            </a:pPr>
            <a:r>
              <a:rPr sz="1125" b="1">
                <a:solidFill>
                  <a:srgbClr val="5B4FCC"/>
                </a:solidFill>
                <a:latin typeface="Helvetica Neue"/>
                <a:ea typeface="Helvetica Neue"/>
                <a:cs typeface="Helvetica Neue"/>
              </a:rPr>
              <a:t>OUTPUT</a:t>
            </a:r>
          </a:p>
        </p:txBody>
      </p:sp>
    </p:spTree>
    <p:extLst>
      <p:ext uri="{BB962C8B-B14F-4D97-AF65-F5344CB8AC3E}">
        <p14:creationId xmlns:p14="http://schemas.microsoft.com/office/powerpoint/2010/main" val="2021619555"/>
      </p:ext>
    </p:extLst>
  </p:cSld>
</p:sld>
</file>

<file path=ppt/slides/slide4.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F7CC68-0422-4F88-892D-202AC2B4AE2C}"/>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3454F162-82B2-47C2-B3C4-0093D2CCC2C6}"/>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Lovable performs a necessary AI step</a:t>
            </a:r>
          </a:p>
        </p:txBody>
      </p:sp>
      <p:sp>
        <p:nvSpPr>
          <p:cNvPr id="3" name="">
            <a:extLst xmlns:a="http://schemas.openxmlformats.org/drawingml/2006/main">
              <a:ext uri="{FF2B5EF4-FFF2-40B4-BE49-F238E27FC236}">
                <a16:creationId xmlns:a16="http://schemas.microsoft.com/office/drawing/2014/main" id="{328BF29B-0BAA-405F-BE0D-37A60CC82E22}"/>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E5941FEB-9E1E-476F-940B-02A2C40E0E1C}"/>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B42A99AA-602D-480C-A474-EB560255DCDC}"/>
              </a:ext>
            </a:extLst>
          </p:cNvPr>
          <p:cNvSpPr>
            <a:spLocks xmlns:a="http://schemas.openxmlformats.org/drawingml/2006/main" noGrp="1"/>
          </p:cNvSpPr>
          <p:nvPr/>
        </p:nvSpPr>
        <p:spPr>
          <a:xfrm xmlns:a="http://schemas.openxmlformats.org/drawingml/2006/main">
            <a:off x="647700" y="18478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EAE3EAC6-6406-45A3-8BAD-B2AB806F1E63}"/>
              </a:ext>
            </a:extLst>
          </p:cNvPr>
          <p:cNvSpPr>
            <a:spLocks xmlns:a="http://schemas.openxmlformats.org/drawingml/2006/main" noGrp="1"/>
          </p:cNvSpPr>
          <p:nvPr/>
        </p:nvSpPr>
        <p:spPr>
          <a:xfrm xmlns:a="http://schemas.openxmlformats.org/drawingml/2006/main">
            <a:off x="647700" y="2171700"/>
            <a:ext cx="4095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The server receives the learner’s goal and exact draft wording.</a:t>
            </a:r>
          </a:p>
        </p:txBody>
      </p:sp>
      <p:sp>
        <p:nvSpPr>
          <p:cNvPr id="7" name="">
            <a:extLst xmlns:a="http://schemas.openxmlformats.org/drawingml/2006/main">
              <a:ext uri="{FF2B5EF4-FFF2-40B4-BE49-F238E27FC236}">
                <a16:creationId xmlns:a16="http://schemas.microsoft.com/office/drawing/2014/main" id="{FCE5560C-5F21-4FCD-B1EF-4AC19278E873}"/>
              </a:ext>
            </a:extLst>
          </p:cNvPr>
          <p:cNvSpPr>
            <a:spLocks xmlns:a="http://schemas.openxmlformats.org/drawingml/2006/main" noGrp="1"/>
          </p:cNvSpPr>
          <p:nvPr/>
        </p:nvSpPr>
        <p:spPr>
          <a:xfrm xmlns:a="http://schemas.openxmlformats.org/drawingml/2006/main">
            <a:off x="647700" y="3000375"/>
            <a:ext cx="4095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8" name="">
            <a:extLst xmlns:a="http://schemas.openxmlformats.org/drawingml/2006/main">
              <a:ext uri="{FF2B5EF4-FFF2-40B4-BE49-F238E27FC236}">
                <a16:creationId xmlns:a16="http://schemas.microsoft.com/office/drawing/2014/main" id="{C7B91710-29A6-4874-BECD-D119F10FBBC6}"/>
              </a:ext>
            </a:extLst>
          </p:cNvPr>
          <p:cNvSpPr>
            <a:spLocks xmlns:a="http://schemas.openxmlformats.org/drawingml/2006/main" noGrp="1"/>
          </p:cNvSpPr>
          <p:nvPr/>
        </p:nvSpPr>
        <p:spPr>
          <a:xfrm xmlns:a="http://schemas.openxmlformats.org/drawingml/2006/main">
            <a:off x="647700" y="327660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AI PROCESS</a:t>
            </a:r>
          </a:p>
        </p:txBody>
      </p:sp>
      <p:sp>
        <p:nvSpPr>
          <p:cNvPr id="9" name="">
            <a:extLst xmlns:a="http://schemas.openxmlformats.org/drawingml/2006/main">
              <a:ext uri="{FF2B5EF4-FFF2-40B4-BE49-F238E27FC236}">
                <a16:creationId xmlns:a16="http://schemas.microsoft.com/office/drawing/2014/main" id="{3D7256E1-4498-4D10-834C-316B7B0FF62C}"/>
              </a:ext>
            </a:extLst>
          </p:cNvPr>
          <p:cNvSpPr>
            <a:spLocks xmlns:a="http://schemas.openxmlformats.org/drawingml/2006/main" noGrp="1"/>
          </p:cNvSpPr>
          <p:nvPr/>
        </p:nvSpPr>
        <p:spPr>
          <a:xfrm xmlns:a="http://schemas.openxmlformats.org/drawingml/2006/main">
            <a:off x="647700" y="3600450"/>
            <a:ext cx="4095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 server-side function calls Lovable’s AI gateway and requests structured feedback for four prompt dimensions.</a:t>
            </a:r>
          </a:p>
        </p:txBody>
      </p:sp>
      <p:sp>
        <p:nvSpPr>
          <p:cNvPr id="10" name="">
            <a:extLst xmlns:a="http://schemas.openxmlformats.org/drawingml/2006/main">
              <a:ext uri="{FF2B5EF4-FFF2-40B4-BE49-F238E27FC236}">
                <a16:creationId xmlns:a16="http://schemas.microsoft.com/office/drawing/2014/main" id="{11FEF2BC-5998-4122-9B69-FFD7F97335E3}"/>
              </a:ext>
            </a:extLst>
          </p:cNvPr>
          <p:cNvSpPr>
            <a:spLocks xmlns:a="http://schemas.openxmlformats.org/drawingml/2006/main" noGrp="1"/>
          </p:cNvSpPr>
          <p:nvPr/>
        </p:nvSpPr>
        <p:spPr>
          <a:xfrm xmlns:a="http://schemas.openxmlformats.org/drawingml/2006/main">
            <a:off x="647700" y="4667250"/>
            <a:ext cx="4095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1" name="">
            <a:extLst xmlns:a="http://schemas.openxmlformats.org/drawingml/2006/main">
              <a:ext uri="{FF2B5EF4-FFF2-40B4-BE49-F238E27FC236}">
                <a16:creationId xmlns:a16="http://schemas.microsoft.com/office/drawing/2014/main" id="{CC354757-6ECE-4EAC-B42F-4D8416031DC0}"/>
              </a:ext>
            </a:extLst>
          </p:cNvPr>
          <p:cNvSpPr>
            <a:spLocks xmlns:a="http://schemas.openxmlformats.org/drawingml/2006/main" noGrp="1"/>
          </p:cNvSpPr>
          <p:nvPr/>
        </p:nvSpPr>
        <p:spPr>
          <a:xfrm xmlns:a="http://schemas.openxmlformats.org/drawingml/2006/main">
            <a:off x="647700" y="49339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WHY IT MATTERS</a:t>
            </a:r>
          </a:p>
        </p:txBody>
      </p:sp>
      <p:sp>
        <p:nvSpPr>
          <p:cNvPr id="12" name="">
            <a:extLst xmlns:a="http://schemas.openxmlformats.org/drawingml/2006/main">
              <a:ext uri="{FF2B5EF4-FFF2-40B4-BE49-F238E27FC236}">
                <a16:creationId xmlns:a16="http://schemas.microsoft.com/office/drawing/2014/main" id="{12048A75-F80D-44B8-8D8C-2C3EBFC90210}"/>
              </a:ext>
            </a:extLst>
          </p:cNvPr>
          <p:cNvSpPr>
            <a:spLocks xmlns:a="http://schemas.openxmlformats.org/drawingml/2006/main" noGrp="1"/>
          </p:cNvSpPr>
          <p:nvPr/>
        </p:nvSpPr>
        <p:spPr>
          <a:xfrm xmlns:a="http://schemas.openxmlformats.org/drawingml/2006/main">
            <a:off x="647700" y="525780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59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 static checklist cannot explain what this learner included, what is missing or how two drafts differ.</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6a8d8831a95474a"/>
          <a:srcRect xmlns:a="http://schemas.openxmlformats.org/drawingml/2006/main" l="0" t="9222" r="0" b="9222"/>
          <a:stretch xmlns:a="http://schemas.openxmlformats.org/drawingml/2006/main">
            <a:fillRect l="0" t="0" r="0" b="0"/>
          </a:stretch>
        </p:blipFill>
        <p:spPr>
          <a:xfrm xmlns:a="http://schemas.openxmlformats.org/drawingml/2006/main">
            <a:off x="5524500" y="1666875"/>
            <a:ext cx="5810250" cy="4495800"/>
          </a:xfrm>
          <a:prstGeom xmlns:a="http://schemas.openxmlformats.org/drawingml/2006/main" prst="roundRect">
            <a:avLst>
              <a:gd name="adj" fmla="val 3390"/>
            </a:avLst>
          </a:prstGeom>
        </p:spPr>
      </p:pic>
    </p:spTree>
    <p:extLst>
      <p:ext uri="{BB962C8B-B14F-4D97-AF65-F5344CB8AC3E}">
        <p14:creationId xmlns:p14="http://schemas.microsoft.com/office/powerpoint/2010/main" val="4248759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DB494C-532D-4ADF-BB5E-6A5A1CD41581}"/>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E4A85B03-4DE1-498B-AF3C-D2F950B8231D}"/>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Working input and output</a:t>
            </a:r>
          </a:p>
        </p:txBody>
      </p:sp>
      <p:sp>
        <p:nvSpPr>
          <p:cNvPr id="3" name="">
            <a:extLst xmlns:a="http://schemas.openxmlformats.org/drawingml/2006/main">
              <a:ext uri="{FF2B5EF4-FFF2-40B4-BE49-F238E27FC236}">
                <a16:creationId xmlns:a16="http://schemas.microsoft.com/office/drawing/2014/main" id="{884FD54F-0BB1-4B11-88BE-2756004AB5E4}"/>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816D1528-DB6F-452A-8219-2DCC9133F7DD}"/>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F1490DC9-D1F6-4F7C-9E5D-822C6A420C6F}"/>
              </a:ext>
            </a:extLst>
          </p:cNvPr>
          <p:cNvSpPr>
            <a:spLocks xmlns:a="http://schemas.openxmlformats.org/drawingml/2006/main" noGrp="1"/>
          </p:cNvSpPr>
          <p:nvPr/>
        </p:nvSpPr>
        <p:spPr>
          <a:xfrm xmlns:a="http://schemas.openxmlformats.org/drawingml/2006/main">
            <a:off x="685800" y="15811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1231AF75-FB6E-4F07-AB63-94AE05238A53}"/>
              </a:ext>
            </a:extLst>
          </p:cNvPr>
          <p:cNvSpPr>
            <a:spLocks xmlns:a="http://schemas.openxmlformats.org/drawingml/2006/main" noGrp="1"/>
          </p:cNvSpPr>
          <p:nvPr/>
        </p:nvSpPr>
        <p:spPr>
          <a:xfrm xmlns:a="http://schemas.openxmlformats.org/drawingml/2006/main">
            <a:off x="6610350" y="15811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86C60"/>
                </a:solidFill>
                <a:latin typeface="Helvetica Neue"/>
                <a:ea typeface="Helvetica Neue"/>
                <a:cs typeface="Helvetica Neue"/>
              </a:defRPr>
            </a:pPr>
            <a:r>
              <a:rPr sz="1200" b="1">
                <a:solidFill>
                  <a:srgbClr val="286C60"/>
                </a:solidFill>
                <a:latin typeface="Helvetica Neue"/>
                <a:ea typeface="Helvetica Neue"/>
                <a:cs typeface="Helvetica Neue"/>
              </a:rPr>
              <a:t>OUTPUT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1733ac655c24564"/>
          <a:srcRect xmlns:a="http://schemas.openxmlformats.org/drawingml/2006/main" l="0" t="7042" r="0" b="7042"/>
          <a:stretch xmlns:a="http://schemas.openxmlformats.org/drawingml/2006/main">
            <a:fillRect l="0" t="0" r="0" b="0"/>
          </a:stretch>
        </p:blipFill>
        <p:spPr>
          <a:xfrm xmlns:a="http://schemas.openxmlformats.org/drawingml/2006/main">
            <a:off x="685800" y="1952625"/>
            <a:ext cx="4895850" cy="3790950"/>
          </a:xfrm>
          <a:prstGeom xmlns:a="http://schemas.openxmlformats.org/drawingml/2006/main" prst="roundRect">
            <a:avLst>
              <a:gd name="adj" fmla="val 4020"/>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90719b072204c1a"/>
          <a:srcRect xmlns:a="http://schemas.openxmlformats.org/drawingml/2006/main" l="0" t="9193" r="0" b="9193"/>
          <a:stretch xmlns:a="http://schemas.openxmlformats.org/drawingml/2006/main">
            <a:fillRect l="0" t="0" r="0" b="0"/>
          </a:stretch>
        </p:blipFill>
        <p:spPr>
          <a:xfrm xmlns:a="http://schemas.openxmlformats.org/drawingml/2006/main">
            <a:off x="6610350" y="1952625"/>
            <a:ext cx="4895850" cy="3790950"/>
          </a:xfrm>
          <a:prstGeom xmlns:a="http://schemas.openxmlformats.org/drawingml/2006/main" prst="roundRect">
            <a:avLst>
              <a:gd name="adj" fmla="val 4020"/>
            </a:avLst>
          </a:prstGeom>
        </p:spPr>
      </p:pic>
      <p:sp>
        <p:nvSpPr>
          <p:cNvPr id="9" name="">
            <a:extLst xmlns:a="http://schemas.openxmlformats.org/drawingml/2006/main">
              <a:ext uri="{FF2B5EF4-FFF2-40B4-BE49-F238E27FC236}">
                <a16:creationId xmlns:a16="http://schemas.microsoft.com/office/drawing/2014/main" id="{A897DF25-34C9-4CF1-BE61-CCA694DBFE8A}"/>
              </a:ext>
            </a:extLst>
          </p:cNvPr>
          <p:cNvSpPr>
            <a:spLocks xmlns:a="http://schemas.openxmlformats.org/drawingml/2006/main" noGrp="1"/>
          </p:cNvSpPr>
          <p:nvPr/>
        </p:nvSpPr>
        <p:spPr>
          <a:xfrm xmlns:a="http://schemas.openxmlformats.org/drawingml/2006/main">
            <a:off x="685800" y="5915025"/>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E6B78"/>
                </a:solidFill>
                <a:latin typeface="Helvetica Neue"/>
                <a:ea typeface="Helvetica Neue"/>
                <a:cs typeface="Helvetica Neue"/>
              </a:defRPr>
            </a:pPr>
            <a:r>
              <a:rPr sz="1500" b="0">
                <a:solidFill>
                  <a:srgbClr val="6E6B78"/>
                </a:solidFill>
                <a:latin typeface="Helvetica Neue"/>
                <a:ea typeface="Helvetica Neue"/>
                <a:cs typeface="Helvetica Neue"/>
              </a:rPr>
              <a:t>Goal + first prompt</a:t>
            </a:r>
          </a:p>
        </p:txBody>
      </p:sp>
      <p:sp>
        <p:nvSpPr>
          <p:cNvPr id="10" name="">
            <a:extLst xmlns:a="http://schemas.openxmlformats.org/drawingml/2006/main">
              <a:ext uri="{FF2B5EF4-FFF2-40B4-BE49-F238E27FC236}">
                <a16:creationId xmlns:a16="http://schemas.microsoft.com/office/drawing/2014/main" id="{507B34DE-003D-4C20-BB15-AAF8A1C5FA43}"/>
              </a:ext>
            </a:extLst>
          </p:cNvPr>
          <p:cNvSpPr>
            <a:spLocks xmlns:a="http://schemas.openxmlformats.org/drawingml/2006/main" noGrp="1"/>
          </p:cNvSpPr>
          <p:nvPr/>
        </p:nvSpPr>
        <p:spPr>
          <a:xfrm xmlns:a="http://schemas.openxmlformats.org/drawingml/2006/main">
            <a:off x="6610350" y="5915025"/>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E6B78"/>
                </a:solidFill>
                <a:latin typeface="Helvetica Neue"/>
                <a:ea typeface="Helvetica Neue"/>
                <a:cs typeface="Helvetica Neue"/>
              </a:defRPr>
            </a:pPr>
            <a:r>
              <a:rPr sz="1500" b="0">
                <a:solidFill>
                  <a:srgbClr val="6E6B78"/>
                </a:solidFill>
                <a:latin typeface="Helvetica Neue"/>
                <a:ea typeface="Helvetica Neue"/>
                <a:cs typeface="Helvetica Neue"/>
              </a:rPr>
              <a:t>Revision + specific comparison</a:t>
            </a:r>
          </a:p>
        </p:txBody>
      </p:sp>
    </p:spTree>
    <p:extLst>
      <p:ext uri="{BB962C8B-B14F-4D97-AF65-F5344CB8AC3E}">
        <p14:creationId xmlns:p14="http://schemas.microsoft.com/office/powerpoint/2010/main" val="701495441"/>
      </p:ext>
    </p:extLst>
  </p:cSld>
</p:sld>
</file>

<file path=ppt/slides/slide6.xml><?xml version="1.0" encoding="utf-8"?>
<p:sld xmlns:p="http://schemas.openxmlformats.org/presentationml/2006/main">
  <p:cSld>
    <p:bg>
      <p:bgPr>
        <a:solidFill xmlns:a="http://schemas.openxmlformats.org/drawingml/2006/main">
          <a:srgbClr val="24222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31141C-F7CE-4791-AA08-87446E445F67}"/>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FA8FF"/>
                </a:solidFill>
                <a:latin typeface="Helvetica Neue"/>
                <a:ea typeface="Helvetica Neue"/>
                <a:cs typeface="Helvetica Neue"/>
              </a:defRPr>
            </a:pPr>
            <a:r>
              <a:rPr sz="1275" b="1">
                <a:solidFill>
                  <a:srgbClr val="AFA8FF"/>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2AB24155-01B3-4A5A-8F10-EB1696837FF8}"/>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SDG 4: Quality Education</a:t>
            </a:r>
          </a:p>
        </p:txBody>
      </p:sp>
      <p:sp>
        <p:nvSpPr>
          <p:cNvPr id="3" name="">
            <a:extLst xmlns:a="http://schemas.openxmlformats.org/drawingml/2006/main">
              <a:ext uri="{FF2B5EF4-FFF2-40B4-BE49-F238E27FC236}">
                <a16:creationId xmlns:a16="http://schemas.microsoft.com/office/drawing/2014/main" id="{9D2CD1DA-0416-4974-B58A-B83B8492E75F}"/>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BDB9D0"/>
                </a:solidFill>
                <a:latin typeface="Helvetica Neue"/>
                <a:ea typeface="Helvetica Neue"/>
                <a:cs typeface="Helvetica Neue"/>
              </a:defRPr>
            </a:pPr>
            <a:r>
              <a:rPr sz="1050" b="0">
                <a:solidFill>
                  <a:srgbClr val="BDB9D0"/>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31E00FD0-652C-42E0-B619-E0829EFFCDEA}"/>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BDB9D0"/>
                </a:solidFill>
                <a:latin typeface="Helvetica Neue"/>
                <a:ea typeface="Helvetica Neue"/>
                <a:cs typeface="Helvetica Neue"/>
              </a:defRPr>
            </a:pPr>
            <a:r>
              <a:rPr sz="1050" b="0">
                <a:solidFill>
                  <a:srgbClr val="BDB9D0"/>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78C1D3A8-70F0-4212-AD10-A9366655CA04}"/>
              </a:ext>
            </a:extLst>
          </p:cNvPr>
          <p:cNvSpPr>
            <a:spLocks xmlns:a="http://schemas.openxmlformats.org/drawingml/2006/main" noGrp="1"/>
          </p:cNvSpPr>
          <p:nvPr/>
        </p:nvSpPr>
        <p:spPr>
          <a:xfrm xmlns:a="http://schemas.openxmlformats.org/drawingml/2006/main">
            <a:off x="666750" y="1752600"/>
            <a:ext cx="314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0000"/>
              </a:lnSpc>
              <a:buNone/>
              <a:defRPr sz="16500" b="1">
                <a:solidFill>
                  <a:srgbClr val="AAA4FF"/>
                </a:solidFill>
                <a:latin typeface="Helvetica Neue"/>
                <a:ea typeface="Helvetica Neue"/>
                <a:cs typeface="Helvetica Neue"/>
              </a:defRPr>
            </a:pPr>
            <a:r>
              <a:rPr sz="16500" b="1">
                <a:solidFill>
                  <a:srgbClr val="AAA4FF"/>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73A3F5DD-C788-48DD-BD2F-3FEF7868504D}"/>
              </a:ext>
            </a:extLst>
          </p:cNvPr>
          <p:cNvSpPr>
            <a:spLocks xmlns:a="http://schemas.openxmlformats.org/drawingml/2006/main" noGrp="1"/>
          </p:cNvSpPr>
          <p:nvPr/>
        </p:nvSpPr>
        <p:spPr>
          <a:xfrm xmlns:a="http://schemas.openxmlformats.org/drawingml/2006/main">
            <a:off x="4476750" y="18669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AAA4FF"/>
                </a:solidFill>
                <a:latin typeface="Helvetica Neue"/>
                <a:ea typeface="Helvetica Neue"/>
                <a:cs typeface="Helvetica Neue"/>
              </a:defRPr>
            </a:pPr>
            <a:r>
              <a:rPr sz="1350" b="1">
                <a:solidFill>
                  <a:srgbClr val="AAA4FF"/>
                </a:solidFill>
                <a:latin typeface="Helvetica Neue"/>
                <a:ea typeface="Helvetica Neue"/>
                <a:cs typeface="Helvetica Neue"/>
              </a:rPr>
              <a:t>The specific issue</a:t>
            </a:r>
          </a:p>
        </p:txBody>
      </p:sp>
      <p:sp>
        <p:nvSpPr>
          <p:cNvPr id="7" name="">
            <a:extLst xmlns:a="http://schemas.openxmlformats.org/drawingml/2006/main">
              <a:ext uri="{FF2B5EF4-FFF2-40B4-BE49-F238E27FC236}">
                <a16:creationId xmlns:a16="http://schemas.microsoft.com/office/drawing/2014/main" id="{CEEB9E3D-C025-4B13-82C9-9489192D9C45}"/>
              </a:ext>
            </a:extLst>
          </p:cNvPr>
          <p:cNvSpPr>
            <a:spLocks xmlns:a="http://schemas.openxmlformats.org/drawingml/2006/main" noGrp="1"/>
          </p:cNvSpPr>
          <p:nvPr/>
        </p:nvSpPr>
        <p:spPr>
          <a:xfrm xmlns:a="http://schemas.openxmlformats.org/drawingml/2006/main">
            <a:off x="4476750" y="2266950"/>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673"/>
          </a:bodyPr>
          <a:lstStyle xmlns:a="http://schemas.openxmlformats.org/drawingml/2006/main"/>
          <a:p xmlns:a="http://schemas.openxmlformats.org/drawingml/2006/main">
            <a:pPr algn="l">
              <a:lnSpc>
                <a:spcPct val="102000"/>
              </a:lnSpc>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Beginner students need practice using AI as a learning aid, not only access to the technology.</a:t>
            </a:r>
          </a:p>
        </p:txBody>
      </p:sp>
      <p:sp>
        <p:nvSpPr>
          <p:cNvPr id="8" name="">
            <a:extLst xmlns:a="http://schemas.openxmlformats.org/drawingml/2006/main">
              <a:ext uri="{FF2B5EF4-FFF2-40B4-BE49-F238E27FC236}">
                <a16:creationId xmlns:a16="http://schemas.microsoft.com/office/drawing/2014/main" id="{AB02E1F6-44D3-4E45-BF74-5436752E1DF2}"/>
              </a:ext>
            </a:extLst>
          </p:cNvPr>
          <p:cNvSpPr>
            <a:spLocks xmlns:a="http://schemas.openxmlformats.org/drawingml/2006/main" noGrp="1"/>
          </p:cNvSpPr>
          <p:nvPr/>
        </p:nvSpPr>
        <p:spPr>
          <a:xfrm xmlns:a="http://schemas.openxmlformats.org/drawingml/2006/main">
            <a:off x="4476750" y="3438525"/>
            <a:ext cx="6191250" cy="0"/>
          </a:xfrm>
          <a:prstGeom xmlns:a="http://schemas.openxmlformats.org/drawingml/2006/main" prst="line">
            <a:avLst/>
          </a:prstGeom>
          <a:noFill xmlns:a="http://schemas.openxmlformats.org/drawingml/2006/main"/>
          <a:ln xmlns:a="http://schemas.openxmlformats.org/drawingml/2006/main" w="19050">
            <a:solidFill>
              <a:srgbClr val="4B4858"/>
            </a:solidFill>
            <a:prstDash val="solid"/>
          </a:ln>
        </p:spPr>
      </p:sp>
      <p:sp>
        <p:nvSpPr>
          <p:cNvPr id="9" name="">
            <a:extLst xmlns:a="http://schemas.openxmlformats.org/drawingml/2006/main">
              <a:ext uri="{FF2B5EF4-FFF2-40B4-BE49-F238E27FC236}">
                <a16:creationId xmlns:a16="http://schemas.microsoft.com/office/drawing/2014/main" id="{D5BDF4F2-3B2B-4DB8-AFEA-42DD40F66C81}"/>
              </a:ext>
            </a:extLst>
          </p:cNvPr>
          <p:cNvSpPr>
            <a:spLocks xmlns:a="http://schemas.openxmlformats.org/drawingml/2006/main" noGrp="1"/>
          </p:cNvSpPr>
          <p:nvPr/>
        </p:nvSpPr>
        <p:spPr>
          <a:xfrm xmlns:a="http://schemas.openxmlformats.org/drawingml/2006/main">
            <a:off x="4476750" y="373380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AAA4FF"/>
                </a:solidFill>
                <a:latin typeface="Helvetica Neue"/>
                <a:ea typeface="Helvetica Neue"/>
                <a:cs typeface="Helvetica Neue"/>
              </a:defRPr>
            </a:pPr>
            <a:r>
              <a:rPr sz="1200" b="1">
                <a:solidFill>
                  <a:srgbClr val="AAA4FF"/>
                </a:solidFill>
                <a:latin typeface="Helvetica Neue"/>
                <a:ea typeface="Helvetica Neue"/>
                <a:cs typeface="Helvetica Neue"/>
              </a:rPr>
              <a:t>WHAT PROMPT COACH ADDS</a:t>
            </a:r>
          </a:p>
        </p:txBody>
      </p:sp>
      <p:sp>
        <p:nvSpPr>
          <p:cNvPr id="10" name="">
            <a:extLst xmlns:a="http://schemas.openxmlformats.org/drawingml/2006/main">
              <a:ext uri="{FF2B5EF4-FFF2-40B4-BE49-F238E27FC236}">
                <a16:creationId xmlns:a16="http://schemas.microsoft.com/office/drawing/2014/main" id="{9800A5B0-B55E-42AF-BC24-26D36553360A}"/>
              </a:ext>
            </a:extLst>
          </p:cNvPr>
          <p:cNvSpPr>
            <a:spLocks xmlns:a="http://schemas.openxmlformats.org/drawingml/2006/main" noGrp="1"/>
          </p:cNvSpPr>
          <p:nvPr/>
        </p:nvSpPr>
        <p:spPr>
          <a:xfrm xmlns:a="http://schemas.openxmlformats.org/drawingml/2006/main">
            <a:off x="4476750" y="40576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35"/>
          </a:bodyPr>
          <a:lstStyle xmlns:a="http://schemas.openxmlformats.org/drawingml/2006/main"/>
          <a:p xmlns:a="http://schemas.openxmlformats.org/drawingml/2006/main">
            <a:pPr algn="l">
              <a:lnSpc>
                <a:spcPct val="108000"/>
              </a:lnSpc>
              <a:buNone/>
              <a:defRPr sz="1800" b="0">
                <a:solidFill>
                  <a:srgbClr val="D8D5E4"/>
                </a:solidFill>
                <a:latin typeface="Helvetica Neue"/>
                <a:ea typeface="Helvetica Neue"/>
                <a:cs typeface="Helvetica Neue"/>
              </a:defRPr>
            </a:pPr>
            <a:r>
              <a:rPr sz="1800" b="0">
                <a:solidFill>
                  <a:srgbClr val="D8D5E4"/>
                </a:solidFill>
                <a:latin typeface="Helvetica Neue"/>
                <a:ea typeface="Helvetica Neue"/>
                <a:cs typeface="Helvetica Neue"/>
              </a:rPr>
              <a:t>Guided practice in drafting, revising and reflecting. The student asks for explanations and practice instead of a finished answer.</a:t>
            </a:r>
          </a:p>
        </p:txBody>
      </p:sp>
      <p:sp>
        <p:nvSpPr>
          <p:cNvPr id="11" name="">
            <a:extLst xmlns:a="http://schemas.openxmlformats.org/drawingml/2006/main">
              <a:ext uri="{FF2B5EF4-FFF2-40B4-BE49-F238E27FC236}">
                <a16:creationId xmlns:a16="http://schemas.microsoft.com/office/drawing/2014/main" id="{D275EDA2-BBD6-4F29-835F-1D2E3FC08C1D}"/>
              </a:ext>
            </a:extLst>
          </p:cNvPr>
          <p:cNvSpPr>
            <a:spLocks xmlns:a="http://schemas.openxmlformats.org/drawingml/2006/main" noGrp="1"/>
          </p:cNvSpPr>
          <p:nvPr/>
        </p:nvSpPr>
        <p:spPr>
          <a:xfrm xmlns:a="http://schemas.openxmlformats.org/drawingml/2006/main">
            <a:off x="4476750" y="50482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AAA4FF"/>
                </a:solidFill>
                <a:latin typeface="Helvetica Neue"/>
                <a:ea typeface="Helvetica Neue"/>
                <a:cs typeface="Helvetica Neue"/>
              </a:defRPr>
            </a:pPr>
            <a:r>
              <a:rPr sz="1200" b="1">
                <a:solidFill>
                  <a:srgbClr val="AAA4FF"/>
                </a:solidFill>
                <a:latin typeface="Helvetica Neue"/>
                <a:ea typeface="Helvetica Neue"/>
                <a:cs typeface="Helvetica Neue"/>
              </a:rPr>
              <a:t>LIMITS</a:t>
            </a:r>
          </a:p>
        </p:txBody>
      </p:sp>
      <p:sp>
        <p:nvSpPr>
          <p:cNvPr id="12" name="">
            <a:extLst xmlns:a="http://schemas.openxmlformats.org/drawingml/2006/main">
              <a:ext uri="{FF2B5EF4-FFF2-40B4-BE49-F238E27FC236}">
                <a16:creationId xmlns:a16="http://schemas.microsoft.com/office/drawing/2014/main" id="{34319E0E-0C9B-42B9-ACC6-69B99AE1C234}"/>
              </a:ext>
            </a:extLst>
          </p:cNvPr>
          <p:cNvSpPr>
            <a:spLocks xmlns:a="http://schemas.openxmlformats.org/drawingml/2006/main" noGrp="1"/>
          </p:cNvSpPr>
          <p:nvPr/>
        </p:nvSpPr>
        <p:spPr>
          <a:xfrm xmlns:a="http://schemas.openxmlformats.org/drawingml/2006/main">
            <a:off x="4476750" y="53721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a:solidFill>
                  <a:srgbClr val="D8D5E4"/>
                </a:solidFill>
                <a:latin typeface="Helvetica Neue"/>
                <a:ea typeface="Helvetica Neue"/>
                <a:cs typeface="Helvetica Neue"/>
              </a:defRPr>
            </a:pPr>
            <a:r>
              <a:rPr sz="1650" b="0">
                <a:solidFill>
                  <a:srgbClr val="D8D5E4"/>
                </a:solidFill>
                <a:latin typeface="Helvetica Neue"/>
                <a:ea typeface="Helvetica Neue"/>
                <a:cs typeface="Helvetica Neue"/>
              </a:rPr>
              <a:t>It does not solve unequal access to devices, connectivity or language support. Its learning effect still needs user testing.</a:t>
            </a:r>
          </a:p>
        </p:txBody>
      </p:sp>
    </p:spTree>
    <p:extLst>
      <p:ext uri="{BB962C8B-B14F-4D97-AF65-F5344CB8AC3E}">
        <p14:creationId xmlns:p14="http://schemas.microsoft.com/office/powerpoint/2010/main" val="1001217301"/>
      </p:ext>
    </p:extLst>
  </p:cSld>
</p:sld>
</file>

<file path=ppt/slides/slide7.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F82A76-71FB-4AF4-87CA-32862FFC555A}"/>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8372CF-1332-4DD0-9CB0-8931D051E88E}"/>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Ethical risks, safeguards and next steps</a:t>
            </a:r>
          </a:p>
        </p:txBody>
      </p:sp>
      <p:sp>
        <p:nvSpPr>
          <p:cNvPr id="3" name="">
            <a:extLst xmlns:a="http://schemas.openxmlformats.org/drawingml/2006/main">
              <a:ext uri="{FF2B5EF4-FFF2-40B4-BE49-F238E27FC236}">
                <a16:creationId xmlns:a16="http://schemas.microsoft.com/office/drawing/2014/main" id="{4380A107-E2A3-449E-8D96-EA09506B6C2A}"/>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88AE3B42-03E3-4302-8E80-0BA8D50E24A4}"/>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7</a:t>
            </a:r>
          </a:p>
        </p:txBody>
      </p:sp>
      <p:graphicFrame>
        <p:nvGraphicFramePr>
          <p:cNvPr id="10" name=""/>
          <p:cNvGraphicFramePr/>
          <p:nvPr/>
        </p:nvGraphicFramePr>
        <p:xfrm>
          <a:off xmlns:a="http://schemas.openxmlformats.org/drawingml/2006/main" x="609600" y="1666875"/>
          <a:ext xmlns:a="http://schemas.openxmlformats.org/drawingml/2006/main" cx="10972800" cy="4286250"/>
        </p:xfrm>
        <a:graphic xmlns:a="http://schemas.openxmlformats.org/drawingml/2006/main">
          <a:graphicData uri="http://schemas.openxmlformats.org/drawingml/2006/table">
            <a:tbl>
              <a:tblPr/>
              <a:tblGrid>
                <a:gridCol w="2952750"/>
                <a:gridCol w="3905250"/>
                <a:gridCol w="4114800"/>
              </a:tblGrid>
              <a:tr h="857250">
                <a:tc>
                  <a:txBody>
                    <a:bodyPr/>
                    <a:lstStyle/>
                    <a:p>
                      <a:r>
                        <a:rPr sz="1275" b="1">
                          <a:solidFill>
                            <a:srgbClr val="FFFFFF"/>
                          </a:solidFill>
                          <a:latin typeface="Helvetica Neue"/>
                          <a:ea typeface="Helvetica Neue"/>
                          <a:cs typeface="Helvetica Neue"/>
                        </a:rPr>
                        <a:t>Risk and consequence</a:t>
                      </a:r>
                    </a:p>
                  </a:txBody>
                  <a:tcPr marL="114300" marR="114300" marT="95250" marB="95250" anchor="ctr">
                    <a:solidFill>
                      <a:srgbClr val="24222E"/>
                    </a:solidFill>
                  </a:tcPr>
                </a:tc>
                <a:tc>
                  <a:txBody>
                    <a:bodyPr/>
                    <a:lstStyle/>
                    <a:p>
                      <a:r>
                        <a:rPr sz="1275" b="1">
                          <a:solidFill>
                            <a:srgbClr val="FFFFFF"/>
                          </a:solidFill>
                          <a:latin typeface="Helvetica Neue"/>
                          <a:ea typeface="Helvetica Neue"/>
                          <a:cs typeface="Helvetica Neue"/>
                        </a:rPr>
                        <a:t>What the prototype does now</a:t>
                      </a:r>
                    </a:p>
                  </a:txBody>
                  <a:tcPr marL="114300" marR="114300" marT="95250" marB="95250" anchor="ctr">
                    <a:solidFill>
                      <a:srgbClr val="24222E"/>
                    </a:solidFill>
                  </a:tcPr>
                </a:tc>
                <a:tc>
                  <a:txBody>
                    <a:bodyPr/>
                    <a:lstStyle/>
                    <a:p>
                      <a:r>
                        <a:rPr sz="1275" b="1">
                          <a:solidFill>
                            <a:srgbClr val="FFFFFF"/>
                          </a:solidFill>
                          <a:latin typeface="Helvetica Neue"/>
                          <a:ea typeface="Helvetica Neue"/>
                          <a:cs typeface="Helvetica Neue"/>
                        </a:rPr>
                        <a:t>What should happen next</a:t>
                      </a:r>
                    </a:p>
                  </a:txBody>
                  <a:tcPr marL="114300" marR="114300" marT="95250" marB="95250" anchor="ctr">
                    <a:solidFill>
                      <a:srgbClr val="24222E"/>
                    </a:solidFill>
                  </a:tcPr>
                </a:tc>
              </a:tr>
              <a:tr h="857250">
                <a:tc>
                  <a:txBody>
                    <a:bodyPr/>
                    <a:lstStyle/>
                    <a:p>
                      <a:r>
                        <a:rPr sz="1350" b="1">
                          <a:solidFill>
                            <a:srgbClr val="24222E"/>
                          </a:solidFill>
                          <a:latin typeface="Helvetica Neue"/>
                          <a:ea typeface="Helvetica Neue"/>
                          <a:cs typeface="Helvetica Neue"/>
                        </a:rPr>
                        <a:t>Incorrect advice</a:t>
                      </a:r>
                    </a:p>
                    <a:p>
                      <a:r>
                        <a:rPr sz="1350" b="1">
                          <a:solidFill>
                            <a:srgbClr val="24222E"/>
                          </a:solidFill>
                          <a:latin typeface="Helvetica Neue"/>
                          <a:ea typeface="Helvetica Neue"/>
                          <a:cs typeface="Helvetica Neue"/>
                        </a:rPr>
                        <a:t>A student learns a bad habit or loses confidence.</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Labels feedback as guidance, keeps criteria visible and asks for judgment.</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Test with students and a teacher. Track recurring errors.</a:t>
                      </a:r>
                    </a:p>
                  </a:txBody>
                  <a:tcPr marL="114300" marR="114300" marT="95250" marB="95250" anchor="ctr">
                    <a:solidFill>
                      <a:srgbClr val="FFFFFF"/>
                    </a:solidFill>
                  </a:tcPr>
                </a:tc>
              </a:tr>
              <a:tr h="857250">
                <a:tc>
                  <a:txBody>
                    <a:bodyPr/>
                    <a:lstStyle/>
                    <a:p>
                      <a:r>
                        <a:rPr sz="1350" b="1">
                          <a:solidFill>
                            <a:srgbClr val="24222E"/>
                          </a:solidFill>
                          <a:latin typeface="Helvetica Neue"/>
                          <a:ea typeface="Helvetica Neue"/>
                          <a:cs typeface="Helvetica Neue"/>
                        </a:rPr>
                        <a:t>Private data</a:t>
                      </a:r>
                    </a:p>
                    <a:p>
                      <a:r>
                        <a:rPr sz="1350" b="1">
                          <a:solidFill>
                            <a:srgbClr val="24222E"/>
                          </a:solidFill>
                          <a:latin typeface="Helvetica Neue"/>
                          <a:ea typeface="Helvetica Neue"/>
                          <a:cs typeface="Helvetica Neue"/>
                        </a:rPr>
                        <a:t>A prompt exposes identity or confidential coursework.</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Warns users before submission. Stores no account or in-app history.</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Publish retention details and provide a deletion route.</a:t>
                      </a:r>
                    </a:p>
                  </a:txBody>
                  <a:tcPr marL="114300" marR="114300" marT="95250" marB="95250" anchor="ctr">
                    <a:solidFill>
                      <a:srgbClr val="F8F7FB"/>
                    </a:solidFill>
                  </a:tcPr>
                </a:tc>
              </a:tr>
              <a:tr h="857250">
                <a:tc>
                  <a:txBody>
                    <a:bodyPr/>
                    <a:lstStyle/>
                    <a:p>
                      <a:r>
                        <a:rPr sz="1350" b="1">
                          <a:solidFill>
                            <a:srgbClr val="24222E"/>
                          </a:solidFill>
                          <a:latin typeface="Helvetica Neue"/>
                          <a:ea typeface="Helvetica Neue"/>
                          <a:cs typeface="Helvetica Neue"/>
                        </a:rPr>
                        <a:t>Academic misuse</a:t>
                      </a:r>
                    </a:p>
                    <a:p>
                      <a:r>
                        <a:rPr sz="1350" b="1">
                          <a:solidFill>
                            <a:srgbClr val="24222E"/>
                          </a:solidFill>
                          <a:latin typeface="Helvetica Neue"/>
                          <a:ea typeface="Helvetica Neue"/>
                          <a:cs typeface="Helvetica Neue"/>
                        </a:rPr>
                        <a:t>Better prompts could request prohibited work.</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Coaches the request, avoids assignment answers and requires a student revision.</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Test misuse prompts and review boundaries with a teacher.</a:t>
                      </a:r>
                    </a:p>
                  </a:txBody>
                  <a:tcPr marL="114300" marR="114300" marT="95250" marB="95250" anchor="ctr">
                    <a:solidFill>
                      <a:srgbClr val="FFFFFF"/>
                    </a:solidFill>
                  </a:tcPr>
                </a:tc>
              </a:tr>
              <a:tr h="857250">
                <a:tc>
                  <a:txBody>
                    <a:bodyPr/>
                    <a:lstStyle/>
                    <a:p>
                      <a:r>
                        <a:rPr sz="1350" b="1">
                          <a:solidFill>
                            <a:srgbClr val="24222E"/>
                          </a:solidFill>
                          <a:latin typeface="Helvetica Neue"/>
                          <a:ea typeface="Helvetica Neue"/>
                          <a:cs typeface="Helvetica Neue"/>
                        </a:rPr>
                        <a:t>Access gap</a:t>
                      </a:r>
                    </a:p>
                    <a:p>
                      <a:r>
                        <a:rPr sz="1350" b="1">
                          <a:solidFill>
                            <a:srgbClr val="24222E"/>
                          </a:solidFill>
                          <a:latin typeface="Helvetica Neue"/>
                          <a:ea typeface="Helvetica Neue"/>
                          <a:cs typeface="Helvetica Neue"/>
                        </a:rPr>
                        <a:t>Internet, English or interface barriers exclude learners.</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Responsive layout, keyboard controls, live status and reduced motion.</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Test screen readers. Add translations and an offline worksheet.</a:t>
                      </a:r>
                    </a:p>
                  </a:txBody>
                  <a:tcPr marL="114300" marR="114300" marT="95250" marB="95250" anchor="ctr">
                    <a:solidFill>
                      <a:srgbClr val="F8F7FB"/>
                    </a:solidFill>
                  </a:tcPr>
                </a:tc>
              </a:tr>
            </a:tbl>
          </a:graphicData>
        </a:graphic>
      </p:graphicFrame>
    </p:spTree>
    <p:extLst>
      <p:ext uri="{BB962C8B-B14F-4D97-AF65-F5344CB8AC3E}">
        <p14:creationId xmlns:p14="http://schemas.microsoft.com/office/powerpoint/2010/main" val="13254358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9ED1C9-4549-441E-9D56-5F50471DCA29}"/>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033C468D-01D3-4469-A1AD-AF4EC5CCB4A1}"/>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Demo question</a:t>
            </a:r>
          </a:p>
        </p:txBody>
      </p:sp>
      <p:sp>
        <p:nvSpPr>
          <p:cNvPr id="3" name="">
            <a:extLst xmlns:a="http://schemas.openxmlformats.org/drawingml/2006/main">
              <a:ext uri="{FF2B5EF4-FFF2-40B4-BE49-F238E27FC236}">
                <a16:creationId xmlns:a16="http://schemas.microsoft.com/office/drawing/2014/main" id="{C5F3A6E9-88F0-4300-9CEE-A6A8236A1AAE}"/>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B4781F38-FF1E-44A2-9132-96371168188D}"/>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8B9A8F42-2EBE-44A6-A7E6-C2EB62D79763}"/>
              </a:ext>
            </a:extLst>
          </p:cNvPr>
          <p:cNvSpPr>
            <a:spLocks xmlns:a="http://schemas.openxmlformats.org/drawingml/2006/main" noGrp="1"/>
          </p:cNvSpPr>
          <p:nvPr/>
        </p:nvSpPr>
        <p:spPr>
          <a:xfrm xmlns:a="http://schemas.openxmlformats.org/drawingml/2006/main">
            <a:off x="685800" y="1752600"/>
            <a:ext cx="1028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300" b="1">
                <a:solidFill>
                  <a:srgbClr val="5B4FCC"/>
                </a:solidFill>
                <a:latin typeface="Helvetica Neue"/>
                <a:ea typeface="Helvetica Neue"/>
                <a:cs typeface="Helvetica Neue"/>
              </a:defRPr>
            </a:pPr>
            <a:r>
              <a:rPr sz="3300" b="1">
                <a:solidFill>
                  <a:srgbClr val="5B4FCC"/>
                </a:solidFill>
                <a:latin typeface="Helvetica Neue"/>
                <a:ea typeface="Helvetica Neue"/>
                <a:cs typeface="Helvetica Neue"/>
              </a:rPr>
              <a:t>Can a beginner improve “Help me learn Python” without receiving the homework answer?</a:t>
            </a:r>
          </a:p>
        </p:txBody>
      </p:sp>
      <p:sp>
        <p:nvSpPr>
          <p:cNvPr id="6" name="">
            <a:extLst xmlns:a="http://schemas.openxmlformats.org/drawingml/2006/main">
              <a:ext uri="{FF2B5EF4-FFF2-40B4-BE49-F238E27FC236}">
                <a16:creationId xmlns:a16="http://schemas.microsoft.com/office/drawing/2014/main" id="{8662E984-E008-4756-B711-9FB0BE8D146F}"/>
              </a:ext>
            </a:extLst>
          </p:cNvPr>
          <p:cNvSpPr>
            <a:spLocks xmlns:a="http://schemas.openxmlformats.org/drawingml/2006/main" noGrp="1"/>
          </p:cNvSpPr>
          <p:nvPr/>
        </p:nvSpPr>
        <p:spPr>
          <a:xfrm xmlns:a="http://schemas.openxmlformats.org/drawingml/2006/main">
            <a:off x="685800" y="3333750"/>
            <a:ext cx="1047750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7" name="">
            <a:extLst xmlns:a="http://schemas.openxmlformats.org/drawingml/2006/main">
              <a:ext uri="{FF2B5EF4-FFF2-40B4-BE49-F238E27FC236}">
                <a16:creationId xmlns:a16="http://schemas.microsoft.com/office/drawing/2014/main" id="{EED15A5A-75DD-4DEB-8B28-00F56DEC4A05}"/>
              </a:ext>
            </a:extLst>
          </p:cNvPr>
          <p:cNvSpPr>
            <a:spLocks xmlns:a="http://schemas.openxmlformats.org/drawingml/2006/main" noGrp="1"/>
          </p:cNvSpPr>
          <p:nvPr/>
        </p:nvSpPr>
        <p:spPr>
          <a:xfrm xmlns:a="http://schemas.openxmlformats.org/drawingml/2006/main">
            <a:off x="685800" y="3705225"/>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LIVE SEQUENCE</a:t>
            </a:r>
          </a:p>
        </p:txBody>
      </p:sp>
      <p:sp>
        <p:nvSpPr>
          <p:cNvPr id="8" name="">
            <a:extLst xmlns:a="http://schemas.openxmlformats.org/drawingml/2006/main">
              <a:ext uri="{FF2B5EF4-FFF2-40B4-BE49-F238E27FC236}">
                <a16:creationId xmlns:a16="http://schemas.microsoft.com/office/drawing/2014/main" id="{7DC279D6-A2F1-494F-8900-D946A6560182}"/>
              </a:ext>
            </a:extLst>
          </p:cNvPr>
          <p:cNvSpPr>
            <a:spLocks xmlns:a="http://schemas.openxmlformats.org/drawingml/2006/main" noGrp="1"/>
          </p:cNvSpPr>
          <p:nvPr/>
        </p:nvSpPr>
        <p:spPr>
          <a:xfrm xmlns:a="http://schemas.openxmlformats.org/drawingml/2006/main">
            <a:off x="685800" y="4029075"/>
            <a:ext cx="5334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1  Enter the example</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2  Show the four-dimension AI feedback</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3  Write the revision and compare both drafts</a:t>
            </a:r>
          </a:p>
        </p:txBody>
      </p:sp>
      <p:sp>
        <p:nvSpPr>
          <p:cNvPr id="9" name="">
            <a:extLst xmlns:a="http://schemas.openxmlformats.org/drawingml/2006/main">
              <a:ext uri="{FF2B5EF4-FFF2-40B4-BE49-F238E27FC236}">
                <a16:creationId xmlns:a16="http://schemas.microsoft.com/office/drawing/2014/main" id="{0EADCD0A-6C80-4D48-B054-C0D62A0002A6}"/>
              </a:ext>
            </a:extLst>
          </p:cNvPr>
          <p:cNvSpPr>
            <a:spLocks xmlns:a="http://schemas.openxmlformats.org/drawingml/2006/main" noGrp="1"/>
          </p:cNvSpPr>
          <p:nvPr/>
        </p:nvSpPr>
        <p:spPr>
          <a:xfrm xmlns:a="http://schemas.openxmlformats.org/drawingml/2006/main">
            <a:off x="6667500" y="3705225"/>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86C60"/>
                </a:solidFill>
                <a:latin typeface="Helvetica Neue"/>
                <a:ea typeface="Helvetica Neue"/>
                <a:cs typeface="Helvetica Neue"/>
              </a:defRPr>
            </a:pPr>
            <a:r>
              <a:rPr sz="1200" b="1">
                <a:solidFill>
                  <a:srgbClr val="286C60"/>
                </a:solidFill>
                <a:latin typeface="Helvetica Neue"/>
                <a:ea typeface="Helvetica Neue"/>
                <a:cs typeface="Helvetica Neue"/>
              </a:rPr>
              <a:t>PORTFOLIO EVIDENCE</a:t>
            </a:r>
          </a:p>
        </p:txBody>
      </p:sp>
      <p:sp>
        <p:nvSpPr>
          <p:cNvPr id="10" name="">
            <a:extLst xmlns:a="http://schemas.openxmlformats.org/drawingml/2006/main">
              <a:ext uri="{FF2B5EF4-FFF2-40B4-BE49-F238E27FC236}">
                <a16:creationId xmlns:a16="http://schemas.microsoft.com/office/drawing/2014/main" id="{BC75BBFD-39FB-4821-939D-942D410AF5A8}"/>
              </a:ext>
            </a:extLst>
          </p:cNvPr>
          <p:cNvSpPr>
            <a:spLocks xmlns:a="http://schemas.openxmlformats.org/drawingml/2006/main" noGrp="1"/>
          </p:cNvSpPr>
          <p:nvPr/>
        </p:nvSpPr>
        <p:spPr>
          <a:xfrm xmlns:a="http://schemas.openxmlformats.org/drawingml/2006/main">
            <a:off x="6667500" y="4029075"/>
            <a:ext cx="457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Term 1 / Week 2 / hackathon</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README, product, slides, demo and ethical reflection</a:t>
            </a:r>
          </a:p>
        </p:txBody>
      </p:sp>
      <p:sp>
        <p:nvSpPr>
          <p:cNvPr id="11" name="">
            <a:extLst xmlns:a="http://schemas.openxmlformats.org/drawingml/2006/main">
              <a:ext uri="{FF2B5EF4-FFF2-40B4-BE49-F238E27FC236}">
                <a16:creationId xmlns:a16="http://schemas.microsoft.com/office/drawing/2014/main" id="{43310863-CBA3-4F4F-AFF2-A56782AF2906}"/>
              </a:ext>
            </a:extLst>
          </p:cNvPr>
          <p:cNvSpPr>
            <a:spLocks xmlns:a="http://schemas.openxmlformats.org/drawingml/2006/main" noGrp="1"/>
          </p:cNvSpPr>
          <p:nvPr/>
        </p:nvSpPr>
        <p:spPr>
          <a:xfrm xmlns:a="http://schemas.openxmlformats.org/drawingml/2006/main">
            <a:off x="6667500" y="54292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B4FCC"/>
                </a:solidFill>
                <a:latin typeface="Helvetica Neue"/>
                <a:ea typeface="Helvetica Neue"/>
                <a:cs typeface="Helvetica Neue"/>
              </a:defRPr>
            </a:pPr>
            <a:r>
              <a:rPr sz="1425" b="0">
                <a:solidFill>
                  <a:srgbClr val="5B4FCC"/>
                </a:solidFill>
                <a:latin typeface="Helvetica Neue"/>
                <a:ea typeface="Helvetica Neue"/>
                <a:cs typeface="Helvetica Neue"/>
                <a:hlinkClick xmlns:r="http://schemas.openxmlformats.org/officeDocument/2006/relationships" r:id="Re0afb4228f27473c"/>
              </a:rPr>
              <a:t>github.com/Maxlopez02/ai4g-portfolio-MaxLopez</a:t>
            </a:r>
          </a:p>
        </p:txBody>
      </p:sp>
    </p:spTree>
    <p:extLst>
      <p:ext uri="{BB962C8B-B14F-4D97-AF65-F5344CB8AC3E}">
        <p14:creationId xmlns:p14="http://schemas.microsoft.com/office/powerpoint/2010/main" val="184691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2026-09-10T13:26:24.0010000Z</dcterms:created>
  <dcterms:modified xsi:type="dcterms:W3CDTF">2026-09-10T13:26:24.0010000Z</dcterms:modified>
</coreProperties>
</file>