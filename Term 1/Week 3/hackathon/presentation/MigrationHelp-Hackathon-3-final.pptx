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d5b1fb56a44ab6" /><Relationship Type="http://schemas.openxmlformats.org/officeDocument/2006/relationships/extended-properties" Target="/docProps/app.xml" Id="R4b88b664dad24828" /><Relationship Type="http://schemas.openxmlformats.org/officeDocument/2006/relationships/officeDocument" Target="/ppt/presentation.xml" Id="Rbd412304360d4af5" /></Relationships>
</file>

<file path=ppt/presentation.xml><?xml version="1.0" encoding="utf-8"?>
<p:presentation xmlns:p="http://schemas.openxmlformats.org/presentationml/2006/main">
  <p:sldMasterIdLst>
    <p:sldMasterId xmlns:r="http://schemas.openxmlformats.org/officeDocument/2006/relationships" id="2147483648" r:id="Rd6848b1a3418485b"/>
  </p:sldMasterIdLst>
  <p:notesMasterIdLst>
    <p:notesMasterId xmlns:r="http://schemas.openxmlformats.org/officeDocument/2006/relationships" r:id="R95ed1b50bd95472a"/>
  </p:notesMasterIdLst>
  <p:sldIdLst>
    <p:sldId xmlns:r="http://schemas.openxmlformats.org/officeDocument/2006/relationships" id="256" r:id="Ra32f40b606d54857"/>
    <p:sldId xmlns:r="http://schemas.openxmlformats.org/officeDocument/2006/relationships" id="257" r:id="R0f4feb8aa8c74e97"/>
    <p:sldId xmlns:r="http://schemas.openxmlformats.org/officeDocument/2006/relationships" id="258" r:id="R21f5e465f5e943fb"/>
    <p:sldId xmlns:r="http://schemas.openxmlformats.org/officeDocument/2006/relationships" id="259" r:id="Re84314ce320c4ef2"/>
    <p:sldId xmlns:r="http://schemas.openxmlformats.org/officeDocument/2006/relationships" id="260" r:id="R9dd879062f344adf"/>
    <p:sldId xmlns:r="http://schemas.openxmlformats.org/officeDocument/2006/relationships" id="261" r:id="R6fbbb28cad1f4aea"/>
    <p:sldId xmlns:r="http://schemas.openxmlformats.org/officeDocument/2006/relationships" id="262" r:id="R3181eb4a4be84430"/>
    <p:sldId xmlns:r="http://schemas.openxmlformats.org/officeDocument/2006/relationships" id="263" r:id="R05a27f34af3c4e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22744400264994" /><Relationship Type="http://schemas.openxmlformats.org/officeDocument/2006/relationships/slideMaster" Target="/ppt/slideMasters/slideMaster1.xml" Id="Rd6848b1a3418485b" /><Relationship Type="http://schemas.openxmlformats.org/officeDocument/2006/relationships/notesMaster" Target="/ppt/notesMasters/notesMaster1.xml" Id="R95ed1b50bd95472a" /><Relationship Type="http://schemas.openxmlformats.org/officeDocument/2006/relationships/presProps" Target="/ppt/presProps.xml" Id="R270d5411f91c4f8c" /><Relationship Type="http://schemas.openxmlformats.org/officeDocument/2006/relationships/tableStyles" Target="/ppt/tableStyles.xml" Id="Ra8ed6cd6a9674a55" /><Relationship Type="http://schemas.openxmlformats.org/officeDocument/2006/relationships/slide" Target="/ppt/slides/slide1.xml" Id="Ra32f40b606d54857" /><Relationship Type="http://schemas.openxmlformats.org/officeDocument/2006/relationships/slide" Target="/ppt/slides/slide2.xml" Id="R0f4feb8aa8c74e97" /><Relationship Type="http://schemas.openxmlformats.org/officeDocument/2006/relationships/slide" Target="/ppt/slides/slide3.xml" Id="R21f5e465f5e943fb" /><Relationship Type="http://schemas.openxmlformats.org/officeDocument/2006/relationships/slide" Target="/ppt/slides/slide4.xml" Id="Re84314ce320c4ef2" /><Relationship Type="http://schemas.openxmlformats.org/officeDocument/2006/relationships/slide" Target="/ppt/slides/slide5.xml" Id="R9dd879062f344adf" /><Relationship Type="http://schemas.openxmlformats.org/officeDocument/2006/relationships/slide" Target="/ppt/slides/slide6.xml" Id="R6fbbb28cad1f4aea" /><Relationship Type="http://schemas.openxmlformats.org/officeDocument/2006/relationships/slide" Target="/ppt/slides/slide7.xml" Id="R3181eb4a4be84430" /><Relationship Type="http://schemas.openxmlformats.org/officeDocument/2006/relationships/slide" Target="/ppt/slides/slide8.xml" Id="R05a27f34af3c4e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b4684cd85c45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530893907848b9" /><Relationship Type="http://schemas.openxmlformats.org/officeDocument/2006/relationships/notesMaster" Target="/ppt/notesMasters/notesMaster1.xml" Id="R9c7f2ca9b38544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3720fc3eef4339" /><Relationship Type="http://schemas.openxmlformats.org/officeDocument/2006/relationships/notesMaster" Target="/ppt/notesMasters/notesMaster1.xml" Id="Rf742ed8f8ea643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cb690ed21f411b" /><Relationship Type="http://schemas.openxmlformats.org/officeDocument/2006/relationships/notesMaster" Target="/ppt/notesMasters/notesMaster1.xml" Id="Rd55a25afaaf748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5eefa7d91b4637" /><Relationship Type="http://schemas.openxmlformats.org/officeDocument/2006/relationships/notesMaster" Target="/ppt/notesMasters/notesMaster1.xml" Id="R4a5061fb521246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e18d7b2aef4354" /><Relationship Type="http://schemas.openxmlformats.org/officeDocument/2006/relationships/notesMaster" Target="/ppt/notesMasters/notesMaster1.xml" Id="R82f56c1f27d94d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888612d4e64d82" /><Relationship Type="http://schemas.openxmlformats.org/officeDocument/2006/relationships/notesMaster" Target="/ppt/notesMasters/notesMaster1.xml" Id="R0ddd94a0efdc44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71db1d345048e4" /><Relationship Type="http://schemas.openxmlformats.org/officeDocument/2006/relationships/notesMaster" Target="/ppt/notesMasters/notesMaster1.xml" Id="R678016876edd44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d4931eba50417a" /><Relationship Type="http://schemas.openxmlformats.org/officeDocument/2006/relationships/notesMaster" Target="/ppt/notesMasters/notesMaster1.xml" Id="R8e5eaf086c8346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MigrationHelp helps newly arrived adults understand their first Dutch administrative steps. The tool uses Python to call Gemini, but it only lets Gemini explain facts selected from a curated official source pack. Team: Maximilian Lopez and Quinten van Ingen.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Statistics Netherlands, foreign-born residents: https://www.cbs.nl/en-gb/dossier/asylum-migration-and-integration/how-many-residents-of-the-netherlands-have-a-non-dutch-background-</a:t>
            </a:r>
          </a:p>
          <a:p xmlns:a="http://schemas.openxmlformats.org/drawingml/2006/main">
            <a:r>
              <a:t>Statistics Netherlands, Dutch language proficiency among migrants: https://www.cbs.nl/en-gb/news/2023/44/good-command-of-dutch-enhances-labour-participation</a:t>
            </a:r>
          </a:p>
          <a:p xmlns:a="http://schemas.openxmlformats.org/drawingml/2006/main">
            <a:r>
              <a:t>National Ombudsman, foreign nationals dossier: https://www.nationaleombudsman.nl/vreemdelingen</a:t>
            </a:r>
          </a:p>
          <a:p xmlns:a="http://schemas.openxmlformats.org/drawingml/2006/main">
            <a:r>
              <a:t>Explain that the figures show scale and language need. The Ombudsman evidence connects that need to government navigation.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group is deliberately narrow. A recent arrival may not know which authority owns which step, and limited Dutch makes official pages harder to compare. Exclusions matter because the prototype is not qualified to decide legal status, health treatment, emergencies or child safeguarding.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product screenshot captured on 24 September 2026 from the local Streamlit app. The question was: I arrived from Syria today. What do I need to arrange first? The returned answer was marked high risk and linked to official Government.nl pages. Demo file: demo/MigrationHelp-demo.webm.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contains the real call from migrationhelp/migrationhelp/assistant.py. Explain it line by line: genai.Client authenticates with the key from .env. GenerateContentConfig supplies the system rules, asks for JSON and gives Gemini the required schema. generate_content sends the chosen model, user_context and config to Google's API. Gemini returns response.text. _parse_answer uses Pydantic and validate_source_ids before Streamlit receives the answer. A temporary Gemini ServerError triggers the configured fallback model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Simple code explanation: Streamlit collects four inputs in app.py. Python checks for private identifiers and emergencies in safety.py. knowledge_base.py selects relevant facts and source IDs. assistant.py builds the prompt and calls client.models.generate_content using the Gemini model. Gemini must return structured JSON. Python parses it and validates required fields, step count, risk value and source IDs. If anything is invalid or the API fails, the answer is not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produced on 24 September 2026: pytest reported 9 passed. A live Gemini request returned a high-risk response for a new arrival from Syria in The Hague, with four ordered steps and only source IDs supplied by Python. The recorded demo is in demo/MigrationHelp-demo.mp4. The fallback handles temporary 5xx server errors, while validation still applies to the fallback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Ethical reflection: The largest risk is an authoritative but wrong answer reaching someone who cannot easily verify it. That could lead to missed deadlines or loss of access to services. We limit the risk by grounding Gemini in a curated source pack, requiring structured JSON, validating every cited source ID, blocking sensitive identifiers, showing official links and hiding any answer that fails validation. Residual risks remain: translation quality is uneven, rules change and the source pack is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50ef444f1448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db661e5a074dbe" /><Relationship Type="http://schemas.openxmlformats.org/officeDocument/2006/relationships/slideLayout" Target="/ppt/slideLayouts/slideLayout1.xml" Id="Rca1a56def80546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1a56def80546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3e0f3f60584512" /><Relationship Type="http://schemas.openxmlformats.org/officeDocument/2006/relationships/notesSlide" Target="/ppt/notesSlides/notesSlide1.xml" Id="R03a495b8d54242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db0f58e43146fc" /><Relationship Type="http://schemas.openxmlformats.org/officeDocument/2006/relationships/notesSlide" Target="/ppt/notesSlides/notesSlide2.xml" Id="Rdf19877d6c1747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1807cdb36046a8" /><Relationship Type="http://schemas.openxmlformats.org/officeDocument/2006/relationships/notesSlide" Target="/ppt/notesSlides/notesSlide3.xml" Id="R729e7182679f4c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be5e5ee3754a72" /><Relationship Type="http://schemas.openxmlformats.org/officeDocument/2006/relationships/image" Target="/ppt/media/image.png" Id="Rc8be199bca244eb7" /><Relationship Type="http://schemas.openxmlformats.org/officeDocument/2006/relationships/notesSlide" Target="/ppt/notesSlides/notesSlide4.xml" Id="Rd1aa9eb05dac4e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9570acf8a648da" /><Relationship Type="http://schemas.openxmlformats.org/officeDocument/2006/relationships/notesSlide" Target="/ppt/notesSlides/notesSlide5.xml" Id="R12b48b73520843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cba6a9d30246c9" /><Relationship Type="http://schemas.openxmlformats.org/officeDocument/2006/relationships/notesSlide" Target="/ppt/notesSlides/notesSlide6.xml" Id="Rece4c0532bb242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61d2ebea854bdc" /><Relationship Type="http://schemas.openxmlformats.org/officeDocument/2006/relationships/notesSlide" Target="/ppt/notesSlides/notesSlide7.xml" Id="Raa16edc0b9fe47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8ce826152f4635" /><Relationship Type="http://schemas.openxmlformats.org/officeDocument/2006/relationships/notesSlide" Target="/ppt/notesSlides/notesSlide8.xml" Id="Rb3762338c589444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932B2F-10BB-42D0-A1E5-8BBB2A4193C1}"/>
              </a:ext>
            </a:extLst>
          </p:cNvPr>
          <p:cNvSpPr>
            <a:spLocks xmlns:a="http://schemas.openxmlformats.org/drawingml/2006/main" noGrp="1"/>
          </p:cNvSpPr>
          <p:nvPr/>
        </p:nvSpPr>
        <p:spPr>
          <a:xfrm xmlns:a="http://schemas.openxmlformats.org/drawingml/2006/main">
            <a:off x="704850" y="5524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78AFFF"/>
                </a:solidFill>
                <a:latin typeface="Helvetica Neue"/>
                <a:ea typeface="Helvetica Neue"/>
                <a:cs typeface="Helvetica Neue"/>
              </a:defRPr>
            </a:pPr>
            <a:r>
              <a:rPr sz="1200" b="1">
                <a:solidFill>
                  <a:srgbClr val="78AFFF"/>
                </a:solidFill>
                <a:latin typeface="Helvetica Neue"/>
                <a:ea typeface="Helvetica Neue"/>
                <a:cs typeface="Helvetica Neue"/>
              </a:rPr>
              <a:t>AI FOR GOOD · HACKATHON 3</a:t>
            </a:r>
          </a:p>
        </p:txBody>
      </p:sp>
      <p:sp>
        <p:nvSpPr>
          <p:cNvPr id="2" name="">
            <a:extLst xmlns:a="http://schemas.openxmlformats.org/drawingml/2006/main">
              <a:ext uri="{FF2B5EF4-FFF2-40B4-BE49-F238E27FC236}">
                <a16:creationId xmlns:a16="http://schemas.microsoft.com/office/drawing/2014/main" id="{601A4D6F-4D73-42BC-96F2-E2039EE9C4F3}"/>
              </a:ext>
            </a:extLst>
          </p:cNvPr>
          <p:cNvSpPr>
            <a:spLocks xmlns:a="http://schemas.openxmlformats.org/drawingml/2006/main" noGrp="1"/>
          </p:cNvSpPr>
          <p:nvPr/>
        </p:nvSpPr>
        <p:spPr>
          <a:xfrm xmlns:a="http://schemas.openxmlformats.org/drawingml/2006/main">
            <a:off x="704850" y="147637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MigrationHelp</a:t>
            </a:r>
          </a:p>
        </p:txBody>
      </p:sp>
      <p:sp>
        <p:nvSpPr>
          <p:cNvPr id="3" name="">
            <a:extLst xmlns:a="http://schemas.openxmlformats.org/drawingml/2006/main">
              <a:ext uri="{FF2B5EF4-FFF2-40B4-BE49-F238E27FC236}">
                <a16:creationId xmlns:a16="http://schemas.microsoft.com/office/drawing/2014/main" id="{F3A65757-2425-41EE-BFCE-C90B4DA81C97}"/>
              </a:ext>
            </a:extLst>
          </p:cNvPr>
          <p:cNvSpPr>
            <a:spLocks xmlns:a="http://schemas.openxmlformats.org/drawingml/2006/main" noGrp="1"/>
          </p:cNvSpPr>
          <p:nvPr/>
        </p:nvSpPr>
        <p:spPr>
          <a:xfrm xmlns:a="http://schemas.openxmlformats.org/drawingml/2006/main">
            <a:off x="723900" y="2438400"/>
            <a:ext cx="809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C8D8E8"/>
                </a:solidFill>
                <a:latin typeface="Helvetica Neue"/>
                <a:ea typeface="Helvetica Neue"/>
                <a:cs typeface="Helvetica Neue"/>
              </a:defRPr>
            </a:pPr>
            <a:r>
              <a:rPr sz="2100" b="0">
                <a:solidFill>
                  <a:srgbClr val="C8D8E8"/>
                </a:solidFill>
                <a:latin typeface="Helvetica Neue"/>
                <a:ea typeface="Helvetica Neue"/>
                <a:cs typeface="Helvetica Neue"/>
              </a:rPr>
              <a:t>A clearer route through Dutch paperwork</a:t>
            </a:r>
          </a:p>
        </p:txBody>
      </p:sp>
      <p:sp>
        <p:nvSpPr>
          <p:cNvPr id="4" name="">
            <a:extLst xmlns:a="http://schemas.openxmlformats.org/drawingml/2006/main">
              <a:ext uri="{FF2B5EF4-FFF2-40B4-BE49-F238E27FC236}">
                <a16:creationId xmlns:a16="http://schemas.microsoft.com/office/drawing/2014/main" id="{8A9B0FEB-271A-4891-B195-671335AFDB01}"/>
              </a:ext>
            </a:extLst>
          </p:cNvPr>
          <p:cNvSpPr>
            <a:spLocks xmlns:a="http://schemas.openxmlformats.org/drawingml/2006/main" noGrp="1"/>
          </p:cNvSpPr>
          <p:nvPr/>
        </p:nvSpPr>
        <p:spPr>
          <a:xfrm xmlns:a="http://schemas.openxmlformats.org/drawingml/2006/main">
            <a:off x="723900" y="3248025"/>
            <a:ext cx="1676400" cy="0"/>
          </a:xfrm>
          <a:prstGeom xmlns:a="http://schemas.openxmlformats.org/drawingml/2006/main" prst="line">
            <a:avLst/>
          </a:prstGeom>
          <a:noFill xmlns:a="http://schemas.openxmlformats.org/drawingml/2006/main"/>
          <a:ln xmlns:a="http://schemas.openxmlformats.org/drawingml/2006/main" w="47625">
            <a:solidFill>
              <a:srgbClr val="F0642B"/>
            </a:solidFill>
            <a:prstDash val="solid"/>
          </a:ln>
        </p:spPr>
      </p:sp>
      <p:sp>
        <p:nvSpPr>
          <p:cNvPr id="5" name="">
            <a:extLst xmlns:a="http://schemas.openxmlformats.org/drawingml/2006/main">
              <a:ext uri="{FF2B5EF4-FFF2-40B4-BE49-F238E27FC236}">
                <a16:creationId xmlns:a16="http://schemas.microsoft.com/office/drawing/2014/main" id="{334EBB9D-A7FF-426A-A8A5-0F5AAD575C49}"/>
              </a:ext>
            </a:extLst>
          </p:cNvPr>
          <p:cNvSpPr>
            <a:spLocks xmlns:a="http://schemas.openxmlformats.org/drawingml/2006/main" noGrp="1"/>
          </p:cNvSpPr>
          <p:nvPr/>
        </p:nvSpPr>
        <p:spPr>
          <a:xfrm xmlns:a="http://schemas.openxmlformats.org/drawingml/2006/main">
            <a:off x="723900" y="35528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Python + Gemini API</a:t>
            </a:r>
          </a:p>
        </p:txBody>
      </p:sp>
      <p:sp>
        <p:nvSpPr>
          <p:cNvPr id="6" name="">
            <a:extLst xmlns:a="http://schemas.openxmlformats.org/drawingml/2006/main">
              <a:ext uri="{FF2B5EF4-FFF2-40B4-BE49-F238E27FC236}">
                <a16:creationId xmlns:a16="http://schemas.microsoft.com/office/drawing/2014/main" id="{0A3A41BC-7A5F-41B3-BB0D-C30AFECE714C}"/>
              </a:ext>
            </a:extLst>
          </p:cNvPr>
          <p:cNvSpPr>
            <a:spLocks xmlns:a="http://schemas.openxmlformats.org/drawingml/2006/main" noGrp="1"/>
          </p:cNvSpPr>
          <p:nvPr/>
        </p:nvSpPr>
        <p:spPr>
          <a:xfrm xmlns:a="http://schemas.openxmlformats.org/drawingml/2006/main">
            <a:off x="723900" y="39814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C8D8E8"/>
                </a:solidFill>
                <a:latin typeface="Helvetica Neue"/>
                <a:ea typeface="Helvetica Neue"/>
                <a:cs typeface="Helvetica Neue"/>
              </a:defRPr>
            </a:pPr>
            <a:r>
              <a:rPr sz="1500" b="0">
                <a:solidFill>
                  <a:srgbClr val="C8D8E8"/>
                </a:solidFill>
                <a:latin typeface="Helvetica Neue"/>
                <a:ea typeface="Helvetica Neue"/>
                <a:cs typeface="Helvetica Neue"/>
              </a:rPr>
              <a:t>SDG 10 · Reduced Inequalities</a:t>
            </a:r>
          </a:p>
        </p:txBody>
      </p:sp>
      <p:sp>
        <p:nvSpPr>
          <p:cNvPr id="7" name="">
            <a:extLst xmlns:a="http://schemas.openxmlformats.org/drawingml/2006/main">
              <a:ext uri="{FF2B5EF4-FFF2-40B4-BE49-F238E27FC236}">
                <a16:creationId xmlns:a16="http://schemas.microsoft.com/office/drawing/2014/main" id="{06E1C19B-230F-4043-8DD8-39133E8272E4}"/>
              </a:ext>
            </a:extLst>
          </p:cNvPr>
          <p:cNvSpPr>
            <a:spLocks xmlns:a="http://schemas.openxmlformats.org/drawingml/2006/main" noGrp="1"/>
          </p:cNvSpPr>
          <p:nvPr/>
        </p:nvSpPr>
        <p:spPr>
          <a:xfrm xmlns:a="http://schemas.openxmlformats.org/drawingml/2006/main">
            <a:off x="723900" y="59436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9FB4C9"/>
                </a:solidFill>
                <a:latin typeface="Helvetica Neue"/>
                <a:ea typeface="Helvetica Neue"/>
                <a:cs typeface="Helvetica Neue"/>
              </a:defRPr>
            </a:pPr>
            <a:r>
              <a:rPr sz="1200" b="0">
                <a:solidFill>
                  <a:srgbClr val="9FB4C9"/>
                </a:solidFill>
                <a:latin typeface="Helvetica Neue"/>
                <a:ea typeface="Helvetica Neue"/>
                <a:cs typeface="Helvetica Neue"/>
              </a:rPr>
              <a:t>Maximilian Lopez · Quinten van Ingen</a:t>
            </a:r>
          </a:p>
        </p:txBody>
      </p:sp>
      <p:sp>
        <p:nvSpPr>
          <p:cNvPr id="8" name="">
            <a:extLst xmlns:a="http://schemas.openxmlformats.org/drawingml/2006/main">
              <a:ext uri="{FF2B5EF4-FFF2-40B4-BE49-F238E27FC236}">
                <a16:creationId xmlns:a16="http://schemas.microsoft.com/office/drawing/2014/main" id="{2DC3D7B4-D744-45B8-A1B3-514D625A428B}"/>
              </a:ext>
            </a:extLst>
          </p:cNvPr>
          <p:cNvSpPr>
            <a:spLocks xmlns:a="http://schemas.openxmlformats.org/drawingml/2006/main" noGrp="1"/>
          </p:cNvSpPr>
          <p:nvPr/>
        </p:nvSpPr>
        <p:spPr>
          <a:xfrm xmlns:a="http://schemas.openxmlformats.org/drawingml/2006/main">
            <a:off x="7924800" y="5943600"/>
            <a:ext cx="3543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0">
                <a:solidFill>
                  <a:srgbClr val="9FB4C9"/>
                </a:solidFill>
                <a:latin typeface="Helvetica Neue"/>
                <a:ea typeface="Helvetica Neue"/>
                <a:cs typeface="Helvetica Neue"/>
              </a:defRPr>
            </a:pPr>
            <a:r>
              <a:rPr sz="975" b="0">
                <a:solidFill>
                  <a:srgbClr val="9FB4C9"/>
                </a:solidFill>
                <a:latin typeface="Helvetica Neue"/>
                <a:ea typeface="Helvetica Neue"/>
                <a:cs typeface="Helvetica Neue"/>
              </a:rPr>
              <a:t>Week 3 · 24 September 2026</a:t>
            </a:r>
          </a:p>
        </p:txBody>
      </p:sp>
    </p:spTree>
    <p:extLst>
      <p:ext uri="{BB962C8B-B14F-4D97-AF65-F5344CB8AC3E}">
        <p14:creationId xmlns:p14="http://schemas.microsoft.com/office/powerpoint/2010/main" val="69948601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88A7767-7E8E-4D37-8B54-26AB0BDAD600}"/>
              </a:ext>
            </a:extLst>
          </p:cNvPr>
          <p:cNvSpPr>
            <a:spLocks xmlns:a="http://schemas.openxmlformats.org/drawingml/2006/main" noGrp="1"/>
          </p:cNvSpPr>
          <p:nvPr/>
        </p:nvSpPr>
        <p:spPr>
          <a:xfrm xmlns:a="http://schemas.openxmlformats.org/drawingml/2006/main">
            <a:off x="609600" y="323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0642B"/>
                </a:solidFill>
                <a:latin typeface="Helvetica Neue"/>
                <a:ea typeface="Helvetica Neue"/>
                <a:cs typeface="Helvetica Neue"/>
              </a:defRPr>
            </a:pPr>
            <a:r>
              <a:rPr sz="1050" b="1">
                <a:solidFill>
                  <a:srgbClr val="F0642B"/>
                </a:solidFill>
                <a:latin typeface="Helvetica Neue"/>
                <a:ea typeface="Helvetica Neue"/>
                <a:cs typeface="Helvetica Neue"/>
              </a:rPr>
              <a:t>PROBLEM DEFINITION · 2 POINTS</a:t>
            </a:r>
          </a:p>
        </p:txBody>
      </p:sp>
      <p:sp>
        <p:nvSpPr>
          <p:cNvPr id="2" name="">
            <a:extLst xmlns:a="http://schemas.openxmlformats.org/drawingml/2006/main">
              <a:ext uri="{FF2B5EF4-FFF2-40B4-BE49-F238E27FC236}">
                <a16:creationId xmlns:a16="http://schemas.microsoft.com/office/drawing/2014/main" id="{80ABF021-009F-4A96-8C64-8AA7EF89E768}"/>
              </a:ext>
            </a:extLst>
          </p:cNvPr>
          <p:cNvSpPr>
            <a:spLocks xmlns:a="http://schemas.openxmlformats.org/drawingml/2006/main" noGrp="1"/>
          </p:cNvSpPr>
          <p:nvPr/>
        </p:nvSpPr>
        <p:spPr>
          <a:xfrm xmlns:a="http://schemas.openxmlformats.org/drawingml/2006/main">
            <a:off x="609600" y="619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The inequality is an information gap</a:t>
            </a:r>
          </a:p>
        </p:txBody>
      </p:sp>
      <p:sp>
        <p:nvSpPr>
          <p:cNvPr id="3" name="">
            <a:extLst xmlns:a="http://schemas.openxmlformats.org/drawingml/2006/main">
              <a:ext uri="{FF2B5EF4-FFF2-40B4-BE49-F238E27FC236}">
                <a16:creationId xmlns:a16="http://schemas.microsoft.com/office/drawing/2014/main" id="{782EBF28-2BBF-4487-AC10-7309545C7C2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FD9E6"/>
            </a:solidFill>
            <a:prstDash val="solid"/>
          </a:ln>
        </p:spPr>
      </p:sp>
      <p:sp>
        <p:nvSpPr>
          <p:cNvPr id="4" name="">
            <a:extLst xmlns:a="http://schemas.openxmlformats.org/drawingml/2006/main">
              <a:ext uri="{FF2B5EF4-FFF2-40B4-BE49-F238E27FC236}">
                <a16:creationId xmlns:a16="http://schemas.microsoft.com/office/drawing/2014/main" id="{C49D3473-103A-4087-AF75-6DDC3E9A6D05}"/>
              </a:ext>
            </a:extLst>
          </p:cNvPr>
          <p:cNvSpPr>
            <a:spLocks xmlns:a="http://schemas.openxmlformats.org/drawingml/2006/main" noGrp="1"/>
          </p:cNvSpPr>
          <p:nvPr/>
        </p:nvSpPr>
        <p:spPr>
          <a:xfrm xmlns:a="http://schemas.openxmlformats.org/drawingml/2006/main">
            <a:off x="609600" y="14954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Dutch public services are online and fragmented. New arrivals can face language barriers exactly when deadlines and correct sequencing matter.</a:t>
            </a:r>
          </a:p>
        </p:txBody>
      </p:sp>
      <p:sp>
        <p:nvSpPr>
          <p:cNvPr id="5" name="">
            <a:extLst xmlns:a="http://schemas.openxmlformats.org/drawingml/2006/main">
              <a:ext uri="{FF2B5EF4-FFF2-40B4-BE49-F238E27FC236}">
                <a16:creationId xmlns:a16="http://schemas.microsoft.com/office/drawing/2014/main" id="{BEF7C4E5-22EA-4AEA-B6AB-E399BC2B5130}"/>
              </a:ext>
            </a:extLst>
          </p:cNvPr>
          <p:cNvSpPr>
            <a:spLocks xmlns:a="http://schemas.openxmlformats.org/drawingml/2006/main" noGrp="1"/>
          </p:cNvSpPr>
          <p:nvPr/>
        </p:nvSpPr>
        <p:spPr>
          <a:xfrm xmlns:a="http://schemas.openxmlformats.org/drawingml/2006/main">
            <a:off x="609600" y="2457450"/>
            <a:ext cx="3276600" cy="1847850"/>
          </a:xfrm>
          <a:prstGeom xmlns:a="http://schemas.openxmlformats.org/drawingml/2006/main" prst="roundRect">
            <a:avLst>
              <a:gd name="adj" fmla="val 9278"/>
            </a:avLst>
          </a:prstGeom>
          <a:solidFill xmlns:a="http://schemas.openxmlformats.org/drawingml/2006/main">
            <a:srgbClr val="EAF2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FFA5E2-D5AA-4645-8ED3-EC3856F54C61}"/>
              </a:ext>
            </a:extLst>
          </p:cNvPr>
          <p:cNvSpPr>
            <a:spLocks xmlns:a="http://schemas.openxmlformats.org/drawingml/2006/main" noGrp="1"/>
          </p:cNvSpPr>
          <p:nvPr/>
        </p:nvSpPr>
        <p:spPr>
          <a:xfrm xmlns:a="http://schemas.openxmlformats.org/drawingml/2006/main">
            <a:off x="857250" y="2714625"/>
            <a:ext cx="2781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1769D2"/>
                </a:solidFill>
                <a:latin typeface="Helvetica Neue"/>
                <a:ea typeface="Helvetica Neue"/>
                <a:cs typeface="Helvetica Neue"/>
              </a:defRPr>
            </a:pPr>
            <a:r>
              <a:rPr sz="3150" b="1">
                <a:solidFill>
                  <a:srgbClr val="1769D2"/>
                </a:solidFill>
                <a:latin typeface="Helvetica Neue"/>
                <a:ea typeface="Helvetica Neue"/>
                <a:cs typeface="Helvetica Neue"/>
              </a:rPr>
              <a:t>3+ million</a:t>
            </a:r>
          </a:p>
        </p:txBody>
      </p:sp>
      <p:sp>
        <p:nvSpPr>
          <p:cNvPr id="7" name="">
            <a:extLst xmlns:a="http://schemas.openxmlformats.org/drawingml/2006/main">
              <a:ext uri="{FF2B5EF4-FFF2-40B4-BE49-F238E27FC236}">
                <a16:creationId xmlns:a16="http://schemas.microsoft.com/office/drawing/2014/main" id="{7CBC8801-6F7B-4C59-9BA9-CA6CB04141EF}"/>
              </a:ext>
            </a:extLst>
          </p:cNvPr>
          <p:cNvSpPr>
            <a:spLocks xmlns:a="http://schemas.openxmlformats.org/drawingml/2006/main" noGrp="1"/>
          </p:cNvSpPr>
          <p:nvPr/>
        </p:nvSpPr>
        <p:spPr>
          <a:xfrm xmlns:a="http://schemas.openxmlformats.org/drawingml/2006/main">
            <a:off x="857250" y="340995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324D"/>
                </a:solidFill>
                <a:latin typeface="Helvetica Neue"/>
                <a:ea typeface="Helvetica Neue"/>
                <a:cs typeface="Helvetica Neue"/>
              </a:defRPr>
            </a:pPr>
            <a:r>
              <a:rPr sz="1425" b="0">
                <a:solidFill>
                  <a:srgbClr val="17324D"/>
                </a:solidFill>
                <a:latin typeface="Helvetica Neue"/>
                <a:ea typeface="Helvetica Neue"/>
                <a:cs typeface="Helvetica Neue"/>
              </a:rPr>
              <a:t>residents were born abroad on 1 January 2025</a:t>
            </a:r>
          </a:p>
        </p:txBody>
      </p:sp>
      <p:sp>
        <p:nvSpPr>
          <p:cNvPr id="8" name="">
            <a:extLst xmlns:a="http://schemas.openxmlformats.org/drawingml/2006/main">
              <a:ext uri="{FF2B5EF4-FFF2-40B4-BE49-F238E27FC236}">
                <a16:creationId xmlns:a16="http://schemas.microsoft.com/office/drawing/2014/main" id="{C7157606-92C9-42E0-8589-DCEE1B6ADC2D}"/>
              </a:ext>
            </a:extLst>
          </p:cNvPr>
          <p:cNvSpPr>
            <a:spLocks xmlns:a="http://schemas.openxmlformats.org/drawingml/2006/main" noGrp="1"/>
          </p:cNvSpPr>
          <p:nvPr/>
        </p:nvSpPr>
        <p:spPr>
          <a:xfrm xmlns:a="http://schemas.openxmlformats.org/drawingml/2006/main">
            <a:off x="4295775" y="2457450"/>
            <a:ext cx="3276600" cy="1847850"/>
          </a:xfrm>
          <a:prstGeom xmlns:a="http://schemas.openxmlformats.org/drawingml/2006/main" prst="roundRect">
            <a:avLst>
              <a:gd name="adj" fmla="val 9278"/>
            </a:avLst>
          </a:prstGeom>
          <a:solidFill xmlns:a="http://schemas.openxmlformats.org/drawingml/2006/main">
            <a:srgbClr val="FFF0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807E81-4CB1-4720-87DA-FBE8AEC4FA49}"/>
              </a:ext>
            </a:extLst>
          </p:cNvPr>
          <p:cNvSpPr>
            <a:spLocks xmlns:a="http://schemas.openxmlformats.org/drawingml/2006/main" noGrp="1"/>
          </p:cNvSpPr>
          <p:nvPr/>
        </p:nvSpPr>
        <p:spPr>
          <a:xfrm xmlns:a="http://schemas.openxmlformats.org/drawingml/2006/main">
            <a:off x="4543425" y="2714625"/>
            <a:ext cx="2781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F0642B"/>
                </a:solidFill>
                <a:latin typeface="Helvetica Neue"/>
                <a:ea typeface="Helvetica Neue"/>
                <a:cs typeface="Helvetica Neue"/>
              </a:defRPr>
            </a:pPr>
            <a:r>
              <a:rPr sz="3150" b="1">
                <a:solidFill>
                  <a:srgbClr val="F0642B"/>
                </a:solidFill>
                <a:latin typeface="Helvetica Neue"/>
                <a:ea typeface="Helvetica Neue"/>
                <a:cs typeface="Helvetica Neue"/>
              </a:rPr>
              <a:t>16.8%</a:t>
            </a:r>
          </a:p>
        </p:txBody>
      </p:sp>
      <p:sp>
        <p:nvSpPr>
          <p:cNvPr id="10" name="">
            <a:extLst xmlns:a="http://schemas.openxmlformats.org/drawingml/2006/main">
              <a:ext uri="{FF2B5EF4-FFF2-40B4-BE49-F238E27FC236}">
                <a16:creationId xmlns:a16="http://schemas.microsoft.com/office/drawing/2014/main" id="{33F832BA-F90C-466D-9C94-0085641A40BD}"/>
              </a:ext>
            </a:extLst>
          </p:cNvPr>
          <p:cNvSpPr>
            <a:spLocks xmlns:a="http://schemas.openxmlformats.org/drawingml/2006/main" noGrp="1"/>
          </p:cNvSpPr>
          <p:nvPr/>
        </p:nvSpPr>
        <p:spPr>
          <a:xfrm xmlns:a="http://schemas.openxmlformats.org/drawingml/2006/main">
            <a:off x="4543425" y="340995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324D"/>
                </a:solidFill>
                <a:latin typeface="Helvetica Neue"/>
                <a:ea typeface="Helvetica Neue"/>
                <a:cs typeface="Helvetica Neue"/>
              </a:defRPr>
            </a:pPr>
            <a:r>
              <a:rPr sz="1425" b="0">
                <a:solidFill>
                  <a:srgbClr val="17324D"/>
                </a:solidFill>
                <a:latin typeface="Helvetica Neue"/>
                <a:ea typeface="Helvetica Neue"/>
                <a:cs typeface="Helvetica Neue"/>
              </a:rPr>
              <a:t>of the population was born outside the Netherlands</a:t>
            </a:r>
          </a:p>
        </p:txBody>
      </p:sp>
      <p:sp>
        <p:nvSpPr>
          <p:cNvPr id="11" name="">
            <a:extLst xmlns:a="http://schemas.openxmlformats.org/drawingml/2006/main">
              <a:ext uri="{FF2B5EF4-FFF2-40B4-BE49-F238E27FC236}">
                <a16:creationId xmlns:a16="http://schemas.microsoft.com/office/drawing/2014/main" id="{67908D5A-19A3-429C-85F3-996BB409960F}"/>
              </a:ext>
            </a:extLst>
          </p:cNvPr>
          <p:cNvSpPr>
            <a:spLocks xmlns:a="http://schemas.openxmlformats.org/drawingml/2006/main" noGrp="1"/>
          </p:cNvSpPr>
          <p:nvPr/>
        </p:nvSpPr>
        <p:spPr>
          <a:xfrm xmlns:a="http://schemas.openxmlformats.org/drawingml/2006/main">
            <a:off x="7981950" y="2457450"/>
            <a:ext cx="3276600" cy="1847850"/>
          </a:xfrm>
          <a:prstGeom xmlns:a="http://schemas.openxmlformats.org/drawingml/2006/main" prst="roundRect">
            <a:avLst>
              <a:gd name="adj" fmla="val 9278"/>
            </a:avLst>
          </a:prstGeom>
          <a:solidFill xmlns:a="http://schemas.openxmlformats.org/drawingml/2006/main">
            <a:srgbClr val="E7F5F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1413CB-A44C-47A1-BE00-FE30E2526E2E}"/>
              </a:ext>
            </a:extLst>
          </p:cNvPr>
          <p:cNvSpPr>
            <a:spLocks xmlns:a="http://schemas.openxmlformats.org/drawingml/2006/main" noGrp="1"/>
          </p:cNvSpPr>
          <p:nvPr/>
        </p:nvSpPr>
        <p:spPr>
          <a:xfrm xmlns:a="http://schemas.openxmlformats.org/drawingml/2006/main">
            <a:off x="8229600" y="2714625"/>
            <a:ext cx="2781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176B57"/>
                </a:solidFill>
                <a:latin typeface="Helvetica Neue"/>
                <a:ea typeface="Helvetica Neue"/>
                <a:cs typeface="Helvetica Neue"/>
              </a:defRPr>
            </a:pPr>
            <a:r>
              <a:rPr sz="3150" b="1">
                <a:solidFill>
                  <a:srgbClr val="176B57"/>
                </a:solidFill>
                <a:latin typeface="Helvetica Neue"/>
                <a:ea typeface="Helvetica Neue"/>
                <a:cs typeface="Helvetica Neue"/>
              </a:rPr>
              <a:t>10.2%</a:t>
            </a:r>
          </a:p>
        </p:txBody>
      </p:sp>
      <p:sp>
        <p:nvSpPr>
          <p:cNvPr id="13" name="">
            <a:extLst xmlns:a="http://schemas.openxmlformats.org/drawingml/2006/main">
              <a:ext uri="{FF2B5EF4-FFF2-40B4-BE49-F238E27FC236}">
                <a16:creationId xmlns:a16="http://schemas.microsoft.com/office/drawing/2014/main" id="{CA0FD724-07C5-4A1D-B9CD-FB26533D060C}"/>
              </a:ext>
            </a:extLst>
          </p:cNvPr>
          <p:cNvSpPr>
            <a:spLocks xmlns:a="http://schemas.openxmlformats.org/drawingml/2006/main" noGrp="1"/>
          </p:cNvSpPr>
          <p:nvPr/>
        </p:nvSpPr>
        <p:spPr>
          <a:xfrm xmlns:a="http://schemas.openxmlformats.org/drawingml/2006/main">
            <a:off x="8229600" y="340995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324D"/>
                </a:solidFill>
                <a:latin typeface="Helvetica Neue"/>
                <a:ea typeface="Helvetica Neue"/>
                <a:cs typeface="Helvetica Neue"/>
              </a:defRPr>
            </a:pPr>
            <a:r>
              <a:rPr sz="1425" b="0">
                <a:solidFill>
                  <a:srgbClr val="17324D"/>
                </a:solidFill>
                <a:latin typeface="Helvetica Neue"/>
                <a:ea typeface="Helvetica Neue"/>
                <a:cs typeface="Helvetica Neue"/>
              </a:rPr>
              <a:t>of migrants reported little or no Dutch in 2023</a:t>
            </a:r>
          </a:p>
        </p:txBody>
      </p:sp>
      <p:sp>
        <p:nvSpPr>
          <p:cNvPr id="14" name="">
            <a:extLst xmlns:a="http://schemas.openxmlformats.org/drawingml/2006/main">
              <a:ext uri="{FF2B5EF4-FFF2-40B4-BE49-F238E27FC236}">
                <a16:creationId xmlns:a16="http://schemas.microsoft.com/office/drawing/2014/main" id="{33679F9D-5974-4028-88FF-7CF3D08571A0}"/>
              </a:ext>
            </a:extLst>
          </p:cNvPr>
          <p:cNvSpPr>
            <a:spLocks xmlns:a="http://schemas.openxmlformats.org/drawingml/2006/main" noGrp="1"/>
          </p:cNvSpPr>
          <p:nvPr/>
        </p:nvSpPr>
        <p:spPr>
          <a:xfrm xmlns:a="http://schemas.openxmlformats.org/drawingml/2006/main">
            <a:off x="609600" y="4724400"/>
            <a:ext cx="106489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CFD9E6"/>
            </a:solidFill>
            <a:prstDash val="solid"/>
          </a:ln>
        </p:spPr>
      </p:sp>
      <p:sp>
        <p:nvSpPr>
          <p:cNvPr id="15" name="">
            <a:extLst xmlns:a="http://schemas.openxmlformats.org/drawingml/2006/main">
              <a:ext uri="{FF2B5EF4-FFF2-40B4-BE49-F238E27FC236}">
                <a16:creationId xmlns:a16="http://schemas.microsoft.com/office/drawing/2014/main" id="{90F80482-A5AD-4DCC-ACBA-FE1ECB40AEB9}"/>
              </a:ext>
            </a:extLst>
          </p:cNvPr>
          <p:cNvSpPr>
            <a:spLocks xmlns:a="http://schemas.openxmlformats.org/drawingml/2006/main" noGrp="1"/>
          </p:cNvSpPr>
          <p:nvPr/>
        </p:nvSpPr>
        <p:spPr>
          <a:xfrm xmlns:a="http://schemas.openxmlformats.org/drawingml/2006/main">
            <a:off x="876300" y="4933950"/>
            <a:ext cx="10115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27"/>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The National Ombudsman warns that foreign nationals may not speak Dutch and can struggle to find the right route through government.</a:t>
            </a:r>
          </a:p>
        </p:txBody>
      </p:sp>
      <p:sp>
        <p:nvSpPr>
          <p:cNvPr id="16" name="">
            <a:extLst xmlns:a="http://schemas.openxmlformats.org/drawingml/2006/main">
              <a:ext uri="{FF2B5EF4-FFF2-40B4-BE49-F238E27FC236}">
                <a16:creationId xmlns:a16="http://schemas.microsoft.com/office/drawing/2014/main" id="{9BD1162F-68D6-4088-B27D-678ADD4D55F6}"/>
              </a:ext>
            </a:extLst>
          </p:cNvPr>
          <p:cNvSpPr>
            <a:spLocks xmlns:a="http://schemas.openxmlformats.org/drawingml/2006/main" noGrp="1"/>
          </p:cNvSpPr>
          <p:nvPr/>
        </p:nvSpPr>
        <p:spPr>
          <a:xfrm xmlns:a="http://schemas.openxmlformats.org/drawingml/2006/main">
            <a:off x="876300" y="5534025"/>
            <a:ext cx="10115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63788E"/>
                </a:solidFill>
                <a:latin typeface="Helvetica Neue"/>
                <a:ea typeface="Helvetica Neue"/>
                <a:cs typeface="Helvetica Neue"/>
              </a:defRPr>
            </a:pPr>
            <a:r>
              <a:rPr sz="1275" b="0">
                <a:solidFill>
                  <a:srgbClr val="63788E"/>
                </a:solidFill>
                <a:latin typeface="Helvetica Neue"/>
                <a:ea typeface="Helvetica Neue"/>
                <a:cs typeface="Helvetica Neue"/>
              </a:rPr>
              <a:t>This is not only a translation problem. It is a navigation and verification problem.</a:t>
            </a:r>
          </a:p>
        </p:txBody>
      </p:sp>
    </p:spTree>
    <p:extLst>
      <p:ext uri="{BB962C8B-B14F-4D97-AF65-F5344CB8AC3E}">
        <p14:creationId xmlns:p14="http://schemas.microsoft.com/office/powerpoint/2010/main" val="124520097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8FB85B-3AC2-477D-A666-D9765096E600}"/>
              </a:ext>
            </a:extLst>
          </p:cNvPr>
          <p:cNvSpPr>
            <a:spLocks xmlns:a="http://schemas.openxmlformats.org/drawingml/2006/main" noGrp="1"/>
          </p:cNvSpPr>
          <p:nvPr/>
        </p:nvSpPr>
        <p:spPr>
          <a:xfrm xmlns:a="http://schemas.openxmlformats.org/drawingml/2006/main">
            <a:off x="609600" y="323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0642B"/>
                </a:solidFill>
                <a:latin typeface="Helvetica Neue"/>
                <a:ea typeface="Helvetica Neue"/>
                <a:cs typeface="Helvetica Neue"/>
              </a:defRPr>
            </a:pPr>
            <a:r>
              <a:rPr sz="1050" b="1">
                <a:solidFill>
                  <a:srgbClr val="F0642B"/>
                </a:solidFill>
                <a:latin typeface="Helvetica Neue"/>
                <a:ea typeface="Helvetica Neue"/>
                <a:cs typeface="Helvetica Neue"/>
              </a:rPr>
              <a:t>USER GROUP · 2 POINTS</a:t>
            </a:r>
          </a:p>
        </p:txBody>
      </p:sp>
      <p:sp>
        <p:nvSpPr>
          <p:cNvPr id="2" name="">
            <a:extLst xmlns:a="http://schemas.openxmlformats.org/drawingml/2006/main">
              <a:ext uri="{FF2B5EF4-FFF2-40B4-BE49-F238E27FC236}">
                <a16:creationId xmlns:a16="http://schemas.microsoft.com/office/drawing/2014/main" id="{5415736E-716A-443C-8F9C-86209C174D52}"/>
              </a:ext>
            </a:extLst>
          </p:cNvPr>
          <p:cNvSpPr>
            <a:spLocks xmlns:a="http://schemas.openxmlformats.org/drawingml/2006/main" noGrp="1"/>
          </p:cNvSpPr>
          <p:nvPr/>
        </p:nvSpPr>
        <p:spPr>
          <a:xfrm xmlns:a="http://schemas.openxmlformats.org/drawingml/2006/main">
            <a:off x="609600" y="619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One clear user, with clear boundaries</a:t>
            </a:r>
          </a:p>
        </p:txBody>
      </p:sp>
      <p:sp>
        <p:nvSpPr>
          <p:cNvPr id="3" name="">
            <a:extLst xmlns:a="http://schemas.openxmlformats.org/drawingml/2006/main">
              <a:ext uri="{FF2B5EF4-FFF2-40B4-BE49-F238E27FC236}">
                <a16:creationId xmlns:a16="http://schemas.microsoft.com/office/drawing/2014/main" id="{8CBAAB1D-294C-42D0-9522-CDC20AAE96D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FD9E6"/>
            </a:solidFill>
            <a:prstDash val="solid"/>
          </a:ln>
        </p:spPr>
      </p:sp>
      <p:sp>
        <p:nvSpPr>
          <p:cNvPr id="4" name="">
            <a:extLst xmlns:a="http://schemas.openxmlformats.org/drawingml/2006/main">
              <a:ext uri="{FF2B5EF4-FFF2-40B4-BE49-F238E27FC236}">
                <a16:creationId xmlns:a16="http://schemas.microsoft.com/office/drawing/2014/main" id="{A94220A4-6EAD-4D8C-BEFA-8EC928F2F0CB}"/>
              </a:ext>
            </a:extLst>
          </p:cNvPr>
          <p:cNvSpPr>
            <a:spLocks xmlns:a="http://schemas.openxmlformats.org/drawingml/2006/main" noGrp="1"/>
          </p:cNvSpPr>
          <p:nvPr/>
        </p:nvSpPr>
        <p:spPr>
          <a:xfrm xmlns:a="http://schemas.openxmlformats.org/drawingml/2006/main">
            <a:off x="609600" y="1581150"/>
            <a:ext cx="5219700" cy="4324350"/>
          </a:xfrm>
          <a:prstGeom xmlns:a="http://schemas.openxmlformats.org/drawingml/2006/main" prst="roundRect">
            <a:avLst>
              <a:gd name="adj" fmla="val 3524"/>
            </a:avLst>
          </a:prstGeom>
          <a:solidFill xmlns:a="http://schemas.openxmlformats.org/drawingml/2006/main">
            <a:srgbClr val="FFFFFF"/>
          </a:solidFill>
          <a:ln xmlns:a="http://schemas.openxmlformats.org/drawingml/2006/main" w="9525">
            <a:solidFill>
              <a:srgbClr val="CFD9E6"/>
            </a:solidFill>
            <a:prstDash val="solid"/>
          </a:ln>
        </p:spPr>
      </p:sp>
      <p:sp>
        <p:nvSpPr>
          <p:cNvPr id="5" name="">
            <a:extLst xmlns:a="http://schemas.openxmlformats.org/drawingml/2006/main">
              <a:ext uri="{FF2B5EF4-FFF2-40B4-BE49-F238E27FC236}">
                <a16:creationId xmlns:a16="http://schemas.microsoft.com/office/drawing/2014/main" id="{0EF8700E-ABBA-4298-BDA0-55A2219F1D82}"/>
              </a:ext>
            </a:extLst>
          </p:cNvPr>
          <p:cNvSpPr>
            <a:spLocks xmlns:a="http://schemas.openxmlformats.org/drawingml/2006/main" noGrp="1"/>
          </p:cNvSpPr>
          <p:nvPr/>
        </p:nvSpPr>
        <p:spPr>
          <a:xfrm xmlns:a="http://schemas.openxmlformats.org/drawingml/2006/main">
            <a:off x="895350" y="18192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36"/>
          </a:bodyPr>
          <a:lstStyle xmlns:a="http://schemas.openxmlformats.org/drawingml/2006/main"/>
          <a:p xmlns:a="http://schemas.openxmlformats.org/drawingml/2006/main">
            <a:pPr algn="l">
              <a:defRPr sz="1950" b="1">
                <a:solidFill>
                  <a:srgbClr val="176B57"/>
                </a:solidFill>
                <a:latin typeface="Helvetica Neue"/>
                <a:ea typeface="Helvetica Neue"/>
                <a:cs typeface="Helvetica Neue"/>
              </a:defRPr>
            </a:pPr>
            <a:r>
              <a:rPr sz="1950" b="1">
                <a:solidFill>
                  <a:srgbClr val="176B57"/>
                </a:solidFill>
                <a:latin typeface="Helvetica Neue"/>
                <a:ea typeface="Helvetica Neue"/>
                <a:cs typeface="Helvetica Neue"/>
              </a:rPr>
              <a:t>Built for</a:t>
            </a:r>
          </a:p>
        </p:txBody>
      </p:sp>
      <p:sp>
        <p:nvSpPr>
          <p:cNvPr id="6" name="">
            <a:extLst xmlns:a="http://schemas.openxmlformats.org/drawingml/2006/main">
              <a:ext uri="{FF2B5EF4-FFF2-40B4-BE49-F238E27FC236}">
                <a16:creationId xmlns:a16="http://schemas.microsoft.com/office/drawing/2014/main" id="{C24AC537-7BB4-44F6-B988-CB7EFA3A21B7}"/>
              </a:ext>
            </a:extLst>
          </p:cNvPr>
          <p:cNvSpPr>
            <a:spLocks xmlns:a="http://schemas.openxmlformats.org/drawingml/2006/main" noGrp="1"/>
          </p:cNvSpPr>
          <p:nvPr/>
        </p:nvSpPr>
        <p:spPr>
          <a:xfrm xmlns:a="http://schemas.openxmlformats.org/drawingml/2006/main">
            <a:off x="895350" y="2295525"/>
            <a:ext cx="4438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00"/>
          </a:bodyPr>
          <a:lstStyle xmlns:a="http://schemas.openxmlformats.org/drawingml/2006/main"/>
          <a:p xmlns:a="http://schemas.openxmlformats.org/drawingml/2006/main">
            <a:pPr algn="l">
              <a:defRPr sz="1875" b="1">
                <a:solidFill>
                  <a:srgbClr val="102A43"/>
                </a:solidFill>
                <a:latin typeface="Helvetica Neue"/>
                <a:ea typeface="Helvetica Neue"/>
                <a:cs typeface="Helvetica Neue"/>
              </a:defRPr>
            </a:pPr>
            <a:r>
              <a:rPr sz="1875" b="1">
                <a:solidFill>
                  <a:srgbClr val="102A43"/>
                </a:solidFill>
                <a:latin typeface="Helvetica Neue"/>
                <a:ea typeface="Helvetica Neue"/>
                <a:cs typeface="Helvetica Neue"/>
              </a:rPr>
              <a:t>Recently arrived adults in the Netherlands who have limited Dutch and need a first administrative route.</a:t>
            </a:r>
          </a:p>
        </p:txBody>
      </p:sp>
      <p:sp>
        <p:nvSpPr>
          <p:cNvPr id="7" name="">
            <a:extLst xmlns:a="http://schemas.openxmlformats.org/drawingml/2006/main">
              <a:ext uri="{FF2B5EF4-FFF2-40B4-BE49-F238E27FC236}">
                <a16:creationId xmlns:a16="http://schemas.microsoft.com/office/drawing/2014/main" id="{1CB0F1B8-8643-456F-95A5-24D07C6F385A}"/>
              </a:ext>
            </a:extLst>
          </p:cNvPr>
          <p:cNvSpPr>
            <a:spLocks xmlns:a="http://schemas.openxmlformats.org/drawingml/2006/main" noGrp="1"/>
          </p:cNvSpPr>
          <p:nvPr/>
        </p:nvSpPr>
        <p:spPr>
          <a:xfrm xmlns:a="http://schemas.openxmlformats.org/drawingml/2006/main">
            <a:off x="895350" y="35242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63788E"/>
                </a:solidFill>
                <a:latin typeface="Helvetica Neue"/>
                <a:ea typeface="Helvetica Neue"/>
                <a:cs typeface="Helvetica Neue"/>
              </a:defRPr>
            </a:pPr>
            <a:r>
              <a:rPr sz="1350" b="1">
                <a:solidFill>
                  <a:srgbClr val="63788E"/>
                </a:solidFill>
                <a:latin typeface="Helvetica Neue"/>
                <a:ea typeface="Helvetica Neue"/>
                <a:cs typeface="Helvetica Neue"/>
              </a:rPr>
              <a:t>Typical questions</a:t>
            </a:r>
          </a:p>
        </p:txBody>
      </p:sp>
      <p:sp>
        <p:nvSpPr>
          <p:cNvPr id="8" name="">
            <a:extLst xmlns:a="http://schemas.openxmlformats.org/drawingml/2006/main">
              <a:ext uri="{FF2B5EF4-FFF2-40B4-BE49-F238E27FC236}">
                <a16:creationId xmlns:a16="http://schemas.microsoft.com/office/drawing/2014/main" id="{E925E9CA-BD1B-4B8F-B8D1-A8D241E6B6CB}"/>
              </a:ext>
            </a:extLst>
          </p:cNvPr>
          <p:cNvSpPr>
            <a:spLocks xmlns:a="http://schemas.openxmlformats.org/drawingml/2006/main" noGrp="1"/>
          </p:cNvSpPr>
          <p:nvPr/>
        </p:nvSpPr>
        <p:spPr>
          <a:xfrm xmlns:a="http://schemas.openxmlformats.org/drawingml/2006/main">
            <a:off x="895350" y="3876675"/>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Where do I register?</a:t>
            </a:r>
          </a:p>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How do I get a BSN or DigiD?</a:t>
            </a:r>
          </a:p>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What should I arrange first?</a:t>
            </a:r>
          </a:p>
        </p:txBody>
      </p:sp>
      <p:sp>
        <p:nvSpPr>
          <p:cNvPr id="9" name="">
            <a:extLst xmlns:a="http://schemas.openxmlformats.org/drawingml/2006/main">
              <a:ext uri="{FF2B5EF4-FFF2-40B4-BE49-F238E27FC236}">
                <a16:creationId xmlns:a16="http://schemas.microsoft.com/office/drawing/2014/main" id="{955A5482-77F2-43D6-9C9D-043D2EB1301E}"/>
              </a:ext>
            </a:extLst>
          </p:cNvPr>
          <p:cNvSpPr>
            <a:spLocks xmlns:a="http://schemas.openxmlformats.org/drawingml/2006/main" noGrp="1"/>
          </p:cNvSpPr>
          <p:nvPr/>
        </p:nvSpPr>
        <p:spPr>
          <a:xfrm xmlns:a="http://schemas.openxmlformats.org/drawingml/2006/main">
            <a:off x="895350" y="52959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76B57"/>
                </a:solidFill>
                <a:latin typeface="Helvetica Neue"/>
                <a:ea typeface="Helvetica Neue"/>
                <a:cs typeface="Helvetica Neue"/>
              </a:defRPr>
            </a:pPr>
            <a:r>
              <a:rPr sz="1275" b="1">
                <a:solidFill>
                  <a:srgbClr val="176B57"/>
                </a:solidFill>
                <a:latin typeface="Helvetica Neue"/>
                <a:ea typeface="Helvetica Neue"/>
                <a:cs typeface="Helvetica Neue"/>
              </a:rPr>
              <a:t>No account or identity number is needed</a:t>
            </a:r>
          </a:p>
        </p:txBody>
      </p:sp>
      <p:sp>
        <p:nvSpPr>
          <p:cNvPr id="10" name="">
            <a:extLst xmlns:a="http://schemas.openxmlformats.org/drawingml/2006/main">
              <a:ext uri="{FF2B5EF4-FFF2-40B4-BE49-F238E27FC236}">
                <a16:creationId xmlns:a16="http://schemas.microsoft.com/office/drawing/2014/main" id="{CBFE61D0-44FB-40E8-8F78-9AA13C8F659A}"/>
              </a:ext>
            </a:extLst>
          </p:cNvPr>
          <p:cNvSpPr>
            <a:spLocks xmlns:a="http://schemas.openxmlformats.org/drawingml/2006/main" noGrp="1"/>
          </p:cNvSpPr>
          <p:nvPr/>
        </p:nvSpPr>
        <p:spPr>
          <a:xfrm xmlns:a="http://schemas.openxmlformats.org/drawingml/2006/main">
            <a:off x="6172200" y="1581150"/>
            <a:ext cx="5086350" cy="4324350"/>
          </a:xfrm>
          <a:prstGeom xmlns:a="http://schemas.openxmlformats.org/drawingml/2006/main" prst="roundRect">
            <a:avLst>
              <a:gd name="adj" fmla="val 3524"/>
            </a:avLst>
          </a:prstGeom>
          <a:solidFill xmlns:a="http://schemas.openxmlformats.org/drawingml/2006/main">
            <a:srgbClr val="FFF0E8"/>
          </a:solidFill>
          <a:ln xmlns:a="http://schemas.openxmlformats.org/drawingml/2006/main" w="9525">
            <a:solidFill>
              <a:srgbClr val="F5C7B2"/>
            </a:solidFill>
            <a:prstDash val="solid"/>
          </a:ln>
        </p:spPr>
      </p:sp>
      <p:sp>
        <p:nvSpPr>
          <p:cNvPr id="11" name="">
            <a:extLst xmlns:a="http://schemas.openxmlformats.org/drawingml/2006/main">
              <a:ext uri="{FF2B5EF4-FFF2-40B4-BE49-F238E27FC236}">
                <a16:creationId xmlns:a16="http://schemas.microsoft.com/office/drawing/2014/main" id="{F04A770B-82C8-409B-9BBF-DCDAB3101567}"/>
              </a:ext>
            </a:extLst>
          </p:cNvPr>
          <p:cNvSpPr>
            <a:spLocks xmlns:a="http://schemas.openxmlformats.org/drawingml/2006/main" noGrp="1"/>
          </p:cNvSpPr>
          <p:nvPr/>
        </p:nvSpPr>
        <p:spPr>
          <a:xfrm xmlns:a="http://schemas.openxmlformats.org/drawingml/2006/main">
            <a:off x="6457950" y="18192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36"/>
          </a:bodyPr>
          <a:lstStyle xmlns:a="http://schemas.openxmlformats.org/drawingml/2006/main"/>
          <a:p xmlns:a="http://schemas.openxmlformats.org/drawingml/2006/main">
            <a:pPr algn="l">
              <a:defRPr sz="1950" b="1">
                <a:solidFill>
                  <a:srgbClr val="F0642B"/>
                </a:solidFill>
                <a:latin typeface="Helvetica Neue"/>
                <a:ea typeface="Helvetica Neue"/>
                <a:cs typeface="Helvetica Neue"/>
              </a:defRPr>
            </a:pPr>
            <a:r>
              <a:rPr sz="1950" b="1">
                <a:solidFill>
                  <a:srgbClr val="F0642B"/>
                </a:solidFill>
                <a:latin typeface="Helvetica Neue"/>
                <a:ea typeface="Helvetica Neue"/>
                <a:cs typeface="Helvetica Neue"/>
              </a:rPr>
              <a:t>Not designed for</a:t>
            </a:r>
          </a:p>
        </p:txBody>
      </p:sp>
      <p:sp>
        <p:nvSpPr>
          <p:cNvPr id="12" name="">
            <a:extLst xmlns:a="http://schemas.openxmlformats.org/drawingml/2006/main">
              <a:ext uri="{FF2B5EF4-FFF2-40B4-BE49-F238E27FC236}">
                <a16:creationId xmlns:a16="http://schemas.microsoft.com/office/drawing/2014/main" id="{A8E44AE9-ACF3-456C-8C0B-044993AAB536}"/>
              </a:ext>
            </a:extLst>
          </p:cNvPr>
          <p:cNvSpPr>
            <a:spLocks xmlns:a="http://schemas.openxmlformats.org/drawingml/2006/main" noGrp="1"/>
          </p:cNvSpPr>
          <p:nvPr/>
        </p:nvSpPr>
        <p:spPr>
          <a:xfrm xmlns:a="http://schemas.openxmlformats.org/drawingml/2006/main">
            <a:off x="6457950" y="2371725"/>
            <a:ext cx="424815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Asylum or residence decisions</a:t>
            </a:r>
          </a:p>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Emergencies</a:t>
            </a:r>
          </a:p>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Legal or medical advice</a:t>
            </a:r>
          </a:p>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Children using it alone</a:t>
            </a:r>
          </a:p>
          <a:p xmlns:a="http://schemas.openxmlformats.org/drawingml/2006/main">
            <a:pPr algn="l">
              <a:defRPr sz="1575"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 Case-specific undocumented status questions</a:t>
            </a:r>
          </a:p>
        </p:txBody>
      </p:sp>
      <p:sp>
        <p:nvSpPr>
          <p:cNvPr id="13" name="">
            <a:extLst xmlns:a="http://schemas.openxmlformats.org/drawingml/2006/main">
              <a:ext uri="{FF2B5EF4-FFF2-40B4-BE49-F238E27FC236}">
                <a16:creationId xmlns:a16="http://schemas.microsoft.com/office/drawing/2014/main" id="{922841B1-DFFE-42BF-A10F-B920E46906A3}"/>
              </a:ext>
            </a:extLst>
          </p:cNvPr>
          <p:cNvSpPr>
            <a:spLocks xmlns:a="http://schemas.openxmlformats.org/drawingml/2006/main" noGrp="1"/>
          </p:cNvSpPr>
          <p:nvPr/>
        </p:nvSpPr>
        <p:spPr>
          <a:xfrm xmlns:a="http://schemas.openxmlformats.org/drawingml/2006/main">
            <a:off x="6457950" y="460057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0642B"/>
                </a:solidFill>
                <a:latin typeface="Helvetica Neue"/>
                <a:ea typeface="Helvetica Neue"/>
                <a:cs typeface="Helvetica Neue"/>
              </a:defRPr>
            </a:pPr>
            <a:r>
              <a:rPr sz="1350" b="1">
                <a:solidFill>
                  <a:srgbClr val="F0642B"/>
                </a:solidFill>
                <a:latin typeface="Helvetica Neue"/>
                <a:ea typeface="Helvetica Neue"/>
                <a:cs typeface="Helvetica Neue"/>
              </a:rPr>
              <a:t>Why narrow the scope?</a:t>
            </a:r>
          </a:p>
        </p:txBody>
      </p:sp>
      <p:sp>
        <p:nvSpPr>
          <p:cNvPr id="14" name="">
            <a:extLst xmlns:a="http://schemas.openxmlformats.org/drawingml/2006/main">
              <a:ext uri="{FF2B5EF4-FFF2-40B4-BE49-F238E27FC236}">
                <a16:creationId xmlns:a16="http://schemas.microsoft.com/office/drawing/2014/main" id="{21219C4D-9143-404E-8363-7CA409315C24}"/>
              </a:ext>
            </a:extLst>
          </p:cNvPr>
          <p:cNvSpPr>
            <a:spLocks xmlns:a="http://schemas.openxmlformats.org/drawingml/2006/main" noGrp="1"/>
          </p:cNvSpPr>
          <p:nvPr/>
        </p:nvSpPr>
        <p:spPr>
          <a:xfrm xmlns:a="http://schemas.openxmlformats.org/drawingml/2006/main">
            <a:off x="6457950" y="4962525"/>
            <a:ext cx="4171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A small source pack is easier to verify and safer to explain.</a:t>
            </a:r>
          </a:p>
        </p:txBody>
      </p:sp>
    </p:spTree>
    <p:extLst>
      <p:ext uri="{BB962C8B-B14F-4D97-AF65-F5344CB8AC3E}">
        <p14:creationId xmlns:p14="http://schemas.microsoft.com/office/powerpoint/2010/main" val="679383959"/>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2C2C37-D85E-415D-B809-73CDAF045A6A}"/>
              </a:ext>
            </a:extLst>
          </p:cNvPr>
          <p:cNvSpPr>
            <a:spLocks xmlns:a="http://schemas.openxmlformats.org/drawingml/2006/main" noGrp="1"/>
          </p:cNvSpPr>
          <p:nvPr/>
        </p:nvSpPr>
        <p:spPr>
          <a:xfrm xmlns:a="http://schemas.openxmlformats.org/drawingml/2006/main">
            <a:off x="609600" y="323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0642B"/>
                </a:solidFill>
                <a:latin typeface="Helvetica Neue"/>
                <a:ea typeface="Helvetica Neue"/>
                <a:cs typeface="Helvetica Neue"/>
              </a:defRPr>
            </a:pPr>
            <a:r>
              <a:rPr sz="1050" b="1">
                <a:solidFill>
                  <a:srgbClr val="F0642B"/>
                </a:solidFill>
                <a:latin typeface="Helvetica Neue"/>
                <a:ea typeface="Helvetica Neue"/>
                <a:cs typeface="Helvetica Neue"/>
              </a:rPr>
              <a:t>SOLUTION DESCRIPTION · 2 POINTS</a:t>
            </a:r>
          </a:p>
        </p:txBody>
      </p:sp>
      <p:sp>
        <p:nvSpPr>
          <p:cNvPr id="2" name="">
            <a:extLst xmlns:a="http://schemas.openxmlformats.org/drawingml/2006/main">
              <a:ext uri="{FF2B5EF4-FFF2-40B4-BE49-F238E27FC236}">
                <a16:creationId xmlns:a16="http://schemas.microsoft.com/office/drawing/2014/main" id="{6FE95FA4-E363-4BAC-883D-A1FD528DE832}"/>
              </a:ext>
            </a:extLst>
          </p:cNvPr>
          <p:cNvSpPr>
            <a:spLocks xmlns:a="http://schemas.openxmlformats.org/drawingml/2006/main" noGrp="1"/>
          </p:cNvSpPr>
          <p:nvPr/>
        </p:nvSpPr>
        <p:spPr>
          <a:xfrm xmlns:a="http://schemas.openxmlformats.org/drawingml/2006/main">
            <a:off x="609600" y="619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The product turns a question into a verified route</a:t>
            </a:r>
          </a:p>
        </p:txBody>
      </p:sp>
      <p:sp>
        <p:nvSpPr>
          <p:cNvPr id="3" name="">
            <a:extLst xmlns:a="http://schemas.openxmlformats.org/drawingml/2006/main">
              <a:ext uri="{FF2B5EF4-FFF2-40B4-BE49-F238E27FC236}">
                <a16:creationId xmlns:a16="http://schemas.microsoft.com/office/drawing/2014/main" id="{CFCC4C29-0DCA-4688-8F1A-05BE1CED924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FD9E6"/>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8be199bca244eb7"/>
          <a:srcRect xmlns:a="http://schemas.openxmlformats.org/drawingml/2006/main" l="0" t="3659" r="0" b="3659"/>
          <a:stretch xmlns:a="http://schemas.openxmlformats.org/drawingml/2006/main">
            <a:fillRect l="0" t="0" r="0" b="0"/>
          </a:stretch>
        </p:blipFill>
        <p:spPr>
          <a:xfrm xmlns:a="http://schemas.openxmlformats.org/drawingml/2006/main">
            <a:off x="514350" y="1581150"/>
            <a:ext cx="7029450" cy="4524375"/>
          </a:xfrm>
          <a:prstGeom xmlns:a="http://schemas.openxmlformats.org/drawingml/2006/main" prst="roundRect">
            <a:avLst>
              <a:gd name="adj" fmla="val 2947"/>
            </a:avLst>
          </a:prstGeom>
        </p:spPr>
      </p:pic>
      <p:sp>
        <p:nvSpPr>
          <p:cNvPr id="5" name="">
            <a:extLst xmlns:a="http://schemas.openxmlformats.org/drawingml/2006/main">
              <a:ext uri="{FF2B5EF4-FFF2-40B4-BE49-F238E27FC236}">
                <a16:creationId xmlns:a16="http://schemas.microsoft.com/office/drawing/2014/main" id="{70A1CED1-4BC2-4825-8B26-411FD6A91C4B}"/>
              </a:ext>
            </a:extLst>
          </p:cNvPr>
          <p:cNvSpPr>
            <a:spLocks xmlns:a="http://schemas.openxmlformats.org/drawingml/2006/main" noGrp="1"/>
          </p:cNvSpPr>
          <p:nvPr/>
        </p:nvSpPr>
        <p:spPr>
          <a:xfrm xmlns:a="http://schemas.openxmlformats.org/drawingml/2006/main">
            <a:off x="7848600" y="1581150"/>
            <a:ext cx="3714750" cy="4524375"/>
          </a:xfrm>
          <a:prstGeom xmlns:a="http://schemas.openxmlformats.org/drawingml/2006/main" prst="roundRect">
            <a:avLst>
              <a:gd name="adj" fmla="val 4103"/>
            </a:avLst>
          </a:prstGeom>
          <a:solidFill xmlns:a="http://schemas.openxmlformats.org/drawingml/2006/main">
            <a:srgbClr val="102A4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65A2CF0-88B5-4487-BE75-77E21227F1EA}"/>
              </a:ext>
            </a:extLst>
          </p:cNvPr>
          <p:cNvSpPr>
            <a:spLocks xmlns:a="http://schemas.openxmlformats.org/drawingml/2006/main" noGrp="1"/>
          </p:cNvSpPr>
          <p:nvPr/>
        </p:nvSpPr>
        <p:spPr>
          <a:xfrm xmlns:a="http://schemas.openxmlformats.org/drawingml/2006/main">
            <a:off x="8134350" y="18288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67"/>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What the user gets</a:t>
            </a:r>
          </a:p>
        </p:txBody>
      </p:sp>
      <p:sp>
        <p:nvSpPr>
          <p:cNvPr id="7" name="">
            <a:extLst xmlns:a="http://schemas.openxmlformats.org/drawingml/2006/main">
              <a:ext uri="{FF2B5EF4-FFF2-40B4-BE49-F238E27FC236}">
                <a16:creationId xmlns:a16="http://schemas.microsoft.com/office/drawing/2014/main" id="{7B07A512-3D84-4617-982B-2BE8D81BCB39}"/>
              </a:ext>
            </a:extLst>
          </p:cNvPr>
          <p:cNvSpPr>
            <a:spLocks xmlns:a="http://schemas.openxmlformats.org/drawingml/2006/main" noGrp="1"/>
          </p:cNvSpPr>
          <p:nvPr/>
        </p:nvSpPr>
        <p:spPr>
          <a:xfrm xmlns:a="http://schemas.openxmlformats.org/drawingml/2006/main">
            <a:off x="8134350" y="24003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78AFFF"/>
                </a:solidFill>
                <a:latin typeface="Helvetica Neue"/>
                <a:ea typeface="Helvetica Neue"/>
                <a:cs typeface="Helvetica Neue"/>
              </a:defRPr>
            </a:pPr>
            <a:r>
              <a:rPr sz="1650" b="1">
                <a:solidFill>
                  <a:srgbClr val="78A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E37E9349-A2DE-4E75-B2C5-6AF3954F99A8}"/>
              </a:ext>
            </a:extLst>
          </p:cNvPr>
          <p:cNvSpPr>
            <a:spLocks xmlns:a="http://schemas.openxmlformats.org/drawingml/2006/main" noGrp="1"/>
          </p:cNvSpPr>
          <p:nvPr/>
        </p:nvSpPr>
        <p:spPr>
          <a:xfrm xmlns:a="http://schemas.openxmlformats.org/drawingml/2006/main">
            <a:off x="8562975" y="2343150"/>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 direct answer in the chosen language</a:t>
            </a:r>
          </a:p>
        </p:txBody>
      </p:sp>
      <p:sp>
        <p:nvSpPr>
          <p:cNvPr id="9" name="">
            <a:extLst xmlns:a="http://schemas.openxmlformats.org/drawingml/2006/main">
              <a:ext uri="{FF2B5EF4-FFF2-40B4-BE49-F238E27FC236}">
                <a16:creationId xmlns:a16="http://schemas.microsoft.com/office/drawing/2014/main" id="{E0DDE6DF-8930-4B6F-982E-6E270E7E842D}"/>
              </a:ext>
            </a:extLst>
          </p:cNvPr>
          <p:cNvSpPr>
            <a:spLocks xmlns:a="http://schemas.openxmlformats.org/drawingml/2006/main" noGrp="1"/>
          </p:cNvSpPr>
          <p:nvPr/>
        </p:nvSpPr>
        <p:spPr>
          <a:xfrm xmlns:a="http://schemas.openxmlformats.org/drawingml/2006/main">
            <a:off x="8134350" y="31337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78AFFF"/>
                </a:solidFill>
                <a:latin typeface="Helvetica Neue"/>
                <a:ea typeface="Helvetica Neue"/>
                <a:cs typeface="Helvetica Neue"/>
              </a:defRPr>
            </a:pPr>
            <a:r>
              <a:rPr sz="1650" b="1">
                <a:solidFill>
                  <a:srgbClr val="78A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88F7CC36-5D11-4400-BB51-CDAC6F3F8A11}"/>
              </a:ext>
            </a:extLst>
          </p:cNvPr>
          <p:cNvSpPr>
            <a:spLocks xmlns:a="http://schemas.openxmlformats.org/drawingml/2006/main" noGrp="1"/>
          </p:cNvSpPr>
          <p:nvPr/>
        </p:nvSpPr>
        <p:spPr>
          <a:xfrm xmlns:a="http://schemas.openxmlformats.org/drawingml/2006/main">
            <a:off x="8562975" y="307657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No more than four ordered steps</a:t>
            </a:r>
          </a:p>
        </p:txBody>
      </p:sp>
      <p:sp>
        <p:nvSpPr>
          <p:cNvPr id="11" name="">
            <a:extLst xmlns:a="http://schemas.openxmlformats.org/drawingml/2006/main">
              <a:ext uri="{FF2B5EF4-FFF2-40B4-BE49-F238E27FC236}">
                <a16:creationId xmlns:a16="http://schemas.microsoft.com/office/drawing/2014/main" id="{046FB030-C132-438E-9339-CB24C119980C}"/>
              </a:ext>
            </a:extLst>
          </p:cNvPr>
          <p:cNvSpPr>
            <a:spLocks xmlns:a="http://schemas.openxmlformats.org/drawingml/2006/main" noGrp="1"/>
          </p:cNvSpPr>
          <p:nvPr/>
        </p:nvSpPr>
        <p:spPr>
          <a:xfrm xmlns:a="http://schemas.openxmlformats.org/drawingml/2006/main">
            <a:off x="8134350" y="38671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78AFFF"/>
                </a:solidFill>
                <a:latin typeface="Helvetica Neue"/>
                <a:ea typeface="Helvetica Neue"/>
                <a:cs typeface="Helvetica Neue"/>
              </a:defRPr>
            </a:pPr>
            <a:r>
              <a:rPr sz="1650" b="1">
                <a:solidFill>
                  <a:srgbClr val="78AFFF"/>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7210E6AE-9F60-4F03-A66A-5B8EAE7FDC8D}"/>
              </a:ext>
            </a:extLst>
          </p:cNvPr>
          <p:cNvSpPr>
            <a:spLocks xmlns:a="http://schemas.openxmlformats.org/drawingml/2006/main" noGrp="1"/>
          </p:cNvSpPr>
          <p:nvPr/>
        </p:nvSpPr>
        <p:spPr>
          <a:xfrm xmlns:a="http://schemas.openxmlformats.org/drawingml/2006/main">
            <a:off x="8562975" y="3810000"/>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432"/>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Official links remain visible</a:t>
            </a:r>
          </a:p>
        </p:txBody>
      </p:sp>
      <p:sp>
        <p:nvSpPr>
          <p:cNvPr id="13" name="">
            <a:extLst xmlns:a="http://schemas.openxmlformats.org/drawingml/2006/main">
              <a:ext uri="{FF2B5EF4-FFF2-40B4-BE49-F238E27FC236}">
                <a16:creationId xmlns:a16="http://schemas.microsoft.com/office/drawing/2014/main" id="{30B6256E-CB45-4D28-82EA-CF0D10DAF8DB}"/>
              </a:ext>
            </a:extLst>
          </p:cNvPr>
          <p:cNvSpPr>
            <a:spLocks xmlns:a="http://schemas.openxmlformats.org/drawingml/2006/main" noGrp="1"/>
          </p:cNvSpPr>
          <p:nvPr/>
        </p:nvSpPr>
        <p:spPr>
          <a:xfrm xmlns:a="http://schemas.openxmlformats.org/drawingml/2006/main">
            <a:off x="8134350" y="46005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78AFFF"/>
                </a:solidFill>
                <a:latin typeface="Helvetica Neue"/>
                <a:ea typeface="Helvetica Neue"/>
                <a:cs typeface="Helvetica Neue"/>
              </a:defRPr>
            </a:pPr>
            <a:r>
              <a:rPr sz="1650" b="1">
                <a:solidFill>
                  <a:srgbClr val="78A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CC875E46-8597-48AF-9B92-AAE1714B5436}"/>
              </a:ext>
            </a:extLst>
          </p:cNvPr>
          <p:cNvSpPr>
            <a:spLocks xmlns:a="http://schemas.openxmlformats.org/drawingml/2006/main" noGrp="1"/>
          </p:cNvSpPr>
          <p:nvPr/>
        </p:nvSpPr>
        <p:spPr>
          <a:xfrm xmlns:a="http://schemas.openxmlformats.org/drawingml/2006/main">
            <a:off x="8562975" y="4486275"/>
            <a:ext cx="2590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Warnings and human handoff when risk is high</a:t>
            </a:r>
          </a:p>
        </p:txBody>
      </p:sp>
      <p:sp>
        <p:nvSpPr>
          <p:cNvPr id="15" name="">
            <a:extLst xmlns:a="http://schemas.openxmlformats.org/drawingml/2006/main">
              <a:ext uri="{FF2B5EF4-FFF2-40B4-BE49-F238E27FC236}">
                <a16:creationId xmlns:a16="http://schemas.microsoft.com/office/drawing/2014/main" id="{239D052F-A5AF-41A8-83E1-F8653EF7F11D}"/>
              </a:ext>
            </a:extLst>
          </p:cNvPr>
          <p:cNvSpPr>
            <a:spLocks xmlns:a="http://schemas.openxmlformats.org/drawingml/2006/main" noGrp="1"/>
          </p:cNvSpPr>
          <p:nvPr/>
        </p:nvSpPr>
        <p:spPr>
          <a:xfrm xmlns:a="http://schemas.openxmlformats.org/drawingml/2006/main">
            <a:off x="8134350" y="54959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12"/>
          </a:bodyPr>
          <a:lstStyle xmlns:a="http://schemas.openxmlformats.org/drawingml/2006/main"/>
          <a:p xmlns:a="http://schemas.openxmlformats.org/drawingml/2006/main">
            <a:pPr algn="l">
              <a:defRPr sz="1275" b="0">
                <a:solidFill>
                  <a:srgbClr val="C8D8E8"/>
                </a:solidFill>
                <a:latin typeface="Helvetica Neue"/>
                <a:ea typeface="Helvetica Neue"/>
                <a:cs typeface="Helvetica Neue"/>
              </a:defRPr>
            </a:pPr>
            <a:r>
              <a:rPr sz="1275" b="0">
                <a:solidFill>
                  <a:srgbClr val="C8D8E8"/>
                </a:solidFill>
                <a:latin typeface="Helvetica Neue"/>
                <a:ea typeface="Helvetica Neue"/>
                <a:cs typeface="Helvetica Neue"/>
              </a:rPr>
              <a:t>The AI explains. It does not make eligibility decisions.</a:t>
            </a:r>
          </a:p>
        </p:txBody>
      </p:sp>
    </p:spTree>
    <p:extLst>
      <p:ext uri="{BB962C8B-B14F-4D97-AF65-F5344CB8AC3E}">
        <p14:creationId xmlns:p14="http://schemas.microsoft.com/office/powerpoint/2010/main" val="95353310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C4D806D-830B-4AAC-B8BD-E3EDFABA7FCA}"/>
              </a:ext>
            </a:extLst>
          </p:cNvPr>
          <p:cNvSpPr>
            <a:spLocks xmlns:a="http://schemas.openxmlformats.org/drawingml/2006/main" noGrp="1"/>
          </p:cNvSpPr>
          <p:nvPr/>
        </p:nvSpPr>
        <p:spPr>
          <a:xfrm xmlns:a="http://schemas.openxmlformats.org/drawingml/2006/main">
            <a:off x="609600" y="323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0642B"/>
                </a:solidFill>
                <a:latin typeface="Helvetica Neue"/>
                <a:ea typeface="Helvetica Neue"/>
                <a:cs typeface="Helvetica Neue"/>
              </a:defRPr>
            </a:pPr>
            <a:r>
              <a:rPr sz="1050" b="1">
                <a:solidFill>
                  <a:srgbClr val="F0642B"/>
                </a:solidFill>
                <a:latin typeface="Helvetica Neue"/>
                <a:ea typeface="Helvetica Neue"/>
                <a:cs typeface="Helvetica Neue"/>
              </a:rPr>
              <a:t>ACTUAL CODE FROM ASSISTANT.PY</a:t>
            </a:r>
          </a:p>
        </p:txBody>
      </p:sp>
      <p:sp>
        <p:nvSpPr>
          <p:cNvPr id="2" name="">
            <a:extLst xmlns:a="http://schemas.openxmlformats.org/drawingml/2006/main">
              <a:ext uri="{FF2B5EF4-FFF2-40B4-BE49-F238E27FC236}">
                <a16:creationId xmlns:a16="http://schemas.microsoft.com/office/drawing/2014/main" id="{8AF42746-832D-4FFB-B39D-F281AF47CD11}"/>
              </a:ext>
            </a:extLst>
          </p:cNvPr>
          <p:cNvSpPr>
            <a:spLocks xmlns:a="http://schemas.openxmlformats.org/drawingml/2006/main" noGrp="1"/>
          </p:cNvSpPr>
          <p:nvPr/>
        </p:nvSpPr>
        <p:spPr>
          <a:xfrm xmlns:a="http://schemas.openxmlformats.org/drawingml/2006/main">
            <a:off x="609600" y="619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The Gemini API call in Python</a:t>
            </a:r>
          </a:p>
        </p:txBody>
      </p:sp>
      <p:sp>
        <p:nvSpPr>
          <p:cNvPr id="3" name="">
            <a:extLst xmlns:a="http://schemas.openxmlformats.org/drawingml/2006/main">
              <a:ext uri="{FF2B5EF4-FFF2-40B4-BE49-F238E27FC236}">
                <a16:creationId xmlns:a16="http://schemas.microsoft.com/office/drawing/2014/main" id="{179491D9-37FB-4774-9C08-F9775E18B4C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FD9E6"/>
            </a:solidFill>
            <a:prstDash val="solid"/>
          </a:ln>
        </p:spPr>
      </p:sp>
      <p:sp>
        <p:nvSpPr>
          <p:cNvPr id="4" name="">
            <a:extLst xmlns:a="http://schemas.openxmlformats.org/drawingml/2006/main">
              <a:ext uri="{FF2B5EF4-FFF2-40B4-BE49-F238E27FC236}">
                <a16:creationId xmlns:a16="http://schemas.microsoft.com/office/drawing/2014/main" id="{F2E53206-FED6-42DA-AC5B-CD19DEDFA68A}"/>
              </a:ext>
            </a:extLst>
          </p:cNvPr>
          <p:cNvSpPr>
            <a:spLocks xmlns:a="http://schemas.openxmlformats.org/drawingml/2006/main" noGrp="1"/>
          </p:cNvSpPr>
          <p:nvPr/>
        </p:nvSpPr>
        <p:spPr>
          <a:xfrm xmlns:a="http://schemas.openxmlformats.org/drawingml/2006/main">
            <a:off x="609600" y="14382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63788E"/>
                </a:solidFill>
                <a:latin typeface="Helvetica Neue"/>
                <a:ea typeface="Helvetica Neue"/>
                <a:cs typeface="Helvetica Neue"/>
              </a:defRPr>
            </a:pPr>
            <a:r>
              <a:rPr sz="1575" b="0">
                <a:solidFill>
                  <a:srgbClr val="63788E"/>
                </a:solidFill>
                <a:latin typeface="Helvetica Neue"/>
                <a:ea typeface="Helvetica Neue"/>
                <a:cs typeface="Helvetica Neue"/>
              </a:rPr>
              <a:t>Python creates the client, defines a strict response format and sends one request.</a:t>
            </a:r>
          </a:p>
        </p:txBody>
      </p:sp>
      <p:sp>
        <p:nvSpPr>
          <p:cNvPr id="5" name="">
            <a:extLst xmlns:a="http://schemas.openxmlformats.org/drawingml/2006/main">
              <a:ext uri="{FF2B5EF4-FFF2-40B4-BE49-F238E27FC236}">
                <a16:creationId xmlns:a16="http://schemas.microsoft.com/office/drawing/2014/main" id="{02101BEF-9FC5-46DB-B753-ADE68C58B866}"/>
              </a:ext>
            </a:extLst>
          </p:cNvPr>
          <p:cNvSpPr>
            <a:spLocks xmlns:a="http://schemas.openxmlformats.org/drawingml/2006/main" noGrp="1"/>
          </p:cNvSpPr>
          <p:nvPr/>
        </p:nvSpPr>
        <p:spPr>
          <a:xfrm xmlns:a="http://schemas.openxmlformats.org/drawingml/2006/main">
            <a:off x="552450" y="2019300"/>
            <a:ext cx="6953250" cy="4124325"/>
          </a:xfrm>
          <a:prstGeom xmlns:a="http://schemas.openxmlformats.org/drawingml/2006/main" prst="roundRect">
            <a:avLst>
              <a:gd name="adj" fmla="val 3233"/>
            </a:avLst>
          </a:prstGeom>
          <a:solidFill xmlns:a="http://schemas.openxmlformats.org/drawingml/2006/main">
            <a:srgbClr val="102A4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443EAE-218B-444C-BF16-AA30B73DF905}"/>
              </a:ext>
            </a:extLst>
          </p:cNvPr>
          <p:cNvSpPr>
            <a:spLocks xmlns:a="http://schemas.openxmlformats.org/drawingml/2006/main" noGrp="1"/>
          </p:cNvSpPr>
          <p:nvPr/>
        </p:nvSpPr>
        <p:spPr>
          <a:xfrm xmlns:a="http://schemas.openxmlformats.org/drawingml/2006/main">
            <a:off x="800100" y="2209800"/>
            <a:ext cx="6457950" cy="3724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api_client = client or genai.Client(</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api_key=os.getenv("GEMINI_API_KEY")</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a:t>
            </a:r>
          </a:p>
          <a:p xmlns:a="http://schemas.openxmlformats.org/drawingml/2006/main">
            <a:r>
              <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config = types.GenerateContentConfig(</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system_instruction=SYSTEM_INSTRUCTIONS,</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response_mime_type="application/json",</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response_schema=GEMINI_RESPONSE_SCHEMA,</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max_output_tokens=700,</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temperature=0.2,</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a:t>
            </a:r>
          </a:p>
          <a:p xmlns:a="http://schemas.openxmlformats.org/drawingml/2006/main">
            <a:r>
              <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response = api_client.models.generate_content(</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model=model,</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contents=user_context,</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    config=config,</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a:t>
            </a:r>
          </a:p>
          <a:p xmlns:a="http://schemas.openxmlformats.org/drawingml/2006/main">
            <a:pPr>
              <a:defRPr sz="1200">
                <a:solidFill>
                  <a:srgbClr val="E8F0F7"/>
                </a:solidFill>
                <a:latin typeface="Menlo"/>
                <a:ea typeface="Menlo"/>
                <a:cs typeface="Menlo"/>
              </a:defRPr>
            </a:pPr>
            <a:r>
              <a:rPr sz="1200">
                <a:solidFill>
                  <a:srgbClr val="E8F0F7"/>
                </a:solidFill>
                <a:latin typeface="Menlo"/>
                <a:ea typeface="Menlo"/>
                <a:cs typeface="Menlo"/>
              </a:rPr>
              <a:t>return _parse_answer(response.text, sources)</a:t>
            </a:r>
          </a:p>
        </p:txBody>
      </p:sp>
      <p:sp>
        <p:nvSpPr>
          <p:cNvPr id="7" name="">
            <a:extLst xmlns:a="http://schemas.openxmlformats.org/drawingml/2006/main">
              <a:ext uri="{FF2B5EF4-FFF2-40B4-BE49-F238E27FC236}">
                <a16:creationId xmlns:a16="http://schemas.microsoft.com/office/drawing/2014/main" id="{28FA783C-8429-4F05-8620-A6818554404C}"/>
              </a:ext>
            </a:extLst>
          </p:cNvPr>
          <p:cNvSpPr>
            <a:spLocks xmlns:a="http://schemas.openxmlformats.org/drawingml/2006/main" noGrp="1"/>
          </p:cNvSpPr>
          <p:nvPr/>
        </p:nvSpPr>
        <p:spPr>
          <a:xfrm xmlns:a="http://schemas.openxmlformats.org/drawingml/2006/main">
            <a:off x="7943850" y="20764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69D2"/>
                </a:solidFill>
                <a:latin typeface="Helvetica Neue"/>
                <a:ea typeface="Helvetica Neue"/>
                <a:cs typeface="Helvetica Neue"/>
              </a:defRPr>
            </a:pPr>
            <a:r>
              <a:rPr sz="1500" b="1">
                <a:solidFill>
                  <a:srgbClr val="1769D2"/>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D0A2DD86-D6C9-492B-B73D-D0EC3FAE7D8B}"/>
              </a:ext>
            </a:extLst>
          </p:cNvPr>
          <p:cNvSpPr>
            <a:spLocks xmlns:a="http://schemas.openxmlformats.org/drawingml/2006/main" noGrp="1"/>
          </p:cNvSpPr>
          <p:nvPr/>
        </p:nvSpPr>
        <p:spPr>
          <a:xfrm xmlns:a="http://schemas.openxmlformats.org/drawingml/2006/main">
            <a:off x="8401050" y="20478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Create the client</a:t>
            </a:r>
          </a:p>
        </p:txBody>
      </p:sp>
      <p:sp>
        <p:nvSpPr>
          <p:cNvPr id="9" name="">
            <a:extLst xmlns:a="http://schemas.openxmlformats.org/drawingml/2006/main">
              <a:ext uri="{FF2B5EF4-FFF2-40B4-BE49-F238E27FC236}">
                <a16:creationId xmlns:a16="http://schemas.microsoft.com/office/drawing/2014/main" id="{81FB360C-6BE3-4F14-A60A-AB1B9C3C4142}"/>
              </a:ext>
            </a:extLst>
          </p:cNvPr>
          <p:cNvSpPr>
            <a:spLocks xmlns:a="http://schemas.openxmlformats.org/drawingml/2006/main" noGrp="1"/>
          </p:cNvSpPr>
          <p:nvPr/>
        </p:nvSpPr>
        <p:spPr>
          <a:xfrm xmlns:a="http://schemas.openxmlformats.org/drawingml/2006/main">
            <a:off x="8401050" y="23622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621"/>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Python reads GEMINI_API_KEY from the local .env file. The key never appears in the code or GitHub.</a:t>
            </a:r>
          </a:p>
        </p:txBody>
      </p:sp>
      <p:sp>
        <p:nvSpPr>
          <p:cNvPr id="10" name="">
            <a:extLst xmlns:a="http://schemas.openxmlformats.org/drawingml/2006/main">
              <a:ext uri="{FF2B5EF4-FFF2-40B4-BE49-F238E27FC236}">
                <a16:creationId xmlns:a16="http://schemas.microsoft.com/office/drawing/2014/main" id="{0BF1908A-A157-49C4-9D7B-0FA731BE1B87}"/>
              </a:ext>
            </a:extLst>
          </p:cNvPr>
          <p:cNvSpPr>
            <a:spLocks xmlns:a="http://schemas.openxmlformats.org/drawingml/2006/main" noGrp="1"/>
          </p:cNvSpPr>
          <p:nvPr/>
        </p:nvSpPr>
        <p:spPr>
          <a:xfrm xmlns:a="http://schemas.openxmlformats.org/drawingml/2006/main">
            <a:off x="7943850" y="30670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69D2"/>
                </a:solidFill>
                <a:latin typeface="Helvetica Neue"/>
                <a:ea typeface="Helvetica Neue"/>
                <a:cs typeface="Helvetica Neue"/>
              </a:defRPr>
            </a:pPr>
            <a:r>
              <a:rPr sz="1500" b="1">
                <a:solidFill>
                  <a:srgbClr val="1769D2"/>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917F36ED-3042-4E77-B577-6954362E1CE8}"/>
              </a:ext>
            </a:extLst>
          </p:cNvPr>
          <p:cNvSpPr>
            <a:spLocks xmlns:a="http://schemas.openxmlformats.org/drawingml/2006/main" noGrp="1"/>
          </p:cNvSpPr>
          <p:nvPr/>
        </p:nvSpPr>
        <p:spPr>
          <a:xfrm xmlns:a="http://schemas.openxmlformats.org/drawingml/2006/main">
            <a:off x="8401050" y="30384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Control the output</a:t>
            </a:r>
          </a:p>
        </p:txBody>
      </p:sp>
      <p:sp>
        <p:nvSpPr>
          <p:cNvPr id="12" name="">
            <a:extLst xmlns:a="http://schemas.openxmlformats.org/drawingml/2006/main">
              <a:ext uri="{FF2B5EF4-FFF2-40B4-BE49-F238E27FC236}">
                <a16:creationId xmlns:a16="http://schemas.microsoft.com/office/drawing/2014/main" id="{12D43BC2-C52F-47C2-B48C-113783E58996}"/>
              </a:ext>
            </a:extLst>
          </p:cNvPr>
          <p:cNvSpPr>
            <a:spLocks xmlns:a="http://schemas.openxmlformats.org/drawingml/2006/main" noGrp="1"/>
          </p:cNvSpPr>
          <p:nvPr/>
        </p:nvSpPr>
        <p:spPr>
          <a:xfrm xmlns:a="http://schemas.openxmlformats.org/drawingml/2006/main">
            <a:off x="8401050" y="33528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621"/>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The config asks for JSON that matches our schema. Temperature 0.2 keeps the wording more consistent.</a:t>
            </a:r>
          </a:p>
        </p:txBody>
      </p:sp>
      <p:sp>
        <p:nvSpPr>
          <p:cNvPr id="13" name="">
            <a:extLst xmlns:a="http://schemas.openxmlformats.org/drawingml/2006/main">
              <a:ext uri="{FF2B5EF4-FFF2-40B4-BE49-F238E27FC236}">
                <a16:creationId xmlns:a16="http://schemas.microsoft.com/office/drawing/2014/main" id="{CD42D825-7412-4F7F-A3D9-0797233E8D7E}"/>
              </a:ext>
            </a:extLst>
          </p:cNvPr>
          <p:cNvSpPr>
            <a:spLocks xmlns:a="http://schemas.openxmlformats.org/drawingml/2006/main" noGrp="1"/>
          </p:cNvSpPr>
          <p:nvPr/>
        </p:nvSpPr>
        <p:spPr>
          <a:xfrm xmlns:a="http://schemas.openxmlformats.org/drawingml/2006/main">
            <a:off x="7943850" y="40576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69D2"/>
                </a:solidFill>
                <a:latin typeface="Helvetica Neue"/>
                <a:ea typeface="Helvetica Neue"/>
                <a:cs typeface="Helvetica Neue"/>
              </a:defRPr>
            </a:pPr>
            <a:r>
              <a:rPr sz="1500" b="1">
                <a:solidFill>
                  <a:srgbClr val="1769D2"/>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E7A579EA-8719-4036-B27C-ADDFF83FF5FA}"/>
              </a:ext>
            </a:extLst>
          </p:cNvPr>
          <p:cNvSpPr>
            <a:spLocks xmlns:a="http://schemas.openxmlformats.org/drawingml/2006/main" noGrp="1"/>
          </p:cNvSpPr>
          <p:nvPr/>
        </p:nvSpPr>
        <p:spPr>
          <a:xfrm xmlns:a="http://schemas.openxmlformats.org/drawingml/2006/main">
            <a:off x="8401050" y="40290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Make the API request</a:t>
            </a:r>
          </a:p>
        </p:txBody>
      </p:sp>
      <p:sp>
        <p:nvSpPr>
          <p:cNvPr id="15" name="">
            <a:extLst xmlns:a="http://schemas.openxmlformats.org/drawingml/2006/main">
              <a:ext uri="{FF2B5EF4-FFF2-40B4-BE49-F238E27FC236}">
                <a16:creationId xmlns:a16="http://schemas.microsoft.com/office/drawing/2014/main" id="{3356C2CB-E7D4-4193-8AD3-A694466B6C13}"/>
              </a:ext>
            </a:extLst>
          </p:cNvPr>
          <p:cNvSpPr>
            <a:spLocks xmlns:a="http://schemas.openxmlformats.org/drawingml/2006/main" noGrp="1"/>
          </p:cNvSpPr>
          <p:nvPr/>
        </p:nvSpPr>
        <p:spPr>
          <a:xfrm xmlns:a="http://schemas.openxmlformats.org/drawingml/2006/main">
            <a:off x="8401050" y="43434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621"/>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contents contains the question, chosen language and selected facts from official sources.</a:t>
            </a:r>
          </a:p>
        </p:txBody>
      </p:sp>
      <p:sp>
        <p:nvSpPr>
          <p:cNvPr id="16" name="">
            <a:extLst xmlns:a="http://schemas.openxmlformats.org/drawingml/2006/main">
              <a:ext uri="{FF2B5EF4-FFF2-40B4-BE49-F238E27FC236}">
                <a16:creationId xmlns:a16="http://schemas.microsoft.com/office/drawing/2014/main" id="{AB0E49A4-4C26-4D50-9B17-CB76FFC21172}"/>
              </a:ext>
            </a:extLst>
          </p:cNvPr>
          <p:cNvSpPr>
            <a:spLocks xmlns:a="http://schemas.openxmlformats.org/drawingml/2006/main" noGrp="1"/>
          </p:cNvSpPr>
          <p:nvPr/>
        </p:nvSpPr>
        <p:spPr>
          <a:xfrm xmlns:a="http://schemas.openxmlformats.org/drawingml/2006/main">
            <a:off x="7943850" y="50482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69D2"/>
                </a:solidFill>
                <a:latin typeface="Helvetica Neue"/>
                <a:ea typeface="Helvetica Neue"/>
                <a:cs typeface="Helvetica Neue"/>
              </a:defRPr>
            </a:pPr>
            <a:r>
              <a:rPr sz="1500" b="1">
                <a:solidFill>
                  <a:srgbClr val="1769D2"/>
                </a:solidFill>
                <a:latin typeface="Helvetica Neue"/>
                <a:ea typeface="Helvetica Neue"/>
                <a:cs typeface="Helvetica Neue"/>
              </a:rPr>
              <a:t>4</a:t>
            </a:r>
          </a:p>
        </p:txBody>
      </p:sp>
      <p:sp>
        <p:nvSpPr>
          <p:cNvPr id="17" name="">
            <a:extLst xmlns:a="http://schemas.openxmlformats.org/drawingml/2006/main">
              <a:ext uri="{FF2B5EF4-FFF2-40B4-BE49-F238E27FC236}">
                <a16:creationId xmlns:a16="http://schemas.microsoft.com/office/drawing/2014/main" id="{CEF5BF50-041E-453F-81E7-5065D0D31E69}"/>
              </a:ext>
            </a:extLst>
          </p:cNvPr>
          <p:cNvSpPr>
            <a:spLocks xmlns:a="http://schemas.openxmlformats.org/drawingml/2006/main" noGrp="1"/>
          </p:cNvSpPr>
          <p:nvPr/>
        </p:nvSpPr>
        <p:spPr>
          <a:xfrm xmlns:a="http://schemas.openxmlformats.org/drawingml/2006/main">
            <a:off x="8401050" y="50196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A43"/>
                </a:solidFill>
                <a:latin typeface="Helvetica Neue"/>
                <a:ea typeface="Helvetica Neue"/>
                <a:cs typeface="Helvetica Neue"/>
              </a:defRPr>
            </a:pPr>
            <a:r>
              <a:rPr sz="1575" b="1">
                <a:solidFill>
                  <a:srgbClr val="102A43"/>
                </a:solidFill>
                <a:latin typeface="Helvetica Neue"/>
                <a:ea typeface="Helvetica Neue"/>
                <a:cs typeface="Helvetica Neue"/>
              </a:rPr>
              <a:t>Validate the response</a:t>
            </a:r>
          </a:p>
        </p:txBody>
      </p:sp>
      <p:sp>
        <p:nvSpPr>
          <p:cNvPr id="18" name="">
            <a:extLst xmlns:a="http://schemas.openxmlformats.org/drawingml/2006/main">
              <a:ext uri="{FF2B5EF4-FFF2-40B4-BE49-F238E27FC236}">
                <a16:creationId xmlns:a16="http://schemas.microsoft.com/office/drawing/2014/main" id="{B08DF3CF-834C-43BF-AC85-6E0256B3857A}"/>
              </a:ext>
            </a:extLst>
          </p:cNvPr>
          <p:cNvSpPr>
            <a:spLocks xmlns:a="http://schemas.openxmlformats.org/drawingml/2006/main" noGrp="1"/>
          </p:cNvSpPr>
          <p:nvPr/>
        </p:nvSpPr>
        <p:spPr>
          <a:xfrm xmlns:a="http://schemas.openxmlformats.org/drawingml/2006/main">
            <a:off x="8401050" y="53340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57"/>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_parse_answer checks the fields, step limit, risk level and every cited source ID before display.</a:t>
            </a:r>
          </a:p>
        </p:txBody>
      </p:sp>
    </p:spTree>
    <p:extLst>
      <p:ext uri="{BB962C8B-B14F-4D97-AF65-F5344CB8AC3E}">
        <p14:creationId xmlns:p14="http://schemas.microsoft.com/office/powerpoint/2010/main" val="680481391"/>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6CA8C7A-90A7-4B16-8639-93F4B6BA31C8}"/>
              </a:ext>
            </a:extLst>
          </p:cNvPr>
          <p:cNvSpPr>
            <a:spLocks xmlns:a="http://schemas.openxmlformats.org/drawingml/2006/main" noGrp="1"/>
          </p:cNvSpPr>
          <p:nvPr/>
        </p:nvSpPr>
        <p:spPr>
          <a:xfrm xmlns:a="http://schemas.openxmlformats.org/drawingml/2006/main">
            <a:off x="609600" y="323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0642B"/>
                </a:solidFill>
                <a:latin typeface="Helvetica Neue"/>
                <a:ea typeface="Helvetica Neue"/>
                <a:cs typeface="Helvetica Neue"/>
              </a:defRPr>
            </a:pPr>
            <a:r>
              <a:rPr sz="1050" b="1">
                <a:solidFill>
                  <a:srgbClr val="F0642B"/>
                </a:solidFill>
                <a:latin typeface="Helvetica Neue"/>
                <a:ea typeface="Helvetica Neue"/>
                <a:cs typeface="Helvetica Neue"/>
              </a:rPr>
              <a:t>API EXPLANATION</a:t>
            </a:r>
          </a:p>
        </p:txBody>
      </p:sp>
      <p:sp>
        <p:nvSpPr>
          <p:cNvPr id="2" name="">
            <a:extLst xmlns:a="http://schemas.openxmlformats.org/drawingml/2006/main">
              <a:ext uri="{FF2B5EF4-FFF2-40B4-BE49-F238E27FC236}">
                <a16:creationId xmlns:a16="http://schemas.microsoft.com/office/drawing/2014/main" id="{0A41649B-D144-4EB2-AA34-C71C86ECADBC}"/>
              </a:ext>
            </a:extLst>
          </p:cNvPr>
          <p:cNvSpPr>
            <a:spLocks xmlns:a="http://schemas.openxmlformats.org/drawingml/2006/main" noGrp="1"/>
          </p:cNvSpPr>
          <p:nvPr/>
        </p:nvSpPr>
        <p:spPr>
          <a:xfrm xmlns:a="http://schemas.openxmlformats.org/drawingml/2006/main">
            <a:off x="609600" y="619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What the Python code does</a:t>
            </a:r>
          </a:p>
        </p:txBody>
      </p:sp>
      <p:sp>
        <p:nvSpPr>
          <p:cNvPr id="3" name="">
            <a:extLst xmlns:a="http://schemas.openxmlformats.org/drawingml/2006/main">
              <a:ext uri="{FF2B5EF4-FFF2-40B4-BE49-F238E27FC236}">
                <a16:creationId xmlns:a16="http://schemas.microsoft.com/office/drawing/2014/main" id="{C6913901-C2A1-4EC6-BDA1-4E1F77597B8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FD9E6"/>
            </a:solidFill>
            <a:prstDash val="solid"/>
          </a:ln>
        </p:spPr>
      </p:sp>
      <p:sp>
        <p:nvSpPr>
          <p:cNvPr id="4" name="">
            <a:extLst xmlns:a="http://schemas.openxmlformats.org/drawingml/2006/main">
              <a:ext uri="{FF2B5EF4-FFF2-40B4-BE49-F238E27FC236}">
                <a16:creationId xmlns:a16="http://schemas.microsoft.com/office/drawing/2014/main" id="{77542FFF-30B9-45E8-9614-F0347F52D914}"/>
              </a:ext>
            </a:extLst>
          </p:cNvPr>
          <p:cNvSpPr>
            <a:spLocks xmlns:a="http://schemas.openxmlformats.org/drawingml/2006/main" noGrp="1"/>
          </p:cNvSpPr>
          <p:nvPr/>
        </p:nvSpPr>
        <p:spPr>
          <a:xfrm xmlns:a="http://schemas.openxmlformats.org/drawingml/2006/main">
            <a:off x="609600" y="14382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63788E"/>
                </a:solidFill>
                <a:latin typeface="Helvetica Neue"/>
                <a:ea typeface="Helvetica Neue"/>
                <a:cs typeface="Helvetica Neue"/>
              </a:defRPr>
            </a:pPr>
            <a:r>
              <a:rPr sz="1575" b="0">
                <a:solidFill>
                  <a:srgbClr val="63788E"/>
                </a:solidFill>
                <a:latin typeface="Helvetica Neue"/>
                <a:ea typeface="Helvetica Neue"/>
                <a:cs typeface="Helvetica Neue"/>
              </a:rPr>
              <a:t>One user action triggers one controlled Gemini request, followed by Python validation.</a:t>
            </a:r>
          </a:p>
        </p:txBody>
      </p:sp>
      <p:sp>
        <p:nvSpPr>
          <p:cNvPr id="5" name="">
            <a:extLst xmlns:a="http://schemas.openxmlformats.org/drawingml/2006/main">
              <a:ext uri="{FF2B5EF4-FFF2-40B4-BE49-F238E27FC236}">
                <a16:creationId xmlns:a16="http://schemas.microsoft.com/office/drawing/2014/main" id="{6ED441BB-7A60-4078-B358-2DBB26235B60}"/>
              </a:ext>
            </a:extLst>
          </p:cNvPr>
          <p:cNvSpPr>
            <a:spLocks xmlns:a="http://schemas.openxmlformats.org/drawingml/2006/main" noGrp="1"/>
          </p:cNvSpPr>
          <p:nvPr/>
        </p:nvSpPr>
        <p:spPr>
          <a:xfrm xmlns:a="http://schemas.openxmlformats.org/drawingml/2006/main">
            <a:off x="457200" y="2247900"/>
            <a:ext cx="1981200" cy="25527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FD9E6"/>
            </a:solidFill>
            <a:prstDash val="solid"/>
          </a:ln>
        </p:spPr>
      </p:sp>
      <p:sp>
        <p:nvSpPr>
          <p:cNvPr id="6" name="">
            <a:extLst xmlns:a="http://schemas.openxmlformats.org/drawingml/2006/main">
              <a:ext uri="{FF2B5EF4-FFF2-40B4-BE49-F238E27FC236}">
                <a16:creationId xmlns:a16="http://schemas.microsoft.com/office/drawing/2014/main" id="{2FD821F5-8729-4327-88E0-C97470725591}"/>
              </a:ext>
            </a:extLst>
          </p:cNvPr>
          <p:cNvSpPr>
            <a:spLocks xmlns:a="http://schemas.openxmlformats.org/drawingml/2006/main" noGrp="1"/>
          </p:cNvSpPr>
          <p:nvPr/>
        </p:nvSpPr>
        <p:spPr>
          <a:xfrm xmlns:a="http://schemas.openxmlformats.org/drawingml/2006/main">
            <a:off x="628650" y="2419350"/>
            <a:ext cx="400050" cy="400050"/>
          </a:xfrm>
          <a:prstGeom xmlns:a="http://schemas.openxmlformats.org/drawingml/2006/main" prst="roundRect">
            <a:avLst>
              <a:gd name="adj" fmla="val 50000"/>
            </a:avLst>
          </a:prstGeom>
          <a:solidFill xmlns:a="http://schemas.openxmlformats.org/drawingml/2006/main">
            <a:srgbClr val="1769D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C77DED-9FEC-4E5D-BC0E-2783E63C013F}"/>
              </a:ext>
            </a:extLst>
          </p:cNvPr>
          <p:cNvSpPr>
            <a:spLocks xmlns:a="http://schemas.openxmlformats.org/drawingml/2006/main" noGrp="1"/>
          </p:cNvSpPr>
          <p:nvPr/>
        </p:nvSpPr>
        <p:spPr>
          <a:xfrm xmlns:a="http://schemas.openxmlformats.org/drawingml/2006/main">
            <a:off x="628650" y="2419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4F63CB9E-E1CB-4C60-AC4A-FF98C31CD615}"/>
              </a:ext>
            </a:extLst>
          </p:cNvPr>
          <p:cNvSpPr>
            <a:spLocks xmlns:a="http://schemas.openxmlformats.org/drawingml/2006/main" noGrp="1"/>
          </p:cNvSpPr>
          <p:nvPr/>
        </p:nvSpPr>
        <p:spPr>
          <a:xfrm xmlns:a="http://schemas.openxmlformats.org/drawingml/2006/main">
            <a:off x="628650" y="3000375"/>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Read input</a:t>
            </a:r>
          </a:p>
        </p:txBody>
      </p:sp>
      <p:sp>
        <p:nvSpPr>
          <p:cNvPr id="9" name="">
            <a:extLst xmlns:a="http://schemas.openxmlformats.org/drawingml/2006/main">
              <a:ext uri="{FF2B5EF4-FFF2-40B4-BE49-F238E27FC236}">
                <a16:creationId xmlns:a16="http://schemas.microsoft.com/office/drawing/2014/main" id="{26BE3DC9-F675-4C0A-BE6C-EC65ADF7A6C6}"/>
              </a:ext>
            </a:extLst>
          </p:cNvPr>
          <p:cNvSpPr>
            <a:spLocks xmlns:a="http://schemas.openxmlformats.org/drawingml/2006/main" noGrp="1"/>
          </p:cNvSpPr>
          <p:nvPr/>
        </p:nvSpPr>
        <p:spPr>
          <a:xfrm xmlns:a="http://schemas.openxmlformats.org/drawingml/2006/main">
            <a:off x="628650" y="3419475"/>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0642B"/>
                </a:solidFill>
                <a:latin typeface="Helvetica Neue"/>
                <a:ea typeface="Helvetica Neue"/>
                <a:cs typeface="Helvetica Neue"/>
              </a:defRPr>
            </a:pPr>
            <a:r>
              <a:rPr sz="1125" b="1">
                <a:solidFill>
                  <a:srgbClr val="F0642B"/>
                </a:solidFill>
                <a:latin typeface="Helvetica Neue"/>
                <a:ea typeface="Helvetica Neue"/>
                <a:cs typeface="Helvetica Neue"/>
              </a:rPr>
              <a:t>app.py</a:t>
            </a:r>
          </a:p>
        </p:txBody>
      </p:sp>
      <p:sp>
        <p:nvSpPr>
          <p:cNvPr id="10" name="">
            <a:extLst xmlns:a="http://schemas.openxmlformats.org/drawingml/2006/main">
              <a:ext uri="{FF2B5EF4-FFF2-40B4-BE49-F238E27FC236}">
                <a16:creationId xmlns:a16="http://schemas.microsoft.com/office/drawing/2014/main" id="{12805413-53E6-4C1F-80B1-4782FB1CDFD4}"/>
              </a:ext>
            </a:extLst>
          </p:cNvPr>
          <p:cNvSpPr>
            <a:spLocks xmlns:a="http://schemas.openxmlformats.org/drawingml/2006/main" noGrp="1"/>
          </p:cNvSpPr>
          <p:nvPr/>
        </p:nvSpPr>
        <p:spPr>
          <a:xfrm xmlns:a="http://schemas.openxmlformats.org/drawingml/2006/main">
            <a:off x="628650" y="3829050"/>
            <a:ext cx="1638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Language, stay length, city and question</a:t>
            </a:r>
          </a:p>
        </p:txBody>
      </p:sp>
      <p:sp>
        <p:nvSpPr>
          <p:cNvPr id="11" name="">
            <a:extLst xmlns:a="http://schemas.openxmlformats.org/drawingml/2006/main">
              <a:ext uri="{FF2B5EF4-FFF2-40B4-BE49-F238E27FC236}">
                <a16:creationId xmlns:a16="http://schemas.microsoft.com/office/drawing/2014/main" id="{BC952135-02B3-4668-BD2D-FC8BC8C1FCF0}"/>
              </a:ext>
            </a:extLst>
          </p:cNvPr>
          <p:cNvSpPr>
            <a:spLocks xmlns:a="http://schemas.openxmlformats.org/drawingml/2006/main" noGrp="1"/>
          </p:cNvSpPr>
          <p:nvPr/>
        </p:nvSpPr>
        <p:spPr>
          <a:xfrm xmlns:a="http://schemas.openxmlformats.org/drawingml/2006/main">
            <a:off x="2781300" y="2247900"/>
            <a:ext cx="1981200" cy="25527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FD9E6"/>
            </a:solidFill>
            <a:prstDash val="solid"/>
          </a:ln>
        </p:spPr>
      </p:sp>
      <p:sp>
        <p:nvSpPr>
          <p:cNvPr id="12" name="">
            <a:extLst xmlns:a="http://schemas.openxmlformats.org/drawingml/2006/main">
              <a:ext uri="{FF2B5EF4-FFF2-40B4-BE49-F238E27FC236}">
                <a16:creationId xmlns:a16="http://schemas.microsoft.com/office/drawing/2014/main" id="{FC89C0FF-34E4-4DD2-8EB1-55313FCE653E}"/>
              </a:ext>
            </a:extLst>
          </p:cNvPr>
          <p:cNvSpPr>
            <a:spLocks xmlns:a="http://schemas.openxmlformats.org/drawingml/2006/main" noGrp="1"/>
          </p:cNvSpPr>
          <p:nvPr/>
        </p:nvSpPr>
        <p:spPr>
          <a:xfrm xmlns:a="http://schemas.openxmlformats.org/drawingml/2006/main">
            <a:off x="2952750" y="2419350"/>
            <a:ext cx="400050" cy="400050"/>
          </a:xfrm>
          <a:prstGeom xmlns:a="http://schemas.openxmlformats.org/drawingml/2006/main" prst="roundRect">
            <a:avLst>
              <a:gd name="adj" fmla="val 50000"/>
            </a:avLst>
          </a:prstGeom>
          <a:solidFill xmlns:a="http://schemas.openxmlformats.org/drawingml/2006/main">
            <a:srgbClr val="1769D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96B7E8-4EA0-4012-AE72-2B9A635C0181}"/>
              </a:ext>
            </a:extLst>
          </p:cNvPr>
          <p:cNvSpPr>
            <a:spLocks xmlns:a="http://schemas.openxmlformats.org/drawingml/2006/main" noGrp="1"/>
          </p:cNvSpPr>
          <p:nvPr/>
        </p:nvSpPr>
        <p:spPr>
          <a:xfrm xmlns:a="http://schemas.openxmlformats.org/drawingml/2006/main">
            <a:off x="2952750" y="2419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2DC659B7-846F-4483-84AD-24435D38BF16}"/>
              </a:ext>
            </a:extLst>
          </p:cNvPr>
          <p:cNvSpPr>
            <a:spLocks xmlns:a="http://schemas.openxmlformats.org/drawingml/2006/main" noGrp="1"/>
          </p:cNvSpPr>
          <p:nvPr/>
        </p:nvSpPr>
        <p:spPr>
          <a:xfrm xmlns:a="http://schemas.openxmlformats.org/drawingml/2006/main">
            <a:off x="2952750" y="3000375"/>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Check safety</a:t>
            </a:r>
          </a:p>
        </p:txBody>
      </p:sp>
      <p:sp>
        <p:nvSpPr>
          <p:cNvPr id="15" name="">
            <a:extLst xmlns:a="http://schemas.openxmlformats.org/drawingml/2006/main">
              <a:ext uri="{FF2B5EF4-FFF2-40B4-BE49-F238E27FC236}">
                <a16:creationId xmlns:a16="http://schemas.microsoft.com/office/drawing/2014/main" id="{0DA0BE4B-DD35-47E8-891C-2B495808F5F1}"/>
              </a:ext>
            </a:extLst>
          </p:cNvPr>
          <p:cNvSpPr>
            <a:spLocks xmlns:a="http://schemas.openxmlformats.org/drawingml/2006/main" noGrp="1"/>
          </p:cNvSpPr>
          <p:nvPr/>
        </p:nvSpPr>
        <p:spPr>
          <a:xfrm xmlns:a="http://schemas.openxmlformats.org/drawingml/2006/main">
            <a:off x="2952750" y="3419475"/>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0642B"/>
                </a:solidFill>
                <a:latin typeface="Helvetica Neue"/>
                <a:ea typeface="Helvetica Neue"/>
                <a:cs typeface="Helvetica Neue"/>
              </a:defRPr>
            </a:pPr>
            <a:r>
              <a:rPr sz="1125" b="1">
                <a:solidFill>
                  <a:srgbClr val="F0642B"/>
                </a:solidFill>
                <a:latin typeface="Helvetica Neue"/>
                <a:ea typeface="Helvetica Neue"/>
                <a:cs typeface="Helvetica Neue"/>
              </a:rPr>
              <a:t>safety.py</a:t>
            </a:r>
          </a:p>
        </p:txBody>
      </p:sp>
      <p:sp>
        <p:nvSpPr>
          <p:cNvPr id="16" name="">
            <a:extLst xmlns:a="http://schemas.openxmlformats.org/drawingml/2006/main">
              <a:ext uri="{FF2B5EF4-FFF2-40B4-BE49-F238E27FC236}">
                <a16:creationId xmlns:a16="http://schemas.microsoft.com/office/drawing/2014/main" id="{AB009BFF-1114-43EB-89BB-3FAA8C271ECB}"/>
              </a:ext>
            </a:extLst>
          </p:cNvPr>
          <p:cNvSpPr>
            <a:spLocks xmlns:a="http://schemas.openxmlformats.org/drawingml/2006/main" noGrp="1"/>
          </p:cNvSpPr>
          <p:nvPr/>
        </p:nvSpPr>
        <p:spPr>
          <a:xfrm xmlns:a="http://schemas.openxmlformats.org/drawingml/2006/main">
            <a:off x="2952750" y="3829050"/>
            <a:ext cx="1638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Blocks identity numbers and emergency queries</a:t>
            </a:r>
          </a:p>
        </p:txBody>
      </p:sp>
      <p:sp>
        <p:nvSpPr>
          <p:cNvPr id="17" name="">
            <a:extLst xmlns:a="http://schemas.openxmlformats.org/drawingml/2006/main">
              <a:ext uri="{FF2B5EF4-FFF2-40B4-BE49-F238E27FC236}">
                <a16:creationId xmlns:a16="http://schemas.microsoft.com/office/drawing/2014/main" id="{EAB0907D-5AFC-40D3-9106-6DBE523FAFF0}"/>
              </a:ext>
            </a:extLst>
          </p:cNvPr>
          <p:cNvSpPr>
            <a:spLocks xmlns:a="http://schemas.openxmlformats.org/drawingml/2006/main" noGrp="1"/>
          </p:cNvSpPr>
          <p:nvPr/>
        </p:nvSpPr>
        <p:spPr>
          <a:xfrm xmlns:a="http://schemas.openxmlformats.org/drawingml/2006/main">
            <a:off x="5105400" y="2247900"/>
            <a:ext cx="1981200" cy="25527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FD9E6"/>
            </a:solidFill>
            <a:prstDash val="solid"/>
          </a:ln>
        </p:spPr>
      </p:sp>
      <p:sp>
        <p:nvSpPr>
          <p:cNvPr id="18" name="">
            <a:extLst xmlns:a="http://schemas.openxmlformats.org/drawingml/2006/main">
              <a:ext uri="{FF2B5EF4-FFF2-40B4-BE49-F238E27FC236}">
                <a16:creationId xmlns:a16="http://schemas.microsoft.com/office/drawing/2014/main" id="{554D6EDE-DAC5-40D4-929D-408BFFDE06A6}"/>
              </a:ext>
            </a:extLst>
          </p:cNvPr>
          <p:cNvSpPr>
            <a:spLocks xmlns:a="http://schemas.openxmlformats.org/drawingml/2006/main" noGrp="1"/>
          </p:cNvSpPr>
          <p:nvPr/>
        </p:nvSpPr>
        <p:spPr>
          <a:xfrm xmlns:a="http://schemas.openxmlformats.org/drawingml/2006/main">
            <a:off x="5276850" y="2419350"/>
            <a:ext cx="400050" cy="400050"/>
          </a:xfrm>
          <a:prstGeom xmlns:a="http://schemas.openxmlformats.org/drawingml/2006/main" prst="roundRect">
            <a:avLst>
              <a:gd name="adj" fmla="val 50000"/>
            </a:avLst>
          </a:prstGeom>
          <a:solidFill xmlns:a="http://schemas.openxmlformats.org/drawingml/2006/main">
            <a:srgbClr val="1769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109C4F-652B-450F-B68F-7F9F36FBF3F1}"/>
              </a:ext>
            </a:extLst>
          </p:cNvPr>
          <p:cNvSpPr>
            <a:spLocks xmlns:a="http://schemas.openxmlformats.org/drawingml/2006/main" noGrp="1"/>
          </p:cNvSpPr>
          <p:nvPr/>
        </p:nvSpPr>
        <p:spPr>
          <a:xfrm xmlns:a="http://schemas.openxmlformats.org/drawingml/2006/main">
            <a:off x="5276850" y="2419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2E61D152-2F55-49A7-A5C6-386AE8AB057A}"/>
              </a:ext>
            </a:extLst>
          </p:cNvPr>
          <p:cNvSpPr>
            <a:spLocks xmlns:a="http://schemas.openxmlformats.org/drawingml/2006/main" noGrp="1"/>
          </p:cNvSpPr>
          <p:nvPr/>
        </p:nvSpPr>
        <p:spPr>
          <a:xfrm xmlns:a="http://schemas.openxmlformats.org/drawingml/2006/main">
            <a:off x="5276850" y="3000375"/>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Select facts</a:t>
            </a:r>
          </a:p>
        </p:txBody>
      </p:sp>
      <p:sp>
        <p:nvSpPr>
          <p:cNvPr id="21" name="">
            <a:extLst xmlns:a="http://schemas.openxmlformats.org/drawingml/2006/main">
              <a:ext uri="{FF2B5EF4-FFF2-40B4-BE49-F238E27FC236}">
                <a16:creationId xmlns:a16="http://schemas.microsoft.com/office/drawing/2014/main" id="{4C796ACA-F5FB-4293-9C28-0BA5FDA936EF}"/>
              </a:ext>
            </a:extLst>
          </p:cNvPr>
          <p:cNvSpPr>
            <a:spLocks xmlns:a="http://schemas.openxmlformats.org/drawingml/2006/main" noGrp="1"/>
          </p:cNvSpPr>
          <p:nvPr/>
        </p:nvSpPr>
        <p:spPr>
          <a:xfrm xmlns:a="http://schemas.openxmlformats.org/drawingml/2006/main">
            <a:off x="5276850" y="3419475"/>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0642B"/>
                </a:solidFill>
                <a:latin typeface="Helvetica Neue"/>
                <a:ea typeface="Helvetica Neue"/>
                <a:cs typeface="Helvetica Neue"/>
              </a:defRPr>
            </a:pPr>
            <a:r>
              <a:rPr sz="1125" b="1">
                <a:solidFill>
                  <a:srgbClr val="F0642B"/>
                </a:solidFill>
                <a:latin typeface="Helvetica Neue"/>
                <a:ea typeface="Helvetica Neue"/>
                <a:cs typeface="Helvetica Neue"/>
              </a:rPr>
              <a:t>knowledge_base.py</a:t>
            </a:r>
          </a:p>
        </p:txBody>
      </p:sp>
      <p:sp>
        <p:nvSpPr>
          <p:cNvPr id="22" name="">
            <a:extLst xmlns:a="http://schemas.openxmlformats.org/drawingml/2006/main">
              <a:ext uri="{FF2B5EF4-FFF2-40B4-BE49-F238E27FC236}">
                <a16:creationId xmlns:a16="http://schemas.microsoft.com/office/drawing/2014/main" id="{43C0A266-9EA9-46D0-BDE2-AB1CC172AB95}"/>
              </a:ext>
            </a:extLst>
          </p:cNvPr>
          <p:cNvSpPr>
            <a:spLocks xmlns:a="http://schemas.openxmlformats.org/drawingml/2006/main" noGrp="1"/>
          </p:cNvSpPr>
          <p:nvPr/>
        </p:nvSpPr>
        <p:spPr>
          <a:xfrm xmlns:a="http://schemas.openxmlformats.org/drawingml/2006/main">
            <a:off x="5276850" y="3829050"/>
            <a:ext cx="1638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Chooses relevant official source records</a:t>
            </a:r>
          </a:p>
        </p:txBody>
      </p:sp>
      <p:sp>
        <p:nvSpPr>
          <p:cNvPr id="23" name="">
            <a:extLst xmlns:a="http://schemas.openxmlformats.org/drawingml/2006/main">
              <a:ext uri="{FF2B5EF4-FFF2-40B4-BE49-F238E27FC236}">
                <a16:creationId xmlns:a16="http://schemas.microsoft.com/office/drawing/2014/main" id="{6C22765E-46DC-42F9-9266-11DFAC1FA83B}"/>
              </a:ext>
            </a:extLst>
          </p:cNvPr>
          <p:cNvSpPr>
            <a:spLocks xmlns:a="http://schemas.openxmlformats.org/drawingml/2006/main" noGrp="1"/>
          </p:cNvSpPr>
          <p:nvPr/>
        </p:nvSpPr>
        <p:spPr>
          <a:xfrm xmlns:a="http://schemas.openxmlformats.org/drawingml/2006/main">
            <a:off x="7429500" y="2247900"/>
            <a:ext cx="1981200" cy="25527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FD9E6"/>
            </a:solidFill>
            <a:prstDash val="solid"/>
          </a:ln>
        </p:spPr>
      </p:sp>
      <p:sp>
        <p:nvSpPr>
          <p:cNvPr id="24" name="">
            <a:extLst xmlns:a="http://schemas.openxmlformats.org/drawingml/2006/main">
              <a:ext uri="{FF2B5EF4-FFF2-40B4-BE49-F238E27FC236}">
                <a16:creationId xmlns:a16="http://schemas.microsoft.com/office/drawing/2014/main" id="{D8169FFD-E89A-434E-8C37-AE84583ED286}"/>
              </a:ext>
            </a:extLst>
          </p:cNvPr>
          <p:cNvSpPr>
            <a:spLocks xmlns:a="http://schemas.openxmlformats.org/drawingml/2006/main" noGrp="1"/>
          </p:cNvSpPr>
          <p:nvPr/>
        </p:nvSpPr>
        <p:spPr>
          <a:xfrm xmlns:a="http://schemas.openxmlformats.org/drawingml/2006/main">
            <a:off x="7600950" y="2419350"/>
            <a:ext cx="400050" cy="400050"/>
          </a:xfrm>
          <a:prstGeom xmlns:a="http://schemas.openxmlformats.org/drawingml/2006/main" prst="roundRect">
            <a:avLst>
              <a:gd name="adj" fmla="val 50000"/>
            </a:avLst>
          </a:prstGeom>
          <a:solidFill xmlns:a="http://schemas.openxmlformats.org/drawingml/2006/main">
            <a:srgbClr val="1769D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F205D92-9FC7-4B76-BD94-71E5C945EC97}"/>
              </a:ext>
            </a:extLst>
          </p:cNvPr>
          <p:cNvSpPr>
            <a:spLocks xmlns:a="http://schemas.openxmlformats.org/drawingml/2006/main" noGrp="1"/>
          </p:cNvSpPr>
          <p:nvPr/>
        </p:nvSpPr>
        <p:spPr>
          <a:xfrm xmlns:a="http://schemas.openxmlformats.org/drawingml/2006/main">
            <a:off x="7600950" y="2419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09734781-2D3F-48A5-8AE9-0917308B7E16}"/>
              </a:ext>
            </a:extLst>
          </p:cNvPr>
          <p:cNvSpPr>
            <a:spLocks xmlns:a="http://schemas.openxmlformats.org/drawingml/2006/main" noGrp="1"/>
          </p:cNvSpPr>
          <p:nvPr/>
        </p:nvSpPr>
        <p:spPr>
          <a:xfrm xmlns:a="http://schemas.openxmlformats.org/drawingml/2006/main">
            <a:off x="7600950" y="3000375"/>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Call Gemini</a:t>
            </a:r>
          </a:p>
        </p:txBody>
      </p:sp>
      <p:sp>
        <p:nvSpPr>
          <p:cNvPr id="27" name="">
            <a:extLst xmlns:a="http://schemas.openxmlformats.org/drawingml/2006/main">
              <a:ext uri="{FF2B5EF4-FFF2-40B4-BE49-F238E27FC236}">
                <a16:creationId xmlns:a16="http://schemas.microsoft.com/office/drawing/2014/main" id="{59EA4592-491C-4EF1-A5D2-51990BC1AF1F}"/>
              </a:ext>
            </a:extLst>
          </p:cNvPr>
          <p:cNvSpPr>
            <a:spLocks xmlns:a="http://schemas.openxmlformats.org/drawingml/2006/main" noGrp="1"/>
          </p:cNvSpPr>
          <p:nvPr/>
        </p:nvSpPr>
        <p:spPr>
          <a:xfrm xmlns:a="http://schemas.openxmlformats.org/drawingml/2006/main">
            <a:off x="7600950" y="3419475"/>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0642B"/>
                </a:solidFill>
                <a:latin typeface="Helvetica Neue"/>
                <a:ea typeface="Helvetica Neue"/>
                <a:cs typeface="Helvetica Neue"/>
              </a:defRPr>
            </a:pPr>
            <a:r>
              <a:rPr sz="1125" b="1">
                <a:solidFill>
                  <a:srgbClr val="F0642B"/>
                </a:solidFill>
                <a:latin typeface="Helvetica Neue"/>
                <a:ea typeface="Helvetica Neue"/>
                <a:cs typeface="Helvetica Neue"/>
              </a:rPr>
              <a:t>generate_content()</a:t>
            </a:r>
          </a:p>
        </p:txBody>
      </p:sp>
      <p:sp>
        <p:nvSpPr>
          <p:cNvPr id="28" name="">
            <a:extLst xmlns:a="http://schemas.openxmlformats.org/drawingml/2006/main">
              <a:ext uri="{FF2B5EF4-FFF2-40B4-BE49-F238E27FC236}">
                <a16:creationId xmlns:a16="http://schemas.microsoft.com/office/drawing/2014/main" id="{C29F15F7-8206-4041-92CA-39C13C0E102B}"/>
              </a:ext>
            </a:extLst>
          </p:cNvPr>
          <p:cNvSpPr>
            <a:spLocks xmlns:a="http://schemas.openxmlformats.org/drawingml/2006/main" noGrp="1"/>
          </p:cNvSpPr>
          <p:nvPr/>
        </p:nvSpPr>
        <p:spPr>
          <a:xfrm xmlns:a="http://schemas.openxmlformats.org/drawingml/2006/main">
            <a:off x="7600950" y="3829050"/>
            <a:ext cx="1638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Sends the question, facts and JSON schema</a:t>
            </a:r>
          </a:p>
        </p:txBody>
      </p:sp>
      <p:sp>
        <p:nvSpPr>
          <p:cNvPr id="29" name="">
            <a:extLst xmlns:a="http://schemas.openxmlformats.org/drawingml/2006/main">
              <a:ext uri="{FF2B5EF4-FFF2-40B4-BE49-F238E27FC236}">
                <a16:creationId xmlns:a16="http://schemas.microsoft.com/office/drawing/2014/main" id="{735872E5-73ED-47F9-9F55-746DF41DC22B}"/>
              </a:ext>
            </a:extLst>
          </p:cNvPr>
          <p:cNvSpPr>
            <a:spLocks xmlns:a="http://schemas.openxmlformats.org/drawingml/2006/main" noGrp="1"/>
          </p:cNvSpPr>
          <p:nvPr/>
        </p:nvSpPr>
        <p:spPr>
          <a:xfrm xmlns:a="http://schemas.openxmlformats.org/drawingml/2006/main">
            <a:off x="9753600" y="2247900"/>
            <a:ext cx="1981200" cy="25527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FD9E6"/>
            </a:solidFill>
            <a:prstDash val="solid"/>
          </a:ln>
        </p:spPr>
      </p:sp>
      <p:sp>
        <p:nvSpPr>
          <p:cNvPr id="30" name="">
            <a:extLst xmlns:a="http://schemas.openxmlformats.org/drawingml/2006/main">
              <a:ext uri="{FF2B5EF4-FFF2-40B4-BE49-F238E27FC236}">
                <a16:creationId xmlns:a16="http://schemas.microsoft.com/office/drawing/2014/main" id="{5F448AF3-AC30-4C3B-A1AC-C765BEFD8176}"/>
              </a:ext>
            </a:extLst>
          </p:cNvPr>
          <p:cNvSpPr>
            <a:spLocks xmlns:a="http://schemas.openxmlformats.org/drawingml/2006/main" noGrp="1"/>
          </p:cNvSpPr>
          <p:nvPr/>
        </p:nvSpPr>
        <p:spPr>
          <a:xfrm xmlns:a="http://schemas.openxmlformats.org/drawingml/2006/main">
            <a:off x="9925050" y="2419350"/>
            <a:ext cx="400050" cy="400050"/>
          </a:xfrm>
          <a:prstGeom xmlns:a="http://schemas.openxmlformats.org/drawingml/2006/main" prst="roundRect">
            <a:avLst>
              <a:gd name="adj" fmla="val 50000"/>
            </a:avLst>
          </a:prstGeom>
          <a:solidFill xmlns:a="http://schemas.openxmlformats.org/drawingml/2006/main">
            <a:srgbClr val="1769D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489DF83-D714-4B7D-BE91-3990B88B6BB7}"/>
              </a:ext>
            </a:extLst>
          </p:cNvPr>
          <p:cNvSpPr>
            <a:spLocks xmlns:a="http://schemas.openxmlformats.org/drawingml/2006/main" noGrp="1"/>
          </p:cNvSpPr>
          <p:nvPr/>
        </p:nvSpPr>
        <p:spPr>
          <a:xfrm xmlns:a="http://schemas.openxmlformats.org/drawingml/2006/main">
            <a:off x="9925050" y="2419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5</a:t>
            </a:r>
          </a:p>
        </p:txBody>
      </p:sp>
      <p:sp>
        <p:nvSpPr>
          <p:cNvPr id="32" name="">
            <a:extLst xmlns:a="http://schemas.openxmlformats.org/drawingml/2006/main">
              <a:ext uri="{FF2B5EF4-FFF2-40B4-BE49-F238E27FC236}">
                <a16:creationId xmlns:a16="http://schemas.microsoft.com/office/drawing/2014/main" id="{BABA81F2-4967-47DF-8985-593E50773A5A}"/>
              </a:ext>
            </a:extLst>
          </p:cNvPr>
          <p:cNvSpPr>
            <a:spLocks xmlns:a="http://schemas.openxmlformats.org/drawingml/2006/main" noGrp="1"/>
          </p:cNvSpPr>
          <p:nvPr/>
        </p:nvSpPr>
        <p:spPr>
          <a:xfrm xmlns:a="http://schemas.openxmlformats.org/drawingml/2006/main">
            <a:off x="9925050" y="3000375"/>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Validate</a:t>
            </a:r>
          </a:p>
        </p:txBody>
      </p:sp>
      <p:sp>
        <p:nvSpPr>
          <p:cNvPr id="33" name="">
            <a:extLst xmlns:a="http://schemas.openxmlformats.org/drawingml/2006/main">
              <a:ext uri="{FF2B5EF4-FFF2-40B4-BE49-F238E27FC236}">
                <a16:creationId xmlns:a16="http://schemas.microsoft.com/office/drawing/2014/main" id="{1D74F838-B57B-4F3B-83F3-BE81059E665B}"/>
              </a:ext>
            </a:extLst>
          </p:cNvPr>
          <p:cNvSpPr>
            <a:spLocks xmlns:a="http://schemas.openxmlformats.org/drawingml/2006/main" noGrp="1"/>
          </p:cNvSpPr>
          <p:nvPr/>
        </p:nvSpPr>
        <p:spPr>
          <a:xfrm xmlns:a="http://schemas.openxmlformats.org/drawingml/2006/main">
            <a:off x="9925050" y="3419475"/>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0642B"/>
                </a:solidFill>
                <a:latin typeface="Helvetica Neue"/>
                <a:ea typeface="Helvetica Neue"/>
                <a:cs typeface="Helvetica Neue"/>
              </a:defRPr>
            </a:pPr>
            <a:r>
              <a:rPr sz="1125" b="1">
                <a:solidFill>
                  <a:srgbClr val="F0642B"/>
                </a:solidFill>
                <a:latin typeface="Helvetica Neue"/>
                <a:ea typeface="Helvetica Neue"/>
                <a:cs typeface="Helvetica Neue"/>
              </a:rPr>
              <a:t>assistant.py</a:t>
            </a:r>
          </a:p>
        </p:txBody>
      </p:sp>
      <p:sp>
        <p:nvSpPr>
          <p:cNvPr id="34" name="">
            <a:extLst xmlns:a="http://schemas.openxmlformats.org/drawingml/2006/main">
              <a:ext uri="{FF2B5EF4-FFF2-40B4-BE49-F238E27FC236}">
                <a16:creationId xmlns:a16="http://schemas.microsoft.com/office/drawing/2014/main" id="{670F60E1-75C6-4812-AEB7-E8147B5282D7}"/>
              </a:ext>
            </a:extLst>
          </p:cNvPr>
          <p:cNvSpPr>
            <a:spLocks xmlns:a="http://schemas.openxmlformats.org/drawingml/2006/main" noGrp="1"/>
          </p:cNvSpPr>
          <p:nvPr/>
        </p:nvSpPr>
        <p:spPr>
          <a:xfrm xmlns:a="http://schemas.openxmlformats.org/drawingml/2006/main">
            <a:off x="9925050" y="3829050"/>
            <a:ext cx="1638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324D"/>
                </a:solidFill>
                <a:latin typeface="Helvetica Neue"/>
                <a:ea typeface="Helvetica Neue"/>
                <a:cs typeface="Helvetica Neue"/>
              </a:defRPr>
            </a:pPr>
            <a:r>
              <a:rPr sz="1275" b="0">
                <a:solidFill>
                  <a:srgbClr val="17324D"/>
                </a:solidFill>
                <a:latin typeface="Helvetica Neue"/>
                <a:ea typeface="Helvetica Neue"/>
                <a:cs typeface="Helvetica Neue"/>
              </a:rPr>
              <a:t>Rejects missing fields, extra steps or invented sources</a:t>
            </a:r>
          </a:p>
        </p:txBody>
      </p:sp>
      <p:cxnSp>
        <p:nvCxnSpPr>
          <p:cNvPr id="75" name=""/>
          <p:cNvCxnSpPr>
            <a:stCxn xmlns:a="http://schemas.openxmlformats.org/drawingml/2006/main" id="5" idx="3"/>
            <a:endCxn xmlns:a="http://schemas.openxmlformats.org/drawingml/2006/main" id="11" idx="1"/>
          </p:cNvCxnSpPr>
          <p:nvPr/>
        </p:nvCxnSpPr>
        <p:spPr>
          <a:xfrm xmlns:a="http://schemas.openxmlformats.org/drawingml/2006/main">
            <a:off x="2438400" y="3524250"/>
            <a:ext cx="342900" cy="0"/>
          </a:xfrm>
          <a:prstGeom xmlns:a="http://schemas.openxmlformats.org/drawingml/2006/main" prst="straightConnector1">
            <a:avLst/>
          </a:prstGeom>
          <a:ln xmlns:a="http://schemas.openxmlformats.org/drawingml/2006/main" w="19050">
            <a:solidFill>
              <a:srgbClr val="1769D2"/>
            </a:solidFill>
            <a:prstDash val="solid"/>
          </a:ln>
        </p:spPr>
      </p:cxnSp>
      <p:cxnSp>
        <p:nvCxnSpPr>
          <p:cNvPr id="76" name=""/>
          <p:cNvCxnSpPr>
            <a:stCxn xmlns:a="http://schemas.openxmlformats.org/drawingml/2006/main" id="11" idx="3"/>
            <a:endCxn xmlns:a="http://schemas.openxmlformats.org/drawingml/2006/main" id="17" idx="1"/>
          </p:cNvCxnSpPr>
          <p:nvPr/>
        </p:nvCxnSpPr>
        <p:spPr>
          <a:xfrm xmlns:a="http://schemas.openxmlformats.org/drawingml/2006/main">
            <a:off x="4762500" y="3524250"/>
            <a:ext cx="342900" cy="0"/>
          </a:xfrm>
          <a:prstGeom xmlns:a="http://schemas.openxmlformats.org/drawingml/2006/main" prst="straightConnector1">
            <a:avLst/>
          </a:prstGeom>
          <a:ln xmlns:a="http://schemas.openxmlformats.org/drawingml/2006/main" w="19050">
            <a:solidFill>
              <a:srgbClr val="1769D2"/>
            </a:solidFill>
            <a:prstDash val="solid"/>
          </a:ln>
        </p:spPr>
      </p:cxnSp>
      <p:cxnSp>
        <p:nvCxnSpPr>
          <p:cNvPr id="77" name=""/>
          <p:cNvCxnSpPr>
            <a:stCxn xmlns:a="http://schemas.openxmlformats.org/drawingml/2006/main" id="17" idx="3"/>
            <a:endCxn xmlns:a="http://schemas.openxmlformats.org/drawingml/2006/main" id="23" idx="1"/>
          </p:cNvCxnSpPr>
          <p:nvPr/>
        </p:nvCxnSpPr>
        <p:spPr>
          <a:xfrm xmlns:a="http://schemas.openxmlformats.org/drawingml/2006/main">
            <a:off x="7086600" y="3524250"/>
            <a:ext cx="342900" cy="0"/>
          </a:xfrm>
          <a:prstGeom xmlns:a="http://schemas.openxmlformats.org/drawingml/2006/main" prst="straightConnector1">
            <a:avLst/>
          </a:prstGeom>
          <a:ln xmlns:a="http://schemas.openxmlformats.org/drawingml/2006/main" w="19050">
            <a:solidFill>
              <a:srgbClr val="1769D2"/>
            </a:solidFill>
            <a:prstDash val="solid"/>
          </a:ln>
        </p:spPr>
      </p:cxnSp>
      <p:cxnSp>
        <p:nvCxnSpPr>
          <p:cNvPr id="78" name=""/>
          <p:cNvCxnSpPr>
            <a:stCxn xmlns:a="http://schemas.openxmlformats.org/drawingml/2006/main" id="23" idx="3"/>
            <a:endCxn xmlns:a="http://schemas.openxmlformats.org/drawingml/2006/main" id="29" idx="1"/>
          </p:cNvCxnSpPr>
          <p:nvPr/>
        </p:nvCxnSpPr>
        <p:spPr>
          <a:xfrm xmlns:a="http://schemas.openxmlformats.org/drawingml/2006/main">
            <a:off x="9410700" y="3524250"/>
            <a:ext cx="342900" cy="0"/>
          </a:xfrm>
          <a:prstGeom xmlns:a="http://schemas.openxmlformats.org/drawingml/2006/main" prst="straightConnector1">
            <a:avLst/>
          </a:prstGeom>
          <a:ln xmlns:a="http://schemas.openxmlformats.org/drawingml/2006/main" w="19050">
            <a:solidFill>
              <a:srgbClr val="1769D2"/>
            </a:solidFill>
            <a:prstDash val="solid"/>
          </a:ln>
        </p:spPr>
      </p:cxnSp>
      <p:sp>
        <p:nvSpPr>
          <p:cNvPr id="39" name="">
            <a:extLst xmlns:a="http://schemas.openxmlformats.org/drawingml/2006/main">
              <a:ext uri="{FF2B5EF4-FFF2-40B4-BE49-F238E27FC236}">
                <a16:creationId xmlns:a16="http://schemas.microsoft.com/office/drawing/2014/main" id="{69091303-CCB1-4A47-8BE7-495EEF3DF44E}"/>
              </a:ext>
            </a:extLst>
          </p:cNvPr>
          <p:cNvSpPr>
            <a:spLocks xmlns:a="http://schemas.openxmlformats.org/drawingml/2006/main" noGrp="1"/>
          </p:cNvSpPr>
          <p:nvPr/>
        </p:nvSpPr>
        <p:spPr>
          <a:xfrm xmlns:a="http://schemas.openxmlformats.org/drawingml/2006/main">
            <a:off x="876300" y="5257800"/>
            <a:ext cx="10439400" cy="762000"/>
          </a:xfrm>
          <a:prstGeom xmlns:a="http://schemas.openxmlformats.org/drawingml/2006/main" prst="roundRect">
            <a:avLst>
              <a:gd name="adj" fmla="val 15000"/>
            </a:avLst>
          </a:prstGeom>
          <a:solidFill xmlns:a="http://schemas.openxmlformats.org/drawingml/2006/main">
            <a:srgbClr val="E7F5F0"/>
          </a:solidFill>
          <a:ln xmlns:a="http://schemas.openxmlformats.org/drawingml/2006/main" w="9525">
            <a:solidFill>
              <a:srgbClr val="A9D8C9"/>
            </a:solidFill>
            <a:prstDash val="solid"/>
          </a:ln>
        </p:spPr>
      </p:sp>
      <p:sp>
        <p:nvSpPr>
          <p:cNvPr id="40" name="">
            <a:extLst xmlns:a="http://schemas.openxmlformats.org/drawingml/2006/main">
              <a:ext uri="{FF2B5EF4-FFF2-40B4-BE49-F238E27FC236}">
                <a16:creationId xmlns:a16="http://schemas.microsoft.com/office/drawing/2014/main" id="{773FD68F-85DA-40BB-AFC0-B24B4EE903EA}"/>
              </a:ext>
            </a:extLst>
          </p:cNvPr>
          <p:cNvSpPr>
            <a:spLocks xmlns:a="http://schemas.openxmlformats.org/drawingml/2006/main" noGrp="1"/>
          </p:cNvSpPr>
          <p:nvPr/>
        </p:nvSpPr>
        <p:spPr>
          <a:xfrm xmlns:a="http://schemas.openxmlformats.org/drawingml/2006/main">
            <a:off x="1143000" y="5429250"/>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6B57"/>
                </a:solidFill>
                <a:latin typeface="Helvetica Neue"/>
                <a:ea typeface="Helvetica Neue"/>
                <a:cs typeface="Helvetica Neue"/>
              </a:defRPr>
            </a:pPr>
            <a:r>
              <a:rPr sz="1650" b="1">
                <a:solidFill>
                  <a:srgbClr val="176B57"/>
                </a:solidFill>
                <a:latin typeface="Helvetica Neue"/>
                <a:ea typeface="Helvetica Neue"/>
                <a:cs typeface="Helvetica Neue"/>
              </a:rPr>
              <a:t>If validation fails, the generated answer is hidden and the app shows safe official links instead.</a:t>
            </a:r>
          </a:p>
        </p:txBody>
      </p:sp>
    </p:spTree>
    <p:extLst>
      <p:ext uri="{BB962C8B-B14F-4D97-AF65-F5344CB8AC3E}">
        <p14:creationId xmlns:p14="http://schemas.microsoft.com/office/powerpoint/2010/main" val="793518973"/>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4849934-21A0-421C-8200-88CB81E93CC0}"/>
              </a:ext>
            </a:extLst>
          </p:cNvPr>
          <p:cNvSpPr>
            <a:spLocks xmlns:a="http://schemas.openxmlformats.org/drawingml/2006/main" noGrp="1"/>
          </p:cNvSpPr>
          <p:nvPr/>
        </p:nvSpPr>
        <p:spPr>
          <a:xfrm xmlns:a="http://schemas.openxmlformats.org/drawingml/2006/main">
            <a:off x="609600" y="323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0642B"/>
                </a:solidFill>
                <a:latin typeface="Helvetica Neue"/>
                <a:ea typeface="Helvetica Neue"/>
                <a:cs typeface="Helvetica Neue"/>
              </a:defRPr>
            </a:pPr>
            <a:r>
              <a:rPr sz="1050" b="1">
                <a:solidFill>
                  <a:srgbClr val="F0642B"/>
                </a:solidFill>
                <a:latin typeface="Helvetica Neue"/>
                <a:ea typeface="Helvetica Neue"/>
                <a:cs typeface="Helvetica Neue"/>
              </a:rPr>
              <a:t>WORKING PROTOTYPE · 1 POINT</a:t>
            </a:r>
          </a:p>
        </p:txBody>
      </p:sp>
      <p:sp>
        <p:nvSpPr>
          <p:cNvPr id="2" name="">
            <a:extLst xmlns:a="http://schemas.openxmlformats.org/drawingml/2006/main">
              <a:ext uri="{FF2B5EF4-FFF2-40B4-BE49-F238E27FC236}">
                <a16:creationId xmlns:a16="http://schemas.microsoft.com/office/drawing/2014/main" id="{C88BDA1F-EF7C-4BF8-A8B3-02C5B6E1B213}"/>
              </a:ext>
            </a:extLst>
          </p:cNvPr>
          <p:cNvSpPr>
            <a:spLocks xmlns:a="http://schemas.openxmlformats.org/drawingml/2006/main" noGrp="1"/>
          </p:cNvSpPr>
          <p:nvPr/>
        </p:nvSpPr>
        <p:spPr>
          <a:xfrm xmlns:a="http://schemas.openxmlformats.org/drawingml/2006/main">
            <a:off x="609600" y="619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The prototype works and fails safely</a:t>
            </a:r>
          </a:p>
        </p:txBody>
      </p:sp>
      <p:sp>
        <p:nvSpPr>
          <p:cNvPr id="3" name="">
            <a:extLst xmlns:a="http://schemas.openxmlformats.org/drawingml/2006/main">
              <a:ext uri="{FF2B5EF4-FFF2-40B4-BE49-F238E27FC236}">
                <a16:creationId xmlns:a16="http://schemas.microsoft.com/office/drawing/2014/main" id="{9A8396D4-D6B1-47AF-8A06-11F6503FCD8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FD9E6"/>
            </a:solidFill>
            <a:prstDash val="solid"/>
          </a:ln>
        </p:spPr>
      </p:sp>
      <p:sp>
        <p:nvSpPr>
          <p:cNvPr id="4" name="">
            <a:extLst xmlns:a="http://schemas.openxmlformats.org/drawingml/2006/main">
              <a:ext uri="{FF2B5EF4-FFF2-40B4-BE49-F238E27FC236}">
                <a16:creationId xmlns:a16="http://schemas.microsoft.com/office/drawing/2014/main" id="{E527150E-D030-4EC3-9001-D0650135A0F2}"/>
              </a:ext>
            </a:extLst>
          </p:cNvPr>
          <p:cNvSpPr>
            <a:spLocks xmlns:a="http://schemas.openxmlformats.org/drawingml/2006/main" noGrp="1"/>
          </p:cNvSpPr>
          <p:nvPr/>
        </p:nvSpPr>
        <p:spPr>
          <a:xfrm xmlns:a="http://schemas.openxmlformats.org/drawingml/2006/main">
            <a:off x="609600" y="1581150"/>
            <a:ext cx="3314700" cy="1905000"/>
          </a:xfrm>
          <a:prstGeom xmlns:a="http://schemas.openxmlformats.org/drawingml/2006/main" prst="roundRect">
            <a:avLst>
              <a:gd name="adj" fmla="val 9000"/>
            </a:avLst>
          </a:prstGeom>
          <a:solidFill xmlns:a="http://schemas.openxmlformats.org/drawingml/2006/main">
            <a:srgbClr val="EAF2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01F40A-1BD2-4FD2-8465-B8AF04403FFA}"/>
              </a:ext>
            </a:extLst>
          </p:cNvPr>
          <p:cNvSpPr>
            <a:spLocks xmlns:a="http://schemas.openxmlformats.org/drawingml/2006/main" noGrp="1"/>
          </p:cNvSpPr>
          <p:nvPr/>
        </p:nvSpPr>
        <p:spPr>
          <a:xfrm xmlns:a="http://schemas.openxmlformats.org/drawingml/2006/main">
            <a:off x="876300" y="187642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75" b="1">
                <a:solidFill>
                  <a:srgbClr val="1769D2"/>
                </a:solidFill>
                <a:latin typeface="Helvetica Neue"/>
                <a:ea typeface="Helvetica Neue"/>
                <a:cs typeface="Helvetica Neue"/>
              </a:defRPr>
            </a:pPr>
            <a:r>
              <a:rPr sz="3375" b="1">
                <a:solidFill>
                  <a:srgbClr val="1769D2"/>
                </a:solidFill>
                <a:latin typeface="Helvetica Neue"/>
                <a:ea typeface="Helvetica Neue"/>
                <a:cs typeface="Helvetica Neue"/>
              </a:rPr>
              <a:t>9 / 9</a:t>
            </a:r>
          </a:p>
        </p:txBody>
      </p:sp>
      <p:sp>
        <p:nvSpPr>
          <p:cNvPr id="6" name="">
            <a:extLst xmlns:a="http://schemas.openxmlformats.org/drawingml/2006/main">
              <a:ext uri="{FF2B5EF4-FFF2-40B4-BE49-F238E27FC236}">
                <a16:creationId xmlns:a16="http://schemas.microsoft.com/office/drawing/2014/main" id="{BD1B00E6-864F-4B7F-A30A-6B9282AF17C5}"/>
              </a:ext>
            </a:extLst>
          </p:cNvPr>
          <p:cNvSpPr>
            <a:spLocks xmlns:a="http://schemas.openxmlformats.org/drawingml/2006/main" noGrp="1"/>
          </p:cNvSpPr>
          <p:nvPr/>
        </p:nvSpPr>
        <p:spPr>
          <a:xfrm xmlns:a="http://schemas.openxmlformats.org/drawingml/2006/main">
            <a:off x="876300" y="25717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automated tests passing</a:t>
            </a:r>
          </a:p>
        </p:txBody>
      </p:sp>
      <p:sp>
        <p:nvSpPr>
          <p:cNvPr id="7" name="">
            <a:extLst xmlns:a="http://schemas.openxmlformats.org/drawingml/2006/main">
              <a:ext uri="{FF2B5EF4-FFF2-40B4-BE49-F238E27FC236}">
                <a16:creationId xmlns:a16="http://schemas.microsoft.com/office/drawing/2014/main" id="{87297BAF-D20E-423C-B7D1-F2581C079C72}"/>
              </a:ext>
            </a:extLst>
          </p:cNvPr>
          <p:cNvSpPr>
            <a:spLocks xmlns:a="http://schemas.openxmlformats.org/drawingml/2006/main" noGrp="1"/>
          </p:cNvSpPr>
          <p:nvPr/>
        </p:nvSpPr>
        <p:spPr>
          <a:xfrm xmlns:a="http://schemas.openxmlformats.org/drawingml/2006/main">
            <a:off x="876300" y="3009900"/>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859"/>
          </a:bodyPr>
          <a:lstStyle xmlns:a="http://schemas.openxmlformats.org/drawingml/2006/main"/>
          <a:p xmlns:a="http://schemas.openxmlformats.org/drawingml/2006/main">
            <a:pPr algn="l">
              <a:defRPr sz="1200" b="0">
                <a:solidFill>
                  <a:srgbClr val="63788E"/>
                </a:solidFill>
                <a:latin typeface="Helvetica Neue"/>
                <a:ea typeface="Helvetica Neue"/>
                <a:cs typeface="Helvetica Neue"/>
              </a:defRPr>
            </a:pPr>
            <a:r>
              <a:rPr sz="1200" b="0">
                <a:solidFill>
                  <a:srgbClr val="63788E"/>
                </a:solidFill>
                <a:latin typeface="Helvetica Neue"/>
                <a:ea typeface="Helvetica Neue"/>
                <a:cs typeface="Helvetica Neue"/>
              </a:rPr>
              <a:t>Safety, source selection, parsing and fallback behavior</a:t>
            </a:r>
          </a:p>
        </p:txBody>
      </p:sp>
      <p:sp>
        <p:nvSpPr>
          <p:cNvPr id="8" name="">
            <a:extLst xmlns:a="http://schemas.openxmlformats.org/drawingml/2006/main">
              <a:ext uri="{FF2B5EF4-FFF2-40B4-BE49-F238E27FC236}">
                <a16:creationId xmlns:a16="http://schemas.microsoft.com/office/drawing/2014/main" id="{DBEBF16B-8805-4714-8B08-2835DD557F92}"/>
              </a:ext>
            </a:extLst>
          </p:cNvPr>
          <p:cNvSpPr>
            <a:spLocks xmlns:a="http://schemas.openxmlformats.org/drawingml/2006/main" noGrp="1"/>
          </p:cNvSpPr>
          <p:nvPr/>
        </p:nvSpPr>
        <p:spPr>
          <a:xfrm xmlns:a="http://schemas.openxmlformats.org/drawingml/2006/main">
            <a:off x="4438650" y="1581150"/>
            <a:ext cx="3314700" cy="1905000"/>
          </a:xfrm>
          <a:prstGeom xmlns:a="http://schemas.openxmlformats.org/drawingml/2006/main" prst="roundRect">
            <a:avLst>
              <a:gd name="adj" fmla="val 9000"/>
            </a:avLst>
          </a:prstGeom>
          <a:solidFill xmlns:a="http://schemas.openxmlformats.org/drawingml/2006/main">
            <a:srgbClr val="E7F5F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7DEED9-F979-4A46-80DE-4B4A1B3490F7}"/>
              </a:ext>
            </a:extLst>
          </p:cNvPr>
          <p:cNvSpPr>
            <a:spLocks xmlns:a="http://schemas.openxmlformats.org/drawingml/2006/main" noGrp="1"/>
          </p:cNvSpPr>
          <p:nvPr/>
        </p:nvSpPr>
        <p:spPr>
          <a:xfrm xmlns:a="http://schemas.openxmlformats.org/drawingml/2006/main">
            <a:off x="4705350" y="187642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76B57"/>
                </a:solidFill>
                <a:latin typeface="Helvetica Neue"/>
                <a:ea typeface="Helvetica Neue"/>
                <a:cs typeface="Helvetica Neue"/>
              </a:defRPr>
            </a:pPr>
            <a:r>
              <a:rPr sz="3000" b="1">
                <a:solidFill>
                  <a:srgbClr val="176B57"/>
                </a:solidFill>
                <a:latin typeface="Helvetica Neue"/>
                <a:ea typeface="Helvetica Neue"/>
                <a:cs typeface="Helvetica Neue"/>
              </a:rPr>
              <a:t>LIVE</a:t>
            </a:r>
          </a:p>
        </p:txBody>
      </p:sp>
      <p:sp>
        <p:nvSpPr>
          <p:cNvPr id="10" name="">
            <a:extLst xmlns:a="http://schemas.openxmlformats.org/drawingml/2006/main">
              <a:ext uri="{FF2B5EF4-FFF2-40B4-BE49-F238E27FC236}">
                <a16:creationId xmlns:a16="http://schemas.microsoft.com/office/drawing/2014/main" id="{5FC3D7E8-DF88-4A2D-A5CE-15AD329414EF}"/>
              </a:ext>
            </a:extLst>
          </p:cNvPr>
          <p:cNvSpPr>
            <a:spLocks xmlns:a="http://schemas.openxmlformats.org/drawingml/2006/main" noGrp="1"/>
          </p:cNvSpPr>
          <p:nvPr/>
        </p:nvSpPr>
        <p:spPr>
          <a:xfrm xmlns:a="http://schemas.openxmlformats.org/drawingml/2006/main">
            <a:off x="4705350" y="25717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Gemini API call verified</a:t>
            </a:r>
          </a:p>
        </p:txBody>
      </p:sp>
      <p:sp>
        <p:nvSpPr>
          <p:cNvPr id="11" name="">
            <a:extLst xmlns:a="http://schemas.openxmlformats.org/drawingml/2006/main">
              <a:ext uri="{FF2B5EF4-FFF2-40B4-BE49-F238E27FC236}">
                <a16:creationId xmlns:a16="http://schemas.microsoft.com/office/drawing/2014/main" id="{70CA467D-01BB-4A0D-9533-AD884F4ED3D5}"/>
              </a:ext>
            </a:extLst>
          </p:cNvPr>
          <p:cNvSpPr>
            <a:spLocks xmlns:a="http://schemas.openxmlformats.org/drawingml/2006/main" noGrp="1"/>
          </p:cNvSpPr>
          <p:nvPr/>
        </p:nvSpPr>
        <p:spPr>
          <a:xfrm xmlns:a="http://schemas.openxmlformats.org/drawingml/2006/main">
            <a:off x="4705350" y="3009900"/>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209"/>
          </a:bodyPr>
          <a:lstStyle xmlns:a="http://schemas.openxmlformats.org/drawingml/2006/main"/>
          <a:p xmlns:a="http://schemas.openxmlformats.org/drawingml/2006/main">
            <a:pPr algn="l">
              <a:defRPr sz="1200" b="0">
                <a:solidFill>
                  <a:srgbClr val="63788E"/>
                </a:solidFill>
                <a:latin typeface="Helvetica Neue"/>
                <a:ea typeface="Helvetica Neue"/>
                <a:cs typeface="Helvetica Neue"/>
              </a:defRPr>
            </a:pPr>
            <a:r>
              <a:rPr sz="1200" b="0">
                <a:solidFill>
                  <a:srgbClr val="63788E"/>
                </a:solidFill>
                <a:latin typeface="Helvetica Neue"/>
                <a:ea typeface="Helvetica Neue"/>
                <a:cs typeface="Helvetica Neue"/>
              </a:rPr>
              <a:t>Real answer, ordered steps and official citations</a:t>
            </a:r>
          </a:p>
        </p:txBody>
      </p:sp>
      <p:sp>
        <p:nvSpPr>
          <p:cNvPr id="12" name="">
            <a:extLst xmlns:a="http://schemas.openxmlformats.org/drawingml/2006/main">
              <a:ext uri="{FF2B5EF4-FFF2-40B4-BE49-F238E27FC236}">
                <a16:creationId xmlns:a16="http://schemas.microsoft.com/office/drawing/2014/main" id="{30952871-72BF-48E0-A652-5F6D26D16608}"/>
              </a:ext>
            </a:extLst>
          </p:cNvPr>
          <p:cNvSpPr>
            <a:spLocks xmlns:a="http://schemas.openxmlformats.org/drawingml/2006/main" noGrp="1"/>
          </p:cNvSpPr>
          <p:nvPr/>
        </p:nvSpPr>
        <p:spPr>
          <a:xfrm xmlns:a="http://schemas.openxmlformats.org/drawingml/2006/main">
            <a:off x="8267700" y="1581150"/>
            <a:ext cx="3314700" cy="1905000"/>
          </a:xfrm>
          <a:prstGeom xmlns:a="http://schemas.openxmlformats.org/drawingml/2006/main" prst="roundRect">
            <a:avLst>
              <a:gd name="adj" fmla="val 9000"/>
            </a:avLst>
          </a:prstGeom>
          <a:solidFill xmlns:a="http://schemas.openxmlformats.org/drawingml/2006/main">
            <a:srgbClr val="FFF0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A7EC254-7E5F-4326-B572-6A020E9AB300}"/>
              </a:ext>
            </a:extLst>
          </p:cNvPr>
          <p:cNvSpPr>
            <a:spLocks xmlns:a="http://schemas.openxmlformats.org/drawingml/2006/main" noGrp="1"/>
          </p:cNvSpPr>
          <p:nvPr/>
        </p:nvSpPr>
        <p:spPr>
          <a:xfrm xmlns:a="http://schemas.openxmlformats.org/drawingml/2006/main">
            <a:off x="8534400" y="187642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1">
                <a:solidFill>
                  <a:srgbClr val="F0642B"/>
                </a:solidFill>
                <a:latin typeface="Helvetica Neue"/>
                <a:ea typeface="Helvetica Neue"/>
                <a:cs typeface="Helvetica Neue"/>
              </a:defRPr>
            </a:pPr>
            <a:r>
              <a:rPr sz="2925" b="1">
                <a:solidFill>
                  <a:srgbClr val="F0642B"/>
                </a:solidFill>
                <a:latin typeface="Helvetica Neue"/>
                <a:ea typeface="Helvetica Neue"/>
                <a:cs typeface="Helvetica Neue"/>
              </a:rPr>
              <a:t>2 models</a:t>
            </a:r>
          </a:p>
        </p:txBody>
      </p:sp>
      <p:sp>
        <p:nvSpPr>
          <p:cNvPr id="14" name="">
            <a:extLst xmlns:a="http://schemas.openxmlformats.org/drawingml/2006/main">
              <a:ext uri="{FF2B5EF4-FFF2-40B4-BE49-F238E27FC236}">
                <a16:creationId xmlns:a16="http://schemas.microsoft.com/office/drawing/2014/main" id="{CCE36222-7191-4C2A-A5AA-E0D64C2AAA14}"/>
              </a:ext>
            </a:extLst>
          </p:cNvPr>
          <p:cNvSpPr>
            <a:spLocks xmlns:a="http://schemas.openxmlformats.org/drawingml/2006/main" noGrp="1"/>
          </p:cNvSpPr>
          <p:nvPr/>
        </p:nvSpPr>
        <p:spPr>
          <a:xfrm xmlns:a="http://schemas.openxmlformats.org/drawingml/2006/main">
            <a:off x="8534400" y="25717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233"/>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temporary outage fallback</a:t>
            </a:r>
          </a:p>
        </p:txBody>
      </p:sp>
      <p:sp>
        <p:nvSpPr>
          <p:cNvPr id="15" name="">
            <a:extLst xmlns:a="http://schemas.openxmlformats.org/drawingml/2006/main">
              <a:ext uri="{FF2B5EF4-FFF2-40B4-BE49-F238E27FC236}">
                <a16:creationId xmlns:a16="http://schemas.microsoft.com/office/drawing/2014/main" id="{BB8780DB-C7C6-4363-B43C-EBBDFF3229EA}"/>
              </a:ext>
            </a:extLst>
          </p:cNvPr>
          <p:cNvSpPr>
            <a:spLocks xmlns:a="http://schemas.openxmlformats.org/drawingml/2006/main" noGrp="1"/>
          </p:cNvSpPr>
          <p:nvPr/>
        </p:nvSpPr>
        <p:spPr>
          <a:xfrm xmlns:a="http://schemas.openxmlformats.org/drawingml/2006/main">
            <a:off x="8534400" y="3009900"/>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97"/>
          </a:bodyPr>
          <a:lstStyle xmlns:a="http://schemas.openxmlformats.org/drawingml/2006/main"/>
          <a:p xmlns:a="http://schemas.openxmlformats.org/drawingml/2006/main">
            <a:pPr algn="l">
              <a:defRPr sz="1200" b="0">
                <a:solidFill>
                  <a:srgbClr val="63788E"/>
                </a:solidFill>
                <a:latin typeface="Helvetica Neue"/>
                <a:ea typeface="Helvetica Neue"/>
                <a:cs typeface="Helvetica Neue"/>
              </a:defRPr>
            </a:pPr>
            <a:r>
              <a:rPr sz="1200" b="0">
                <a:solidFill>
                  <a:srgbClr val="63788E"/>
                </a:solidFill>
                <a:latin typeface="Helvetica Neue"/>
                <a:ea typeface="Helvetica Neue"/>
                <a:cs typeface="Helvetica Neue"/>
              </a:rPr>
              <a:t>Primary model retries once with a configured fallback</a:t>
            </a:r>
          </a:p>
        </p:txBody>
      </p:sp>
      <p:sp>
        <p:nvSpPr>
          <p:cNvPr id="16" name="">
            <a:extLst xmlns:a="http://schemas.openxmlformats.org/drawingml/2006/main">
              <a:ext uri="{FF2B5EF4-FFF2-40B4-BE49-F238E27FC236}">
                <a16:creationId xmlns:a16="http://schemas.microsoft.com/office/drawing/2014/main" id="{0A3DE1BE-547D-4894-826C-D95127182485}"/>
              </a:ext>
            </a:extLst>
          </p:cNvPr>
          <p:cNvSpPr>
            <a:spLocks xmlns:a="http://schemas.openxmlformats.org/drawingml/2006/main" noGrp="1"/>
          </p:cNvSpPr>
          <p:nvPr/>
        </p:nvSpPr>
        <p:spPr>
          <a:xfrm xmlns:a="http://schemas.openxmlformats.org/drawingml/2006/main">
            <a:off x="609600" y="3943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67"/>
          </a:bodyPr>
          <a:lstStyle xmlns:a="http://schemas.openxmlformats.org/drawingml/2006/main"/>
          <a:p xmlns:a="http://schemas.openxmlformats.org/drawingml/2006/main">
            <a:pPr algn="l">
              <a:defRPr sz="1875" b="1">
                <a:solidFill>
                  <a:srgbClr val="102A43"/>
                </a:solidFill>
                <a:latin typeface="Helvetica Neue"/>
                <a:ea typeface="Helvetica Neue"/>
                <a:cs typeface="Helvetica Neue"/>
              </a:defRPr>
            </a:pPr>
            <a:r>
              <a:rPr sz="1875" b="1">
                <a:solidFill>
                  <a:srgbClr val="102A43"/>
                </a:solidFill>
                <a:latin typeface="Helvetica Neue"/>
                <a:ea typeface="Helvetica Neue"/>
                <a:cs typeface="Helvetica Neue"/>
              </a:rPr>
              <a:t>Edge cases handled in Python</a:t>
            </a:r>
          </a:p>
        </p:txBody>
      </p:sp>
      <p:sp>
        <p:nvSpPr>
          <p:cNvPr id="17" name="">
            <a:extLst xmlns:a="http://schemas.openxmlformats.org/drawingml/2006/main">
              <a:ext uri="{FF2B5EF4-FFF2-40B4-BE49-F238E27FC236}">
                <a16:creationId xmlns:a16="http://schemas.microsoft.com/office/drawing/2014/main" id="{1EC3FB27-AB7F-49CD-BEF3-85E79BFC29EE}"/>
              </a:ext>
            </a:extLst>
          </p:cNvPr>
          <p:cNvSpPr>
            <a:spLocks xmlns:a="http://schemas.openxmlformats.org/drawingml/2006/main" noGrp="1"/>
          </p:cNvSpPr>
          <p:nvPr/>
        </p:nvSpPr>
        <p:spPr>
          <a:xfrm xmlns:a="http://schemas.openxmlformats.org/drawingml/2006/main">
            <a:off x="762000" y="44672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642B"/>
                </a:solidFill>
                <a:latin typeface="Helvetica Neue"/>
                <a:ea typeface="Helvetica Neue"/>
                <a:cs typeface="Helvetica Neue"/>
              </a:defRPr>
            </a:pPr>
            <a:r>
              <a:rPr sz="1275" b="1">
                <a:solidFill>
                  <a:srgbClr val="F0642B"/>
                </a:solidFill>
                <a:latin typeface="Helvetica Neue"/>
                <a:ea typeface="Helvetica Neue"/>
                <a:cs typeface="Helvetica Neue"/>
              </a:rPr>
              <a:t>Private data</a:t>
            </a:r>
          </a:p>
        </p:txBody>
      </p:sp>
      <p:sp>
        <p:nvSpPr>
          <p:cNvPr id="18" name="">
            <a:extLst xmlns:a="http://schemas.openxmlformats.org/drawingml/2006/main">
              <a:ext uri="{FF2B5EF4-FFF2-40B4-BE49-F238E27FC236}">
                <a16:creationId xmlns:a16="http://schemas.microsoft.com/office/drawing/2014/main" id="{3847BC2A-0E67-4C53-9D89-B55A95C21772}"/>
              </a:ext>
            </a:extLst>
          </p:cNvPr>
          <p:cNvSpPr>
            <a:spLocks xmlns:a="http://schemas.openxmlformats.org/drawingml/2006/main" noGrp="1"/>
          </p:cNvSpPr>
          <p:nvPr/>
        </p:nvSpPr>
        <p:spPr>
          <a:xfrm xmlns:a="http://schemas.openxmlformats.org/drawingml/2006/main">
            <a:off x="2571750" y="44672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Blocks BSN, passport and residence-card patterns</a:t>
            </a:r>
          </a:p>
        </p:txBody>
      </p:sp>
      <p:sp>
        <p:nvSpPr>
          <p:cNvPr id="19" name="">
            <a:extLst xmlns:a="http://schemas.openxmlformats.org/drawingml/2006/main">
              <a:ext uri="{FF2B5EF4-FFF2-40B4-BE49-F238E27FC236}">
                <a16:creationId xmlns:a16="http://schemas.microsoft.com/office/drawing/2014/main" id="{ECC5BE46-B1AF-448B-8DB1-2AB6535A79C8}"/>
              </a:ext>
            </a:extLst>
          </p:cNvPr>
          <p:cNvSpPr>
            <a:spLocks xmlns:a="http://schemas.openxmlformats.org/drawingml/2006/main" noGrp="1"/>
          </p:cNvSpPr>
          <p:nvPr/>
        </p:nvSpPr>
        <p:spPr>
          <a:xfrm xmlns:a="http://schemas.openxmlformats.org/drawingml/2006/main">
            <a:off x="762000" y="4876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642B"/>
                </a:solidFill>
                <a:latin typeface="Helvetica Neue"/>
                <a:ea typeface="Helvetica Neue"/>
                <a:cs typeface="Helvetica Neue"/>
              </a:defRPr>
            </a:pPr>
            <a:r>
              <a:rPr sz="1275" b="1">
                <a:solidFill>
                  <a:srgbClr val="F0642B"/>
                </a:solidFill>
                <a:latin typeface="Helvetica Neue"/>
                <a:ea typeface="Helvetica Neue"/>
                <a:cs typeface="Helvetica Neue"/>
              </a:rPr>
              <a:t>Emergency</a:t>
            </a:r>
          </a:p>
        </p:txBody>
      </p:sp>
      <p:sp>
        <p:nvSpPr>
          <p:cNvPr id="20" name="">
            <a:extLst xmlns:a="http://schemas.openxmlformats.org/drawingml/2006/main">
              <a:ext uri="{FF2B5EF4-FFF2-40B4-BE49-F238E27FC236}">
                <a16:creationId xmlns:a16="http://schemas.microsoft.com/office/drawing/2014/main" id="{BB0B4184-B3FC-41A8-84EF-A3B089A31A8B}"/>
              </a:ext>
            </a:extLst>
          </p:cNvPr>
          <p:cNvSpPr>
            <a:spLocks xmlns:a="http://schemas.openxmlformats.org/drawingml/2006/main" noGrp="1"/>
          </p:cNvSpPr>
          <p:nvPr/>
        </p:nvSpPr>
        <p:spPr>
          <a:xfrm xmlns:a="http://schemas.openxmlformats.org/drawingml/2006/main">
            <a:off x="2571750" y="48768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Stops the AI flow and directs the user to urgent help</a:t>
            </a:r>
          </a:p>
        </p:txBody>
      </p:sp>
      <p:sp>
        <p:nvSpPr>
          <p:cNvPr id="21" name="">
            <a:extLst xmlns:a="http://schemas.openxmlformats.org/drawingml/2006/main">
              <a:ext uri="{FF2B5EF4-FFF2-40B4-BE49-F238E27FC236}">
                <a16:creationId xmlns:a16="http://schemas.microsoft.com/office/drawing/2014/main" id="{A5BAA030-B41A-4B6C-B47B-D6CA033A74EA}"/>
              </a:ext>
            </a:extLst>
          </p:cNvPr>
          <p:cNvSpPr>
            <a:spLocks xmlns:a="http://schemas.openxmlformats.org/drawingml/2006/main" noGrp="1"/>
          </p:cNvSpPr>
          <p:nvPr/>
        </p:nvSpPr>
        <p:spPr>
          <a:xfrm xmlns:a="http://schemas.openxmlformats.org/drawingml/2006/main">
            <a:off x="762000" y="5286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642B"/>
                </a:solidFill>
                <a:latin typeface="Helvetica Neue"/>
                <a:ea typeface="Helvetica Neue"/>
                <a:cs typeface="Helvetica Neue"/>
              </a:defRPr>
            </a:pPr>
            <a:r>
              <a:rPr sz="1275" b="1">
                <a:solidFill>
                  <a:srgbClr val="F0642B"/>
                </a:solidFill>
                <a:latin typeface="Helvetica Neue"/>
                <a:ea typeface="Helvetica Neue"/>
                <a:cs typeface="Helvetica Neue"/>
              </a:rPr>
              <a:t>Bad AI output</a:t>
            </a:r>
          </a:p>
        </p:txBody>
      </p:sp>
      <p:sp>
        <p:nvSpPr>
          <p:cNvPr id="22" name="">
            <a:extLst xmlns:a="http://schemas.openxmlformats.org/drawingml/2006/main">
              <a:ext uri="{FF2B5EF4-FFF2-40B4-BE49-F238E27FC236}">
                <a16:creationId xmlns:a16="http://schemas.microsoft.com/office/drawing/2014/main" id="{41E84728-7808-41E4-BDA5-9FCD0AF23EC7}"/>
              </a:ext>
            </a:extLst>
          </p:cNvPr>
          <p:cNvSpPr>
            <a:spLocks xmlns:a="http://schemas.openxmlformats.org/drawingml/2006/main" noGrp="1"/>
          </p:cNvSpPr>
          <p:nvPr/>
        </p:nvSpPr>
        <p:spPr>
          <a:xfrm xmlns:a="http://schemas.openxmlformats.org/drawingml/2006/main">
            <a:off x="2571750" y="5286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Rejects invalid JSON, too many steps and invented source IDs</a:t>
            </a:r>
          </a:p>
        </p:txBody>
      </p:sp>
      <p:sp>
        <p:nvSpPr>
          <p:cNvPr id="23" name="">
            <a:extLst xmlns:a="http://schemas.openxmlformats.org/drawingml/2006/main">
              <a:ext uri="{FF2B5EF4-FFF2-40B4-BE49-F238E27FC236}">
                <a16:creationId xmlns:a16="http://schemas.microsoft.com/office/drawing/2014/main" id="{3E6F7012-D6A5-4DA3-9772-F7F4F4884653}"/>
              </a:ext>
            </a:extLst>
          </p:cNvPr>
          <p:cNvSpPr>
            <a:spLocks xmlns:a="http://schemas.openxmlformats.org/drawingml/2006/main" noGrp="1"/>
          </p:cNvSpPr>
          <p:nvPr/>
        </p:nvSpPr>
        <p:spPr>
          <a:xfrm xmlns:a="http://schemas.openxmlformats.org/drawingml/2006/main">
            <a:off x="762000" y="56959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0642B"/>
                </a:solidFill>
                <a:latin typeface="Helvetica Neue"/>
                <a:ea typeface="Helvetica Neue"/>
                <a:cs typeface="Helvetica Neue"/>
              </a:defRPr>
            </a:pPr>
            <a:r>
              <a:rPr sz="1275" b="1">
                <a:solidFill>
                  <a:srgbClr val="F0642B"/>
                </a:solidFill>
                <a:latin typeface="Helvetica Neue"/>
                <a:ea typeface="Helvetica Neue"/>
                <a:cs typeface="Helvetica Neue"/>
              </a:rPr>
              <a:t>API unavailable</a:t>
            </a:r>
          </a:p>
        </p:txBody>
      </p:sp>
      <p:sp>
        <p:nvSpPr>
          <p:cNvPr id="24" name="">
            <a:extLst xmlns:a="http://schemas.openxmlformats.org/drawingml/2006/main">
              <a:ext uri="{FF2B5EF4-FFF2-40B4-BE49-F238E27FC236}">
                <a16:creationId xmlns:a16="http://schemas.microsoft.com/office/drawing/2014/main" id="{A8D3924D-BC85-4F80-8B1C-4B0E48753D27}"/>
              </a:ext>
            </a:extLst>
          </p:cNvPr>
          <p:cNvSpPr>
            <a:spLocks xmlns:a="http://schemas.openxmlformats.org/drawingml/2006/main" noGrp="1"/>
          </p:cNvSpPr>
          <p:nvPr/>
        </p:nvSpPr>
        <p:spPr>
          <a:xfrm xmlns:a="http://schemas.openxmlformats.org/drawingml/2006/main">
            <a:off x="2571750" y="56959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Shows a neutral error and keeps verified official links visible</a:t>
            </a:r>
          </a:p>
        </p:txBody>
      </p:sp>
    </p:spTree>
    <p:extLst>
      <p:ext uri="{BB962C8B-B14F-4D97-AF65-F5344CB8AC3E}">
        <p14:creationId xmlns:p14="http://schemas.microsoft.com/office/powerpoint/2010/main" val="157253405"/>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3FF54E7-209D-4206-BC7B-FC1BA7D0C9B5}"/>
              </a:ext>
            </a:extLst>
          </p:cNvPr>
          <p:cNvSpPr>
            <a:spLocks xmlns:a="http://schemas.openxmlformats.org/drawingml/2006/main" noGrp="1"/>
          </p:cNvSpPr>
          <p:nvPr/>
        </p:nvSpPr>
        <p:spPr>
          <a:xfrm xmlns:a="http://schemas.openxmlformats.org/drawingml/2006/main">
            <a:off x="609600" y="323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0642B"/>
                </a:solidFill>
                <a:latin typeface="Helvetica Neue"/>
                <a:ea typeface="Helvetica Neue"/>
                <a:cs typeface="Helvetica Neue"/>
              </a:defRPr>
            </a:pPr>
            <a:r>
              <a:rPr sz="1050" b="1">
                <a:solidFill>
                  <a:srgbClr val="F0642B"/>
                </a:solidFill>
                <a:latin typeface="Helvetica Neue"/>
                <a:ea typeface="Helvetica Neue"/>
                <a:cs typeface="Helvetica Neue"/>
              </a:rPr>
              <a:t>ETHICAL REFLECTION · 2 POINTS</a:t>
            </a:r>
          </a:p>
        </p:txBody>
      </p:sp>
      <p:sp>
        <p:nvSpPr>
          <p:cNvPr id="2" name="">
            <a:extLst xmlns:a="http://schemas.openxmlformats.org/drawingml/2006/main">
              <a:ext uri="{FF2B5EF4-FFF2-40B4-BE49-F238E27FC236}">
                <a16:creationId xmlns:a16="http://schemas.microsoft.com/office/drawing/2014/main" id="{82DA0545-173D-4A4D-B7E1-7F5C31F5CAE8}"/>
              </a:ext>
            </a:extLst>
          </p:cNvPr>
          <p:cNvSpPr>
            <a:spLocks xmlns:a="http://schemas.openxmlformats.org/drawingml/2006/main" noGrp="1"/>
          </p:cNvSpPr>
          <p:nvPr/>
        </p:nvSpPr>
        <p:spPr>
          <a:xfrm xmlns:a="http://schemas.openxmlformats.org/drawingml/2006/main">
            <a:off x="609600" y="619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The biggest risk is confident wrong guidance</a:t>
            </a:r>
          </a:p>
        </p:txBody>
      </p:sp>
      <p:sp>
        <p:nvSpPr>
          <p:cNvPr id="3" name="">
            <a:extLst xmlns:a="http://schemas.openxmlformats.org/drawingml/2006/main">
              <a:ext uri="{FF2B5EF4-FFF2-40B4-BE49-F238E27FC236}">
                <a16:creationId xmlns:a16="http://schemas.microsoft.com/office/drawing/2014/main" id="{89E8B16E-B838-470D-8BFF-4B2F0A9247D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FD9E6"/>
            </a:solidFill>
            <a:prstDash val="solid"/>
          </a:ln>
        </p:spPr>
      </p:sp>
      <p:sp>
        <p:nvSpPr>
          <p:cNvPr id="4" name="">
            <a:extLst xmlns:a="http://schemas.openxmlformats.org/drawingml/2006/main">
              <a:ext uri="{FF2B5EF4-FFF2-40B4-BE49-F238E27FC236}">
                <a16:creationId xmlns:a16="http://schemas.microsoft.com/office/drawing/2014/main" id="{537C17B7-832E-46D6-AD72-1820791596BB}"/>
              </a:ext>
            </a:extLst>
          </p:cNvPr>
          <p:cNvSpPr>
            <a:spLocks xmlns:a="http://schemas.openxmlformats.org/drawingml/2006/main" noGrp="1"/>
          </p:cNvSpPr>
          <p:nvPr/>
        </p:nvSpPr>
        <p:spPr>
          <a:xfrm xmlns:a="http://schemas.openxmlformats.org/drawingml/2006/main">
            <a:off x="609600" y="1581150"/>
            <a:ext cx="10648950" cy="1066800"/>
          </a:xfrm>
          <a:prstGeom xmlns:a="http://schemas.openxmlformats.org/drawingml/2006/main" prst="roundRect">
            <a:avLst>
              <a:gd name="adj" fmla="val 12500"/>
            </a:avLst>
          </a:prstGeom>
          <a:solidFill xmlns:a="http://schemas.openxmlformats.org/drawingml/2006/main">
            <a:srgbClr val="FDECEC"/>
          </a:solidFill>
          <a:ln xmlns:a="http://schemas.openxmlformats.org/drawingml/2006/main" w="9525">
            <a:solidFill>
              <a:srgbClr val="E7B6B6"/>
            </a:solidFill>
            <a:prstDash val="solid"/>
          </a:ln>
        </p:spPr>
      </p:sp>
      <p:sp>
        <p:nvSpPr>
          <p:cNvPr id="5" name="">
            <a:extLst xmlns:a="http://schemas.openxmlformats.org/drawingml/2006/main">
              <a:ext uri="{FF2B5EF4-FFF2-40B4-BE49-F238E27FC236}">
                <a16:creationId xmlns:a16="http://schemas.microsoft.com/office/drawing/2014/main" id="{A0EF51EC-4C59-46C4-861D-D73B19114C30}"/>
              </a:ext>
            </a:extLst>
          </p:cNvPr>
          <p:cNvSpPr>
            <a:spLocks xmlns:a="http://schemas.openxmlformats.org/drawingml/2006/main" noGrp="1"/>
          </p:cNvSpPr>
          <p:nvPr/>
        </p:nvSpPr>
        <p:spPr>
          <a:xfrm xmlns:a="http://schemas.openxmlformats.org/drawingml/2006/main">
            <a:off x="895350" y="1790700"/>
            <a:ext cx="10077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B33A3A"/>
                </a:solidFill>
                <a:latin typeface="Helvetica Neue"/>
                <a:ea typeface="Helvetica Neue"/>
                <a:cs typeface="Helvetica Neue"/>
              </a:defRPr>
            </a:pPr>
            <a:r>
              <a:rPr sz="1875" b="1">
                <a:solidFill>
                  <a:srgbClr val="B33A3A"/>
                </a:solidFill>
                <a:latin typeface="Helvetica Neue"/>
                <a:ea typeface="Helvetica Neue"/>
                <a:cs typeface="Helvetica Neue"/>
              </a:rPr>
              <a:t>A wrong answer could harm the person least able to verify it, causing a missed deadline, lost access to services or false confidence.</a:t>
            </a:r>
          </a:p>
        </p:txBody>
      </p:sp>
      <p:sp>
        <p:nvSpPr>
          <p:cNvPr id="6" name="">
            <a:extLst xmlns:a="http://schemas.openxmlformats.org/drawingml/2006/main">
              <a:ext uri="{FF2B5EF4-FFF2-40B4-BE49-F238E27FC236}">
                <a16:creationId xmlns:a16="http://schemas.microsoft.com/office/drawing/2014/main" id="{49B80550-42F2-42EE-B70D-E16229C3FC00}"/>
              </a:ext>
            </a:extLst>
          </p:cNvPr>
          <p:cNvSpPr>
            <a:spLocks xmlns:a="http://schemas.openxmlformats.org/drawingml/2006/main" noGrp="1"/>
          </p:cNvSpPr>
          <p:nvPr/>
        </p:nvSpPr>
        <p:spPr>
          <a:xfrm xmlns:a="http://schemas.openxmlformats.org/drawingml/2006/main">
            <a:off x="609600" y="30289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102A43"/>
                </a:solidFill>
                <a:latin typeface="Helvetica Neue"/>
                <a:ea typeface="Helvetica Neue"/>
                <a:cs typeface="Helvetica Neue"/>
              </a:defRPr>
            </a:pPr>
            <a:r>
              <a:rPr sz="1950" b="1">
                <a:solidFill>
                  <a:srgbClr val="102A43"/>
                </a:solidFill>
                <a:latin typeface="Helvetica Neue"/>
                <a:ea typeface="Helvetica Neue"/>
                <a:cs typeface="Helvetica Neue"/>
              </a:rPr>
              <a:t>How we limit that risk</a:t>
            </a:r>
          </a:p>
        </p:txBody>
      </p:sp>
      <p:sp>
        <p:nvSpPr>
          <p:cNvPr id="7" name="">
            <a:extLst xmlns:a="http://schemas.openxmlformats.org/drawingml/2006/main">
              <a:ext uri="{FF2B5EF4-FFF2-40B4-BE49-F238E27FC236}">
                <a16:creationId xmlns:a16="http://schemas.microsoft.com/office/drawing/2014/main" id="{D14866B4-1A4C-421C-A678-10AFE5F5146C}"/>
              </a:ext>
            </a:extLst>
          </p:cNvPr>
          <p:cNvSpPr>
            <a:spLocks xmlns:a="http://schemas.openxmlformats.org/drawingml/2006/main" noGrp="1"/>
          </p:cNvSpPr>
          <p:nvPr/>
        </p:nvSpPr>
        <p:spPr>
          <a:xfrm xmlns:a="http://schemas.openxmlformats.org/drawingml/2006/main">
            <a:off x="609600" y="3533775"/>
            <a:ext cx="228600" cy="228600"/>
          </a:xfrm>
          <a:prstGeom xmlns:a="http://schemas.openxmlformats.org/drawingml/2006/main" prst="roundRect">
            <a:avLst>
              <a:gd name="adj" fmla="val 50000"/>
            </a:avLst>
          </a:prstGeom>
          <a:solidFill xmlns:a="http://schemas.openxmlformats.org/drawingml/2006/main">
            <a:srgbClr val="176B5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65AF63-F535-4C8F-8CDC-760E13A571A4}"/>
              </a:ext>
            </a:extLst>
          </p:cNvPr>
          <p:cNvSpPr>
            <a:spLocks xmlns:a="http://schemas.openxmlformats.org/drawingml/2006/main" noGrp="1"/>
          </p:cNvSpPr>
          <p:nvPr/>
        </p:nvSpPr>
        <p:spPr>
          <a:xfrm xmlns:a="http://schemas.openxmlformats.org/drawingml/2006/main">
            <a:off x="609600" y="3524250"/>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880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7F635EEB-470E-4959-A562-C4F4D7828AC0}"/>
              </a:ext>
            </a:extLst>
          </p:cNvPr>
          <p:cNvSpPr>
            <a:spLocks xmlns:a="http://schemas.openxmlformats.org/drawingml/2006/main" noGrp="1"/>
          </p:cNvSpPr>
          <p:nvPr/>
        </p:nvSpPr>
        <p:spPr>
          <a:xfrm xmlns:a="http://schemas.openxmlformats.org/drawingml/2006/main">
            <a:off x="971550" y="349567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6B57"/>
                </a:solidFill>
                <a:latin typeface="Helvetica Neue"/>
                <a:ea typeface="Helvetica Neue"/>
                <a:cs typeface="Helvetica Neue"/>
              </a:defRPr>
            </a:pPr>
            <a:r>
              <a:rPr sz="1350" b="1">
                <a:solidFill>
                  <a:srgbClr val="176B57"/>
                </a:solidFill>
                <a:latin typeface="Helvetica Neue"/>
                <a:ea typeface="Helvetica Neue"/>
                <a:cs typeface="Helvetica Neue"/>
              </a:rPr>
              <a:t>Curated facts</a:t>
            </a:r>
          </a:p>
        </p:txBody>
      </p:sp>
      <p:sp>
        <p:nvSpPr>
          <p:cNvPr id="10" name="">
            <a:extLst xmlns:a="http://schemas.openxmlformats.org/drawingml/2006/main">
              <a:ext uri="{FF2B5EF4-FFF2-40B4-BE49-F238E27FC236}">
                <a16:creationId xmlns:a16="http://schemas.microsoft.com/office/drawing/2014/main" id="{5DCBF8E2-7F15-4108-A2E8-2286720361C2}"/>
              </a:ext>
            </a:extLst>
          </p:cNvPr>
          <p:cNvSpPr>
            <a:spLocks xmlns:a="http://schemas.openxmlformats.org/drawingml/2006/main" noGrp="1"/>
          </p:cNvSpPr>
          <p:nvPr/>
        </p:nvSpPr>
        <p:spPr>
          <a:xfrm xmlns:a="http://schemas.openxmlformats.org/drawingml/2006/main">
            <a:off x="3048000" y="34956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Gemini receives only selected Government.nl and IND records</a:t>
            </a:r>
          </a:p>
        </p:txBody>
      </p:sp>
      <p:sp>
        <p:nvSpPr>
          <p:cNvPr id="11" name="">
            <a:extLst xmlns:a="http://schemas.openxmlformats.org/drawingml/2006/main">
              <a:ext uri="{FF2B5EF4-FFF2-40B4-BE49-F238E27FC236}">
                <a16:creationId xmlns:a16="http://schemas.microsoft.com/office/drawing/2014/main" id="{8A08F61C-4A86-4A00-B3E4-E0B4A63AA969}"/>
              </a:ext>
            </a:extLst>
          </p:cNvPr>
          <p:cNvSpPr>
            <a:spLocks xmlns:a="http://schemas.openxmlformats.org/drawingml/2006/main" noGrp="1"/>
          </p:cNvSpPr>
          <p:nvPr/>
        </p:nvSpPr>
        <p:spPr>
          <a:xfrm xmlns:a="http://schemas.openxmlformats.org/drawingml/2006/main">
            <a:off x="609600" y="3990975"/>
            <a:ext cx="228600" cy="228600"/>
          </a:xfrm>
          <a:prstGeom xmlns:a="http://schemas.openxmlformats.org/drawingml/2006/main" prst="roundRect">
            <a:avLst>
              <a:gd name="adj" fmla="val 50000"/>
            </a:avLst>
          </a:prstGeom>
          <a:solidFill xmlns:a="http://schemas.openxmlformats.org/drawingml/2006/main">
            <a:srgbClr val="176B5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033E10-FD1C-45C9-9747-ED8A528A31A3}"/>
              </a:ext>
            </a:extLst>
          </p:cNvPr>
          <p:cNvSpPr>
            <a:spLocks xmlns:a="http://schemas.openxmlformats.org/drawingml/2006/main" noGrp="1"/>
          </p:cNvSpPr>
          <p:nvPr/>
        </p:nvSpPr>
        <p:spPr>
          <a:xfrm xmlns:a="http://schemas.openxmlformats.org/drawingml/2006/main">
            <a:off x="609600" y="3981450"/>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880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E952CF1F-7C1E-4D9A-9D05-81F218AA4F4B}"/>
              </a:ext>
            </a:extLst>
          </p:cNvPr>
          <p:cNvSpPr>
            <a:spLocks xmlns:a="http://schemas.openxmlformats.org/drawingml/2006/main" noGrp="1"/>
          </p:cNvSpPr>
          <p:nvPr/>
        </p:nvSpPr>
        <p:spPr>
          <a:xfrm xmlns:a="http://schemas.openxmlformats.org/drawingml/2006/main">
            <a:off x="971550" y="395287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6B57"/>
                </a:solidFill>
                <a:latin typeface="Helvetica Neue"/>
                <a:ea typeface="Helvetica Neue"/>
                <a:cs typeface="Helvetica Neue"/>
              </a:defRPr>
            </a:pPr>
            <a:r>
              <a:rPr sz="1350" b="1">
                <a:solidFill>
                  <a:srgbClr val="176B57"/>
                </a:solidFill>
                <a:latin typeface="Helvetica Neue"/>
                <a:ea typeface="Helvetica Neue"/>
                <a:cs typeface="Helvetica Neue"/>
              </a:rPr>
              <a:t>Structured output</a:t>
            </a:r>
          </a:p>
        </p:txBody>
      </p:sp>
      <p:sp>
        <p:nvSpPr>
          <p:cNvPr id="14" name="">
            <a:extLst xmlns:a="http://schemas.openxmlformats.org/drawingml/2006/main">
              <a:ext uri="{FF2B5EF4-FFF2-40B4-BE49-F238E27FC236}">
                <a16:creationId xmlns:a16="http://schemas.microsoft.com/office/drawing/2014/main" id="{0C08D252-F91D-475A-A5ED-16ACE06C5757}"/>
              </a:ext>
            </a:extLst>
          </p:cNvPr>
          <p:cNvSpPr>
            <a:spLocks xmlns:a="http://schemas.openxmlformats.org/drawingml/2006/main" noGrp="1"/>
          </p:cNvSpPr>
          <p:nvPr/>
        </p:nvSpPr>
        <p:spPr>
          <a:xfrm xmlns:a="http://schemas.openxmlformats.org/drawingml/2006/main">
            <a:off x="3048000" y="39528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The answer must match a defined JSON schema</a:t>
            </a:r>
          </a:p>
        </p:txBody>
      </p:sp>
      <p:sp>
        <p:nvSpPr>
          <p:cNvPr id="15" name="">
            <a:extLst xmlns:a="http://schemas.openxmlformats.org/drawingml/2006/main">
              <a:ext uri="{FF2B5EF4-FFF2-40B4-BE49-F238E27FC236}">
                <a16:creationId xmlns:a16="http://schemas.microsoft.com/office/drawing/2014/main" id="{73343A3F-6942-4B54-BFCD-52B278B2F319}"/>
              </a:ext>
            </a:extLst>
          </p:cNvPr>
          <p:cNvSpPr>
            <a:spLocks xmlns:a="http://schemas.openxmlformats.org/drawingml/2006/main" noGrp="1"/>
          </p:cNvSpPr>
          <p:nvPr/>
        </p:nvSpPr>
        <p:spPr>
          <a:xfrm xmlns:a="http://schemas.openxmlformats.org/drawingml/2006/main">
            <a:off x="609600" y="4448175"/>
            <a:ext cx="228600" cy="228600"/>
          </a:xfrm>
          <a:prstGeom xmlns:a="http://schemas.openxmlformats.org/drawingml/2006/main" prst="roundRect">
            <a:avLst>
              <a:gd name="adj" fmla="val 50000"/>
            </a:avLst>
          </a:prstGeom>
          <a:solidFill xmlns:a="http://schemas.openxmlformats.org/drawingml/2006/main">
            <a:srgbClr val="176B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3244B83-1526-4B1A-BFCE-650E22A79DB6}"/>
              </a:ext>
            </a:extLst>
          </p:cNvPr>
          <p:cNvSpPr>
            <a:spLocks xmlns:a="http://schemas.openxmlformats.org/drawingml/2006/main" noGrp="1"/>
          </p:cNvSpPr>
          <p:nvPr/>
        </p:nvSpPr>
        <p:spPr>
          <a:xfrm xmlns:a="http://schemas.openxmlformats.org/drawingml/2006/main">
            <a:off x="609600" y="4438650"/>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880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D98E7B76-FE26-43D7-B877-959817F4B2C1}"/>
              </a:ext>
            </a:extLst>
          </p:cNvPr>
          <p:cNvSpPr>
            <a:spLocks xmlns:a="http://schemas.openxmlformats.org/drawingml/2006/main" noGrp="1"/>
          </p:cNvSpPr>
          <p:nvPr/>
        </p:nvSpPr>
        <p:spPr>
          <a:xfrm xmlns:a="http://schemas.openxmlformats.org/drawingml/2006/main">
            <a:off x="971550" y="441007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6B57"/>
                </a:solidFill>
                <a:latin typeface="Helvetica Neue"/>
                <a:ea typeface="Helvetica Neue"/>
                <a:cs typeface="Helvetica Neue"/>
              </a:defRPr>
            </a:pPr>
            <a:r>
              <a:rPr sz="1350" b="1">
                <a:solidFill>
                  <a:srgbClr val="176B57"/>
                </a:solidFill>
                <a:latin typeface="Helvetica Neue"/>
                <a:ea typeface="Helvetica Neue"/>
                <a:cs typeface="Helvetica Neue"/>
              </a:rPr>
              <a:t>Source validation</a:t>
            </a:r>
          </a:p>
        </p:txBody>
      </p:sp>
      <p:sp>
        <p:nvSpPr>
          <p:cNvPr id="18" name="">
            <a:extLst xmlns:a="http://schemas.openxmlformats.org/drawingml/2006/main">
              <a:ext uri="{FF2B5EF4-FFF2-40B4-BE49-F238E27FC236}">
                <a16:creationId xmlns:a16="http://schemas.microsoft.com/office/drawing/2014/main" id="{EF06F8FC-952E-4F5F-9254-60976E9CF4C6}"/>
              </a:ext>
            </a:extLst>
          </p:cNvPr>
          <p:cNvSpPr>
            <a:spLocks xmlns:a="http://schemas.openxmlformats.org/drawingml/2006/main" noGrp="1"/>
          </p:cNvSpPr>
          <p:nvPr/>
        </p:nvSpPr>
        <p:spPr>
          <a:xfrm xmlns:a="http://schemas.openxmlformats.org/drawingml/2006/main">
            <a:off x="3048000" y="44100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Invented source IDs cause the answer to be rejected</a:t>
            </a:r>
          </a:p>
        </p:txBody>
      </p:sp>
      <p:sp>
        <p:nvSpPr>
          <p:cNvPr id="19" name="">
            <a:extLst xmlns:a="http://schemas.openxmlformats.org/drawingml/2006/main">
              <a:ext uri="{FF2B5EF4-FFF2-40B4-BE49-F238E27FC236}">
                <a16:creationId xmlns:a16="http://schemas.microsoft.com/office/drawing/2014/main" id="{02FC2312-83A5-40C5-9E76-2475106AF475}"/>
              </a:ext>
            </a:extLst>
          </p:cNvPr>
          <p:cNvSpPr>
            <a:spLocks xmlns:a="http://schemas.openxmlformats.org/drawingml/2006/main" noGrp="1"/>
          </p:cNvSpPr>
          <p:nvPr/>
        </p:nvSpPr>
        <p:spPr>
          <a:xfrm xmlns:a="http://schemas.openxmlformats.org/drawingml/2006/main">
            <a:off x="609600" y="4905375"/>
            <a:ext cx="228600" cy="228600"/>
          </a:xfrm>
          <a:prstGeom xmlns:a="http://schemas.openxmlformats.org/drawingml/2006/main" prst="roundRect">
            <a:avLst>
              <a:gd name="adj" fmla="val 50000"/>
            </a:avLst>
          </a:prstGeom>
          <a:solidFill xmlns:a="http://schemas.openxmlformats.org/drawingml/2006/main">
            <a:srgbClr val="176B5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B910606-A792-4EE2-93FB-2A2A6D949E5D}"/>
              </a:ext>
            </a:extLst>
          </p:cNvPr>
          <p:cNvSpPr>
            <a:spLocks xmlns:a="http://schemas.openxmlformats.org/drawingml/2006/main" noGrp="1"/>
          </p:cNvSpPr>
          <p:nvPr/>
        </p:nvSpPr>
        <p:spPr>
          <a:xfrm xmlns:a="http://schemas.openxmlformats.org/drawingml/2006/main">
            <a:off x="609600" y="4895850"/>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880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B93CF5E5-6CD7-4165-A9B4-A1B9AA18F29E}"/>
              </a:ext>
            </a:extLst>
          </p:cNvPr>
          <p:cNvSpPr>
            <a:spLocks xmlns:a="http://schemas.openxmlformats.org/drawingml/2006/main" noGrp="1"/>
          </p:cNvSpPr>
          <p:nvPr/>
        </p:nvSpPr>
        <p:spPr>
          <a:xfrm xmlns:a="http://schemas.openxmlformats.org/drawingml/2006/main">
            <a:off x="971550" y="486727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6B57"/>
                </a:solidFill>
                <a:latin typeface="Helvetica Neue"/>
                <a:ea typeface="Helvetica Neue"/>
                <a:cs typeface="Helvetica Neue"/>
              </a:defRPr>
            </a:pPr>
            <a:r>
              <a:rPr sz="1350" b="1">
                <a:solidFill>
                  <a:srgbClr val="176B57"/>
                </a:solidFill>
                <a:latin typeface="Helvetica Neue"/>
                <a:ea typeface="Helvetica Neue"/>
                <a:cs typeface="Helvetica Neue"/>
              </a:rPr>
              <a:t>Visible verification</a:t>
            </a:r>
          </a:p>
        </p:txBody>
      </p:sp>
      <p:sp>
        <p:nvSpPr>
          <p:cNvPr id="22" name="">
            <a:extLst xmlns:a="http://schemas.openxmlformats.org/drawingml/2006/main">
              <a:ext uri="{FF2B5EF4-FFF2-40B4-BE49-F238E27FC236}">
                <a16:creationId xmlns:a16="http://schemas.microsoft.com/office/drawing/2014/main" id="{33EBB5E0-E7D0-46F3-89EE-D6A4174C4FCF}"/>
              </a:ext>
            </a:extLst>
          </p:cNvPr>
          <p:cNvSpPr>
            <a:spLocks xmlns:a="http://schemas.openxmlformats.org/drawingml/2006/main" noGrp="1"/>
          </p:cNvSpPr>
          <p:nvPr/>
        </p:nvSpPr>
        <p:spPr>
          <a:xfrm xmlns:a="http://schemas.openxmlformats.org/drawingml/2006/main">
            <a:off x="3048000" y="48672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Official links and limitations remain next to the answer</a:t>
            </a:r>
          </a:p>
        </p:txBody>
      </p:sp>
      <p:sp>
        <p:nvSpPr>
          <p:cNvPr id="23" name="">
            <a:extLst xmlns:a="http://schemas.openxmlformats.org/drawingml/2006/main">
              <a:ext uri="{FF2B5EF4-FFF2-40B4-BE49-F238E27FC236}">
                <a16:creationId xmlns:a16="http://schemas.microsoft.com/office/drawing/2014/main" id="{54BDBDF5-6639-4A54-8041-C7BDB68BF736}"/>
              </a:ext>
            </a:extLst>
          </p:cNvPr>
          <p:cNvSpPr>
            <a:spLocks xmlns:a="http://schemas.openxmlformats.org/drawingml/2006/main" noGrp="1"/>
          </p:cNvSpPr>
          <p:nvPr/>
        </p:nvSpPr>
        <p:spPr>
          <a:xfrm xmlns:a="http://schemas.openxmlformats.org/drawingml/2006/main">
            <a:off x="609600" y="5362575"/>
            <a:ext cx="228600" cy="228600"/>
          </a:xfrm>
          <a:prstGeom xmlns:a="http://schemas.openxmlformats.org/drawingml/2006/main" prst="roundRect">
            <a:avLst>
              <a:gd name="adj" fmla="val 50000"/>
            </a:avLst>
          </a:prstGeom>
          <a:solidFill xmlns:a="http://schemas.openxmlformats.org/drawingml/2006/main">
            <a:srgbClr val="176B5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B901F2-EBDC-4C6B-A282-D3E871301C55}"/>
              </a:ext>
            </a:extLst>
          </p:cNvPr>
          <p:cNvSpPr>
            <a:spLocks xmlns:a="http://schemas.openxmlformats.org/drawingml/2006/main" noGrp="1"/>
          </p:cNvSpPr>
          <p:nvPr/>
        </p:nvSpPr>
        <p:spPr>
          <a:xfrm xmlns:a="http://schemas.openxmlformats.org/drawingml/2006/main">
            <a:off x="609600" y="5353050"/>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880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89E7503D-F705-45B9-9849-09BCE2479513}"/>
              </a:ext>
            </a:extLst>
          </p:cNvPr>
          <p:cNvSpPr>
            <a:spLocks xmlns:a="http://schemas.openxmlformats.org/drawingml/2006/main" noGrp="1"/>
          </p:cNvSpPr>
          <p:nvPr/>
        </p:nvSpPr>
        <p:spPr>
          <a:xfrm xmlns:a="http://schemas.openxmlformats.org/drawingml/2006/main">
            <a:off x="971550" y="5324475"/>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6B57"/>
                </a:solidFill>
                <a:latin typeface="Helvetica Neue"/>
                <a:ea typeface="Helvetica Neue"/>
                <a:cs typeface="Helvetica Neue"/>
              </a:defRPr>
            </a:pPr>
            <a:r>
              <a:rPr sz="1350" b="1">
                <a:solidFill>
                  <a:srgbClr val="176B57"/>
                </a:solidFill>
                <a:latin typeface="Helvetica Neue"/>
                <a:ea typeface="Helvetica Neue"/>
                <a:cs typeface="Helvetica Neue"/>
              </a:rPr>
              <a:t>Human handoff</a:t>
            </a:r>
          </a:p>
        </p:txBody>
      </p:sp>
      <p:sp>
        <p:nvSpPr>
          <p:cNvPr id="26" name="">
            <a:extLst xmlns:a="http://schemas.openxmlformats.org/drawingml/2006/main">
              <a:ext uri="{FF2B5EF4-FFF2-40B4-BE49-F238E27FC236}">
                <a16:creationId xmlns:a16="http://schemas.microsoft.com/office/drawing/2014/main" id="{A18204A7-B7D2-4C7D-8821-23FF02907CEE}"/>
              </a:ext>
            </a:extLst>
          </p:cNvPr>
          <p:cNvSpPr>
            <a:spLocks xmlns:a="http://schemas.openxmlformats.org/drawingml/2006/main" noGrp="1"/>
          </p:cNvSpPr>
          <p:nvPr/>
        </p:nvSpPr>
        <p:spPr>
          <a:xfrm xmlns:a="http://schemas.openxmlformats.org/drawingml/2006/main">
            <a:off x="3048000" y="53244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324D"/>
                </a:solidFill>
                <a:latin typeface="Helvetica Neue"/>
                <a:ea typeface="Helvetica Neue"/>
                <a:cs typeface="Helvetica Neue"/>
              </a:defRPr>
            </a:pPr>
            <a:r>
              <a:rPr sz="1350" b="0">
                <a:solidFill>
                  <a:srgbClr val="17324D"/>
                </a:solidFill>
                <a:latin typeface="Helvetica Neue"/>
                <a:ea typeface="Helvetica Neue"/>
                <a:cs typeface="Helvetica Neue"/>
              </a:rPr>
              <a:t>High-risk cases are labelled for human help</a:t>
            </a:r>
          </a:p>
        </p:txBody>
      </p:sp>
      <p:sp>
        <p:nvSpPr>
          <p:cNvPr id="27" name="">
            <a:extLst xmlns:a="http://schemas.openxmlformats.org/drawingml/2006/main">
              <a:ext uri="{FF2B5EF4-FFF2-40B4-BE49-F238E27FC236}">
                <a16:creationId xmlns:a16="http://schemas.microsoft.com/office/drawing/2014/main" id="{708573C1-348B-449A-9770-FC157A229CBC}"/>
              </a:ext>
            </a:extLst>
          </p:cNvPr>
          <p:cNvSpPr>
            <a:spLocks xmlns:a="http://schemas.openxmlformats.org/drawingml/2006/main" noGrp="1"/>
          </p:cNvSpPr>
          <p:nvPr/>
        </p:nvSpPr>
        <p:spPr>
          <a:xfrm xmlns:a="http://schemas.openxmlformats.org/drawingml/2006/main">
            <a:off x="8934450" y="3162300"/>
            <a:ext cx="2324100" cy="2628900"/>
          </a:xfrm>
          <a:prstGeom xmlns:a="http://schemas.openxmlformats.org/drawingml/2006/main" prst="roundRect">
            <a:avLst>
              <a:gd name="adj" fmla="val 5738"/>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9231457-8B4A-4552-B449-926499A63A26}"/>
              </a:ext>
            </a:extLst>
          </p:cNvPr>
          <p:cNvSpPr>
            <a:spLocks xmlns:a="http://schemas.openxmlformats.org/drawingml/2006/main" noGrp="1"/>
          </p:cNvSpPr>
          <p:nvPr/>
        </p:nvSpPr>
        <p:spPr>
          <a:xfrm xmlns:a="http://schemas.openxmlformats.org/drawingml/2006/main">
            <a:off x="9182100" y="337185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Still imperfect</a:t>
            </a:r>
          </a:p>
        </p:txBody>
      </p:sp>
      <p:sp>
        <p:nvSpPr>
          <p:cNvPr id="29" name="">
            <a:extLst xmlns:a="http://schemas.openxmlformats.org/drawingml/2006/main">
              <a:ext uri="{FF2B5EF4-FFF2-40B4-BE49-F238E27FC236}">
                <a16:creationId xmlns:a16="http://schemas.microsoft.com/office/drawing/2014/main" id="{C5FCE46F-291F-4886-96FC-5FDBD977D119}"/>
              </a:ext>
            </a:extLst>
          </p:cNvPr>
          <p:cNvSpPr>
            <a:spLocks xmlns:a="http://schemas.openxmlformats.org/drawingml/2006/main" noGrp="1"/>
          </p:cNvSpPr>
          <p:nvPr/>
        </p:nvSpPr>
        <p:spPr>
          <a:xfrm xmlns:a="http://schemas.openxmlformats.org/drawingml/2006/main">
            <a:off x="9182100" y="3857625"/>
            <a:ext cx="180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036"/>
          </a:bodyPr>
          <a:lstStyle xmlns:a="http://schemas.openxmlformats.org/drawingml/2006/main"/>
          <a:p xmlns:a="http://schemas.openxmlformats.org/drawingml/2006/main">
            <a:pPr algn="l">
              <a:defRPr sz="1350" b="0">
                <a:solidFill>
                  <a:srgbClr val="D8E4EF"/>
                </a:solidFill>
                <a:latin typeface="Helvetica Neue"/>
                <a:ea typeface="Helvetica Neue"/>
                <a:cs typeface="Helvetica Neue"/>
              </a:defRPr>
            </a:pPr>
            <a:r>
              <a:rPr sz="1350" b="0">
                <a:solidFill>
                  <a:srgbClr val="D8E4EF"/>
                </a:solidFill>
                <a:latin typeface="Helvetica Neue"/>
                <a:ea typeface="Helvetica Neue"/>
                <a:cs typeface="Helvetica Neue"/>
              </a:rPr>
              <a:t>• Translation quality differs by language</a:t>
            </a:r>
          </a:p>
          <a:p xmlns:a="http://schemas.openxmlformats.org/drawingml/2006/main">
            <a:r>
              <a:t/>
            </a:r>
          </a:p>
          <a:p xmlns:a="http://schemas.openxmlformats.org/drawingml/2006/main">
            <a:pPr algn="l">
              <a:defRPr sz="1350" b="0">
                <a:solidFill>
                  <a:srgbClr val="D8E4EF"/>
                </a:solidFill>
                <a:latin typeface="Helvetica Neue"/>
                <a:ea typeface="Helvetica Neue"/>
                <a:cs typeface="Helvetica Neue"/>
              </a:defRPr>
            </a:pPr>
            <a:r>
              <a:rPr sz="1350" b="0">
                <a:solidFill>
                  <a:srgbClr val="D8E4EF"/>
                </a:solidFill>
                <a:latin typeface="Helvetica Neue"/>
                <a:ea typeface="Helvetica Neue"/>
                <a:cs typeface="Helvetica Neue"/>
              </a:rPr>
              <a:t>• Rules can change after source review</a:t>
            </a:r>
          </a:p>
          <a:p xmlns:a="http://schemas.openxmlformats.org/drawingml/2006/main">
            <a:r>
              <a:t/>
            </a:r>
          </a:p>
          <a:p xmlns:a="http://schemas.openxmlformats.org/drawingml/2006/main">
            <a:pPr algn="l">
              <a:defRPr sz="1350" b="0">
                <a:solidFill>
                  <a:srgbClr val="D8E4EF"/>
                </a:solidFill>
                <a:latin typeface="Helvetica Neue"/>
                <a:ea typeface="Helvetica Neue"/>
                <a:cs typeface="Helvetica Neue"/>
              </a:defRPr>
            </a:pPr>
            <a:r>
              <a:rPr sz="1350" b="0">
                <a:solidFill>
                  <a:srgbClr val="D8E4EF"/>
                </a:solidFill>
                <a:latin typeface="Helvetica Neue"/>
                <a:ea typeface="Helvetica Neue"/>
                <a:cs typeface="Helvetica Neue"/>
              </a:rPr>
              <a:t>• A small source pack cannot cover every case</a:t>
            </a:r>
          </a:p>
        </p:txBody>
      </p:sp>
      <p:sp>
        <p:nvSpPr>
          <p:cNvPr id="30" name="">
            <a:extLst xmlns:a="http://schemas.openxmlformats.org/drawingml/2006/main">
              <a:ext uri="{FF2B5EF4-FFF2-40B4-BE49-F238E27FC236}">
                <a16:creationId xmlns:a16="http://schemas.microsoft.com/office/drawing/2014/main" id="{1DD6C46B-C9FF-4030-AC83-82FF0670F78F}"/>
              </a:ext>
            </a:extLst>
          </p:cNvPr>
          <p:cNvSpPr>
            <a:spLocks xmlns:a="http://schemas.openxmlformats.org/drawingml/2006/main" noGrp="1"/>
          </p:cNvSpPr>
          <p:nvPr/>
        </p:nvSpPr>
        <p:spPr>
          <a:xfrm xmlns:a="http://schemas.openxmlformats.org/drawingml/2006/main">
            <a:off x="9182100" y="54102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78AFFF"/>
                </a:solidFill>
                <a:latin typeface="Helvetica Neue"/>
                <a:ea typeface="Helvetica Neue"/>
                <a:cs typeface="Helvetica Neue"/>
              </a:defRPr>
            </a:pPr>
            <a:r>
              <a:rPr sz="1050" b="1">
                <a:solidFill>
                  <a:srgbClr val="78AFFF"/>
                </a:solidFill>
                <a:latin typeface="Helvetica Neue"/>
                <a:ea typeface="Helvetica Neue"/>
                <a:cs typeface="Helvetica Neue"/>
              </a:rPr>
              <a:t>Prototype, not a legal service</a:t>
            </a:r>
          </a:p>
        </p:txBody>
      </p:sp>
    </p:spTree>
    <p:extLst>
      <p:ext uri="{BB962C8B-B14F-4D97-AF65-F5344CB8AC3E}">
        <p14:creationId xmlns:p14="http://schemas.microsoft.com/office/powerpoint/2010/main" val="1302293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2026-09-25T08:53:10.2720000Z</dcterms:created>
  <dcterms:modified xsi:type="dcterms:W3CDTF">2026-09-25T08:53:10.2720000Z</dcterms:modified>
</coreProperties>
</file>