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6858000" cx="12192000"/>
  <p:notesSz cx="6858000" cy="9144000"/>
  <p:embeddedFontLst>
    <p:embeddedFont>
      <p:font typeface="Plus Jakarta Sans"/>
      <p:regular r:id="rId17"/>
      <p:bold r:id="rId18"/>
      <p:italic r:id="rId19"/>
      <p:boldItalic r:id="rId20"/>
    </p:embeddedFont>
    <p:embeddedFont>
      <p:font typeface="Space Grotesk"/>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42FCC0-DB60-4595-9972-E2EB3143E60D}">
  <a:tblStyle styleId="{0D42FCC0-DB60-4595-9972-E2EB3143E60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usJakartaSans-boldItalic.fntdata"/><Relationship Id="rId11" Type="http://schemas.openxmlformats.org/officeDocument/2006/relationships/slide" Target="slides/slide5.xml"/><Relationship Id="rId22" Type="http://schemas.openxmlformats.org/officeDocument/2006/relationships/font" Target="fonts/SpaceGrotesk-bold.fntdata"/><Relationship Id="rId10" Type="http://schemas.openxmlformats.org/officeDocument/2006/relationships/slide" Target="slides/slide4.xml"/><Relationship Id="rId21" Type="http://schemas.openxmlformats.org/officeDocument/2006/relationships/font" Target="fonts/SpaceGrotesk-regular.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usJakartaSans-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PlusJakartaSans-italic.fntdata"/><Relationship Id="rId6" Type="http://schemas.openxmlformats.org/officeDocument/2006/relationships/notesMaster" Target="notesMasters/notesMaster1.xml"/><Relationship Id="rId18" Type="http://schemas.openxmlformats.org/officeDocument/2006/relationships/font" Target="fonts/PlusJakartaSans-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6c401e27dea833d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6c401e27dea833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This workflow creates the key frame that anchors every shot. Juggernaut XL generates the image from a positive prompt, while the negative prompt removes people, text, logos, deformation, and blur. ControlNet uses the loaded reference image to hold the window geometry in place. The KSampler runs for 30 steps with CFG five, a Karras schedule, and 0.5 denoise. Changing the environment prompt creates a new era without losing the same viewpoint.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6c401e27dea833d1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6c401e27dea833d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This workflow turns a generated still into a five-second clip. The input image is resized to half a megapixel, and its width and height are passed into the MiniMax H3 image-to-video node. The prompt asks for subtle motion outside the window while the interior stays fixed. We use the same image as the first frame, run nine turbo steps, and save the result as an MP4. This preserves the window composition while animating smoke, rain, stars, or debris.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drive.google.com/file/d/1OYYY5sTjCbcKAET1KyUjYqCMclCL7Ka3/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7"/>
        </a:solidFill>
      </p:bgPr>
    </p:bg>
    <p:spTree>
      <p:nvGrpSpPr>
        <p:cNvPr id="83" name="Shape 83"/>
        <p:cNvGrpSpPr/>
        <p:nvPr/>
      </p:nvGrpSpPr>
      <p:grpSpPr>
        <a:xfrm>
          <a:off x="0" y="0"/>
          <a:ext cx="0" cy="0"/>
          <a:chOff x="0" y="0"/>
          <a:chExt cx="0" cy="0"/>
        </a:xfrm>
      </p:grpSpPr>
      <p:sp>
        <p:nvSpPr>
          <p:cNvPr id="84" name="Google Shape;84;p13"/>
          <p:cNvSpPr/>
          <p:nvPr/>
        </p:nvSpPr>
        <p:spPr>
          <a:xfrm>
            <a:off x="762000" y="5848201"/>
            <a:ext cx="10668000" cy="40005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762000" y="4163020"/>
            <a:ext cx="609600" cy="38100"/>
          </a:xfrm>
          <a:prstGeom prst="roundRect">
            <a:avLst>
              <a:gd fmla="val 50000" name="adj"/>
            </a:avLst>
          </a:prstGeom>
          <a:solidFill>
            <a:srgbClr val="06B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762000" y="5848201"/>
            <a:ext cx="1066800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762000" y="609600"/>
            <a:ext cx="4500562"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10B981"/>
                </a:solidFill>
                <a:latin typeface="Space Grotesk"/>
                <a:ea typeface="Space Grotesk"/>
                <a:cs typeface="Space Grotesk"/>
                <a:sym typeface="Space Grotesk"/>
              </a:rPr>
              <a:t>SDG 13: CLIMATE ACTION • HHS HACKATHON 4</a:t>
            </a:r>
            <a:endParaRPr/>
          </a:p>
        </p:txBody>
      </p:sp>
      <p:sp>
        <p:nvSpPr>
          <p:cNvPr id="88" name="Google Shape;88;p13"/>
          <p:cNvSpPr txBox="1"/>
          <p:nvPr/>
        </p:nvSpPr>
        <p:spPr>
          <a:xfrm>
            <a:off x="9553575" y="609600"/>
            <a:ext cx="2345531"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Space Grotesk"/>
                <a:ea typeface="Space Grotesk"/>
                <a:cs typeface="Space Grotesk"/>
                <a:sym typeface="Space Grotesk"/>
              </a:rPr>
              <a:t>30-Second AI Film Prototype</a:t>
            </a:r>
            <a:endParaRPr/>
          </a:p>
        </p:txBody>
      </p:sp>
      <p:sp>
        <p:nvSpPr>
          <p:cNvPr id="89" name="Google Shape;89;p13"/>
          <p:cNvSpPr txBox="1"/>
          <p:nvPr/>
        </p:nvSpPr>
        <p:spPr>
          <a:xfrm>
            <a:off x="762000" y="2428130"/>
            <a:ext cx="11430000" cy="6377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4650" u="none" cap="none" strike="noStrike">
                <a:solidFill>
                  <a:srgbClr val="FFFFFF"/>
                </a:solidFill>
                <a:latin typeface="Plus Jakarta Sans"/>
                <a:ea typeface="Plus Jakarta Sans"/>
                <a:cs typeface="Plus Jakarta Sans"/>
                <a:sym typeface="Plus Jakarta Sans"/>
              </a:rPr>
              <a:t>Through the Glass</a:t>
            </a:r>
            <a:endParaRPr/>
          </a:p>
        </p:txBody>
      </p:sp>
      <p:sp>
        <p:nvSpPr>
          <p:cNvPr id="90" name="Google Shape;90;p13"/>
          <p:cNvSpPr txBox="1"/>
          <p:nvPr/>
        </p:nvSpPr>
        <p:spPr>
          <a:xfrm>
            <a:off x="762000" y="3256359"/>
            <a:ext cx="8858250" cy="6399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800" u="none" cap="none" strike="noStrike">
                <a:solidFill>
                  <a:srgbClr val="94A3B8"/>
                </a:solidFill>
                <a:latin typeface="Plus Jakarta Sans"/>
                <a:ea typeface="Plus Jakarta Sans"/>
                <a:cs typeface="Plus Jakarta Sans"/>
                <a:sym typeface="Plus Jakarta Sans"/>
              </a:rPr>
              <a:t>A Timeline of Inaction — 500 years of environmental decay viewed through one unchanging window.</a:t>
            </a:r>
            <a:endParaRPr/>
          </a:p>
        </p:txBody>
      </p:sp>
      <p:sp>
        <p:nvSpPr>
          <p:cNvPr id="91" name="Google Shape;91;p13"/>
          <p:cNvSpPr txBox="1"/>
          <p:nvPr/>
        </p:nvSpPr>
        <p:spPr>
          <a:xfrm>
            <a:off x="762000" y="6048226"/>
            <a:ext cx="6084093"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D5E1"/>
                </a:solidFill>
                <a:latin typeface="Plus Jakarta Sans"/>
                <a:ea typeface="Plus Jakarta Sans"/>
                <a:cs typeface="Plus Jakarta Sans"/>
                <a:sym typeface="Plus Jakarta Sans"/>
              </a:rPr>
              <a:t>Engineered with ComfyUI • SDXL + ControlNet Canny + AnimateDiff</a:t>
            </a:r>
            <a:endParaRPr/>
          </a:p>
        </p:txBody>
      </p:sp>
      <p:sp>
        <p:nvSpPr>
          <p:cNvPr id="92" name="Google Shape;92;p13"/>
          <p:cNvSpPr txBox="1"/>
          <p:nvPr/>
        </p:nvSpPr>
        <p:spPr>
          <a:xfrm>
            <a:off x="8715375" y="6062513"/>
            <a:ext cx="3393281"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Space Grotesk"/>
                <a:ea typeface="Space Grotesk"/>
                <a:cs typeface="Space Grotesk"/>
                <a:sym typeface="Space Grotesk"/>
              </a:rPr>
              <a:t>The Hague University of Applied Sciences</a:t>
            </a:r>
            <a:endParaRPr/>
          </a:p>
        </p:txBody>
      </p:sp>
      <p:sp>
        <p:nvSpPr>
          <p:cNvPr id="93" name="Google Shape;93;p13"/>
          <p:cNvSpPr txBox="1"/>
          <p:nvPr/>
        </p:nvSpPr>
        <p:spPr>
          <a:xfrm>
            <a:off x="762000" y="47476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u="sng">
                <a:solidFill>
                  <a:schemeClr val="hlink"/>
                </a:solidFill>
                <a:hlinkClick r:id="rId3"/>
              </a:rPr>
              <a:t>VIDEO</a:t>
            </a:r>
            <a:endParaRPr sz="24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7" name="Shape 97"/>
        <p:cNvGrpSpPr/>
        <p:nvPr/>
      </p:nvGrpSpPr>
      <p:grpSpPr>
        <a:xfrm>
          <a:off x="0" y="0"/>
          <a:ext cx="0" cy="0"/>
          <a:chOff x="0" y="0"/>
          <a:chExt cx="0" cy="0"/>
        </a:xfrm>
      </p:grpSpPr>
      <p:sp>
        <p:nvSpPr>
          <p:cNvPr id="98" name="Google Shape;98;p14"/>
          <p:cNvSpPr/>
          <p:nvPr/>
        </p:nvSpPr>
        <p:spPr>
          <a:xfrm>
            <a:off x="762000" y="5981700"/>
            <a:ext cx="106680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4"/>
          <p:cNvSpPr/>
          <p:nvPr/>
        </p:nvSpPr>
        <p:spPr>
          <a:xfrm>
            <a:off x="762000" y="2575173"/>
            <a:ext cx="3403550" cy="2041028"/>
          </a:xfrm>
          <a:prstGeom prst="roundRect">
            <a:avLst>
              <a:gd fmla="val 56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p:nvPr/>
        </p:nvSpPr>
        <p:spPr>
          <a:xfrm>
            <a:off x="4394150" y="2575173"/>
            <a:ext cx="3403550" cy="2041028"/>
          </a:xfrm>
          <a:prstGeom prst="roundRect">
            <a:avLst>
              <a:gd fmla="val 56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14"/>
          <p:cNvSpPr/>
          <p:nvPr/>
        </p:nvSpPr>
        <p:spPr>
          <a:xfrm>
            <a:off x="8026300" y="2575173"/>
            <a:ext cx="3403550" cy="2041028"/>
          </a:xfrm>
          <a:prstGeom prst="roundRect">
            <a:avLst>
              <a:gd fmla="val 5600"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p:nvPr/>
        </p:nvSpPr>
        <p:spPr>
          <a:xfrm>
            <a:off x="762000" y="5981700"/>
            <a:ext cx="10668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59669"/>
                </a:solidFill>
                <a:latin typeface="Space Grotesk"/>
                <a:ea typeface="Space Grotesk"/>
                <a:cs typeface="Space Grotesk"/>
                <a:sym typeface="Space Grotesk"/>
              </a:rPr>
              <a:t>CRITERION 1: PROBLEM DEFINITION</a:t>
            </a:r>
            <a:endParaRPr/>
          </a:p>
        </p:txBody>
      </p:sp>
      <p:sp>
        <p:nvSpPr>
          <p:cNvPr id="104" name="Google Shape;104;p14"/>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The Psychology of Climate Inaction</a:t>
            </a:r>
            <a:endParaRPr/>
          </a:p>
        </p:txBody>
      </p:sp>
      <p:sp>
        <p:nvSpPr>
          <p:cNvPr id="105" name="Google Shape;105;p14"/>
          <p:cNvSpPr txBox="1"/>
          <p:nvPr/>
        </p:nvSpPr>
        <p:spPr>
          <a:xfrm>
            <a:off x="762000" y="6143625"/>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SDG Target 13.3: Improve education, awareness-raising, and human capacity on climate change mitigation.</a:t>
            </a:r>
            <a:endParaRPr/>
          </a:p>
        </p:txBody>
      </p:sp>
      <p:sp>
        <p:nvSpPr>
          <p:cNvPr id="106" name="Google Shape;106;p14"/>
          <p:cNvSpPr txBox="1"/>
          <p:nvPr/>
        </p:nvSpPr>
        <p:spPr>
          <a:xfrm>
            <a:off x="1038225" y="2889498"/>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59669"/>
                </a:solidFill>
                <a:latin typeface="Space Grotesk"/>
                <a:ea typeface="Space Grotesk"/>
                <a:cs typeface="Space Grotesk"/>
                <a:sym typeface="Space Grotesk"/>
              </a:rPr>
              <a:t>FACTUAL ANCHOR</a:t>
            </a:r>
            <a:endParaRPr/>
          </a:p>
        </p:txBody>
      </p:sp>
      <p:sp>
        <p:nvSpPr>
          <p:cNvPr id="107" name="Google Shape;107;p14"/>
          <p:cNvSpPr txBox="1"/>
          <p:nvPr/>
        </p:nvSpPr>
        <p:spPr>
          <a:xfrm>
            <a:off x="1038225" y="3175248"/>
            <a:ext cx="374206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IPCC AR6 Mandate</a:t>
            </a:r>
            <a:endParaRPr/>
          </a:p>
        </p:txBody>
      </p:sp>
      <p:sp>
        <p:nvSpPr>
          <p:cNvPr id="108" name="Google Shape;108;p14"/>
          <p:cNvSpPr txBox="1"/>
          <p:nvPr/>
        </p:nvSpPr>
        <p:spPr>
          <a:xfrm>
            <a:off x="1038225" y="3556248"/>
            <a:ext cx="2946350" cy="745628"/>
          </a:xfrm>
          <a:prstGeom prst="rect">
            <a:avLst/>
          </a:prstGeom>
          <a:noFill/>
          <a:ln>
            <a:noFill/>
          </a:ln>
        </p:spPr>
        <p:txBody>
          <a:bodyPr anchorCtr="0" anchor="t" bIns="0" lIns="0" spcFirstLastPara="1" rIns="0" wrap="square" tIns="0">
            <a:spAutoFit/>
          </a:bodyPr>
          <a:lstStyle/>
          <a:p>
            <a:pPr indent="0" lvl="0" marL="0" marR="0" rtl="0" algn="l">
              <a:lnSpc>
                <a:spcPct val="144962"/>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Global emissions must drop 43% by 2030 to prevent breaching 1.5°C warming.</a:t>
            </a:r>
            <a:endParaRPr/>
          </a:p>
        </p:txBody>
      </p:sp>
      <p:sp>
        <p:nvSpPr>
          <p:cNvPr id="109" name="Google Shape;109;p14"/>
          <p:cNvSpPr txBox="1"/>
          <p:nvPr/>
        </p:nvSpPr>
        <p:spPr>
          <a:xfrm>
            <a:off x="4670375" y="2889498"/>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D97706"/>
                </a:solidFill>
                <a:latin typeface="Space Grotesk"/>
                <a:ea typeface="Space Grotesk"/>
                <a:cs typeface="Space Grotesk"/>
                <a:sym typeface="Space Grotesk"/>
              </a:rPr>
              <a:t>COGNITIVE BIAS</a:t>
            </a:r>
            <a:endParaRPr/>
          </a:p>
        </p:txBody>
      </p:sp>
      <p:sp>
        <p:nvSpPr>
          <p:cNvPr id="110" name="Google Shape;110;p14"/>
          <p:cNvSpPr txBox="1"/>
          <p:nvPr/>
        </p:nvSpPr>
        <p:spPr>
          <a:xfrm>
            <a:off x="4670375" y="3175248"/>
            <a:ext cx="374206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Temporal Discounting</a:t>
            </a:r>
            <a:endParaRPr/>
          </a:p>
        </p:txBody>
      </p:sp>
      <p:sp>
        <p:nvSpPr>
          <p:cNvPr id="111" name="Google Shape;111;p14"/>
          <p:cNvSpPr txBox="1"/>
          <p:nvPr/>
        </p:nvSpPr>
        <p:spPr>
          <a:xfrm>
            <a:off x="4670375" y="3556248"/>
            <a:ext cx="2946350" cy="745628"/>
          </a:xfrm>
          <a:prstGeom prst="rect">
            <a:avLst/>
          </a:prstGeom>
          <a:noFill/>
          <a:ln>
            <a:noFill/>
          </a:ln>
        </p:spPr>
        <p:txBody>
          <a:bodyPr anchorCtr="0" anchor="t" bIns="0" lIns="0" spcFirstLastPara="1" rIns="0" wrap="square" tIns="0">
            <a:spAutoFit/>
          </a:bodyPr>
          <a:lstStyle/>
          <a:p>
            <a:pPr indent="0" lvl="0" marL="0" marR="0" rtl="0" algn="l">
              <a:lnSpc>
                <a:spcPct val="144962"/>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Catastrophes perceived as centuries away delay immediate civic accountability.</a:t>
            </a:r>
            <a:endParaRPr/>
          </a:p>
        </p:txBody>
      </p:sp>
      <p:sp>
        <p:nvSpPr>
          <p:cNvPr id="112" name="Google Shape;112;p14"/>
          <p:cNvSpPr txBox="1"/>
          <p:nvPr/>
        </p:nvSpPr>
        <p:spPr>
          <a:xfrm>
            <a:off x="8302525" y="2889498"/>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11D48"/>
                </a:solidFill>
                <a:latin typeface="Space Grotesk"/>
                <a:ea typeface="Space Grotesk"/>
                <a:cs typeface="Space Grotesk"/>
                <a:sym typeface="Space Grotesk"/>
              </a:rPr>
              <a:t>BARRIER TO ACTION</a:t>
            </a:r>
            <a:endParaRPr/>
          </a:p>
        </p:txBody>
      </p:sp>
      <p:sp>
        <p:nvSpPr>
          <p:cNvPr id="113" name="Google Shape;113;p14"/>
          <p:cNvSpPr txBox="1"/>
          <p:nvPr/>
        </p:nvSpPr>
        <p:spPr>
          <a:xfrm>
            <a:off x="8302525" y="3175248"/>
            <a:ext cx="374206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The Fatalism Trap</a:t>
            </a:r>
            <a:endParaRPr/>
          </a:p>
        </p:txBody>
      </p:sp>
      <p:sp>
        <p:nvSpPr>
          <p:cNvPr id="114" name="Google Shape;114;p14"/>
          <p:cNvSpPr txBox="1"/>
          <p:nvPr/>
        </p:nvSpPr>
        <p:spPr>
          <a:xfrm>
            <a:off x="8302525" y="3556248"/>
            <a:ext cx="2946350" cy="745628"/>
          </a:xfrm>
          <a:prstGeom prst="rect">
            <a:avLst/>
          </a:prstGeom>
          <a:noFill/>
          <a:ln>
            <a:noFill/>
          </a:ln>
        </p:spPr>
        <p:txBody>
          <a:bodyPr anchorCtr="0" anchor="t" bIns="0" lIns="0" spcFirstLastPara="1" rIns="0" wrap="square" tIns="0">
            <a:spAutoFit/>
          </a:bodyPr>
          <a:lstStyle/>
          <a:p>
            <a:pPr indent="0" lvl="0" marL="0" marR="0" rtl="0" algn="l">
              <a:lnSpc>
                <a:spcPct val="144962"/>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Sensationalist doomscrolling triggers eco-paralysis instead of meaningful agency.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5" title="Captura de pantalla 2026-10-01 204415.png"/>
          <p:cNvPicPr preferRelativeResize="0"/>
          <p:nvPr/>
        </p:nvPicPr>
        <p:blipFill>
          <a:blip r:embed="rId3">
            <a:alphaModFix/>
          </a:blip>
          <a:stretch>
            <a:fillRect/>
          </a:stretch>
        </p:blipFill>
        <p:spPr>
          <a:xfrm>
            <a:off x="0" y="773975"/>
            <a:ext cx="12191999" cy="6084018"/>
          </a:xfrm>
          <a:prstGeom prst="rect">
            <a:avLst/>
          </a:prstGeom>
          <a:noFill/>
          <a:ln>
            <a:noFill/>
          </a:ln>
        </p:spPr>
      </p:pic>
      <p:sp>
        <p:nvSpPr>
          <p:cNvPr id="120" name="Google Shape;120;p15"/>
          <p:cNvSpPr txBox="1"/>
          <p:nvPr/>
        </p:nvSpPr>
        <p:spPr>
          <a:xfrm>
            <a:off x="167275" y="183975"/>
            <a:ext cx="92013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WORKFLOW  1: TEXT TO IMAGE:</a:t>
            </a:r>
            <a:endParaRPr>
              <a:solidFill>
                <a:schemeClr val="dk1"/>
              </a:solidFill>
            </a:endParaRPr>
          </a:p>
          <a:p>
            <a:pPr indent="0" lvl="0" marL="0" rtl="0" algn="l">
              <a:lnSpc>
                <a:spcPct val="115000"/>
              </a:lnSpc>
              <a:spcBef>
                <a:spcPts val="0"/>
              </a:spcBef>
              <a:spcAft>
                <a:spcPts val="0"/>
              </a:spcAft>
              <a:buNone/>
            </a:pPr>
            <a:r>
              <a:t/>
            </a:r>
            <a:endParaRPr b="1" sz="36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16" title="Captura de pantalla 2026-10-01 165048.png"/>
          <p:cNvPicPr preferRelativeResize="0"/>
          <p:nvPr/>
        </p:nvPicPr>
        <p:blipFill>
          <a:blip r:embed="rId3">
            <a:alphaModFix/>
          </a:blip>
          <a:stretch>
            <a:fillRect/>
          </a:stretch>
        </p:blipFill>
        <p:spPr>
          <a:xfrm>
            <a:off x="0" y="809513"/>
            <a:ext cx="12191999" cy="6048487"/>
          </a:xfrm>
          <a:prstGeom prst="rect">
            <a:avLst/>
          </a:prstGeom>
          <a:noFill/>
          <a:ln>
            <a:noFill/>
          </a:ln>
        </p:spPr>
      </p:pic>
      <p:sp>
        <p:nvSpPr>
          <p:cNvPr id="126" name="Google Shape;126;p16"/>
          <p:cNvSpPr txBox="1"/>
          <p:nvPr/>
        </p:nvSpPr>
        <p:spPr>
          <a:xfrm>
            <a:off x="0" y="100350"/>
            <a:ext cx="87999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700">
                <a:solidFill>
                  <a:srgbClr val="0F172A"/>
                </a:solidFill>
                <a:latin typeface="Plus Jakarta Sans"/>
                <a:ea typeface="Plus Jakarta Sans"/>
                <a:cs typeface="Plus Jakarta Sans"/>
                <a:sym typeface="Plus Jakarta Sans"/>
              </a:rPr>
              <a:t>WORKFLOW  2: IMAGE TO VIDEO:</a:t>
            </a:r>
            <a:endParaRPr>
              <a:solidFill>
                <a:schemeClr val="dk1"/>
              </a:solidFill>
            </a:endParaRPr>
          </a:p>
          <a:p>
            <a:pPr indent="0" lvl="0" marL="0" rtl="0" algn="l">
              <a:lnSpc>
                <a:spcPct val="115000"/>
              </a:lnSpc>
              <a:spcBef>
                <a:spcPts val="0"/>
              </a:spcBef>
              <a:spcAft>
                <a:spcPts val="0"/>
              </a:spcAft>
              <a:buNone/>
            </a:pPr>
            <a:r>
              <a:t/>
            </a:r>
            <a:endParaRPr b="1" sz="36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7"/>
          <p:cNvSpPr/>
          <p:nvPr/>
        </p:nvSpPr>
        <p:spPr>
          <a:xfrm>
            <a:off x="762000" y="5981700"/>
            <a:ext cx="106680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7"/>
          <p:cNvSpPr/>
          <p:nvPr/>
        </p:nvSpPr>
        <p:spPr>
          <a:xfrm>
            <a:off x="762000" y="2355651"/>
            <a:ext cx="5036194" cy="2480071"/>
          </a:xfrm>
          <a:prstGeom prst="roundRect">
            <a:avLst>
              <a:gd fmla="val 4608"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7"/>
          <p:cNvSpPr/>
          <p:nvPr/>
        </p:nvSpPr>
        <p:spPr>
          <a:xfrm>
            <a:off x="762000" y="5981700"/>
            <a:ext cx="106680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7"/>
          <p:cNvSpPr/>
          <p:nvPr/>
        </p:nvSpPr>
        <p:spPr>
          <a:xfrm>
            <a:off x="1076325" y="3917751"/>
            <a:ext cx="4407544" cy="60364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p:nvPr/>
        </p:nvSpPr>
        <p:spPr>
          <a:xfrm>
            <a:off x="6141094" y="2355651"/>
            <a:ext cx="5288905" cy="1177230"/>
          </a:xfrm>
          <a:prstGeom prst="roundRect">
            <a:avLst>
              <a:gd fmla="val 9709"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7"/>
          <p:cNvSpPr/>
          <p:nvPr/>
        </p:nvSpPr>
        <p:spPr>
          <a:xfrm>
            <a:off x="6141094" y="3685282"/>
            <a:ext cx="5288905" cy="1150441"/>
          </a:xfrm>
          <a:prstGeom prst="roundRect">
            <a:avLst>
              <a:gd fmla="val 9935" name="adj"/>
            </a:avLst>
          </a:prstGeom>
          <a:solidFill>
            <a:srgbClr val="FFF1F2"/>
          </a:solidFill>
          <a:ln cap="flat" cmpd="sng" w="9525">
            <a:solidFill>
              <a:srgbClr val="FECDD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7"/>
          <p:cNvSpPr/>
          <p:nvPr/>
        </p:nvSpPr>
        <p:spPr>
          <a:xfrm>
            <a:off x="1076325" y="3917751"/>
            <a:ext cx="440754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7"/>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Space Grotesk"/>
                <a:ea typeface="Space Grotesk"/>
                <a:cs typeface="Space Grotesk"/>
                <a:sym typeface="Space Grotesk"/>
              </a:rPr>
              <a:t>CRITERION 2: TARGET AUDIENCE</a:t>
            </a:r>
            <a:endParaRPr/>
          </a:p>
        </p:txBody>
      </p:sp>
      <p:sp>
        <p:nvSpPr>
          <p:cNvPr id="139" name="Google Shape;139;p17"/>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Quantified Demographic: 10,382,400 Students</a:t>
            </a:r>
            <a:endParaRPr/>
          </a:p>
        </p:txBody>
      </p:sp>
      <p:sp>
        <p:nvSpPr>
          <p:cNvPr id="140" name="Google Shape;140;p17"/>
          <p:cNvSpPr txBox="1"/>
          <p:nvPr/>
        </p:nvSpPr>
        <p:spPr>
          <a:xfrm>
            <a:off x="762000" y="6143625"/>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Campaign Placement: European Youth Climate Weeks across university digital boards, Instagram Reels, and YouTube Shorts.</a:t>
            </a:r>
            <a:endParaRPr/>
          </a:p>
        </p:txBody>
      </p:sp>
      <p:sp>
        <p:nvSpPr>
          <p:cNvPr id="141" name="Google Shape;141;p17"/>
          <p:cNvSpPr txBox="1"/>
          <p:nvPr/>
        </p:nvSpPr>
        <p:spPr>
          <a:xfrm>
            <a:off x="1076325" y="2669976"/>
            <a:ext cx="5509431"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284C7"/>
                </a:solidFill>
                <a:latin typeface="Space Grotesk"/>
                <a:ea typeface="Space Grotesk"/>
                <a:cs typeface="Space Grotesk"/>
                <a:sym typeface="Space Grotesk"/>
              </a:rPr>
              <a:t>METHODOLOGICAL FORMULA</a:t>
            </a:r>
            <a:endParaRPr/>
          </a:p>
        </p:txBody>
      </p:sp>
      <p:sp>
        <p:nvSpPr>
          <p:cNvPr id="142" name="Google Shape;142;p17"/>
          <p:cNvSpPr txBox="1"/>
          <p:nvPr/>
        </p:nvSpPr>
        <p:spPr>
          <a:xfrm>
            <a:off x="1076325" y="2946201"/>
            <a:ext cx="5509431" cy="4000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50" u="none" cap="none" strike="noStrike">
                <a:solidFill>
                  <a:srgbClr val="0F172A"/>
                </a:solidFill>
                <a:latin typeface="Space Grotesk"/>
                <a:ea typeface="Space Grotesk"/>
                <a:cs typeface="Space Grotesk"/>
                <a:sym typeface="Space Grotesk"/>
              </a:rPr>
              <a:t>10.38M</a:t>
            </a:r>
            <a:endParaRPr/>
          </a:p>
        </p:txBody>
      </p:sp>
      <p:sp>
        <p:nvSpPr>
          <p:cNvPr id="143" name="Google Shape;143;p17"/>
          <p:cNvSpPr txBox="1"/>
          <p:nvPr/>
        </p:nvSpPr>
        <p:spPr>
          <a:xfrm>
            <a:off x="1076325" y="3422451"/>
            <a:ext cx="5509431"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18,540,000 students × 56% fatalism rate</a:t>
            </a:r>
            <a:endParaRPr/>
          </a:p>
        </p:txBody>
      </p:sp>
      <p:sp>
        <p:nvSpPr>
          <p:cNvPr id="144" name="Google Shape;144;p17"/>
          <p:cNvSpPr txBox="1"/>
          <p:nvPr/>
        </p:nvSpPr>
        <p:spPr>
          <a:xfrm>
            <a:off x="1076325" y="4079676"/>
            <a:ext cx="4502794" cy="441721"/>
          </a:xfrm>
          <a:prstGeom prst="rect">
            <a:avLst/>
          </a:prstGeom>
          <a:noFill/>
          <a:ln>
            <a:noFill/>
          </a:ln>
        </p:spPr>
        <p:txBody>
          <a:bodyPr anchorCtr="0" anchor="t" bIns="0" lIns="0" spcFirstLastPara="1" rIns="0" wrap="square" tIns="0">
            <a:spAutoFit/>
          </a:bodyPr>
          <a:lstStyle/>
          <a:p>
            <a:pPr indent="0" lvl="0" marL="0" marR="0" rtl="0" algn="l">
              <a:lnSpc>
                <a:spcPct val="144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Data sources: </a:t>
            </a:r>
            <a:r>
              <a:rPr b="1" i="0" lang="en-US" sz="1200" u="none" cap="none" strike="noStrike">
                <a:solidFill>
                  <a:srgbClr val="64748B"/>
                </a:solidFill>
                <a:latin typeface="Plus Jakarta Sans"/>
                <a:ea typeface="Plus Jakarta Sans"/>
                <a:cs typeface="Plus Jakarta Sans"/>
                <a:sym typeface="Plus Jakarta Sans"/>
              </a:rPr>
              <a:t>Eurostat 2023/24</a:t>
            </a:r>
            <a:r>
              <a:rPr b="0" i="0" lang="en-US" sz="1200" u="none" cap="none" strike="noStrike">
                <a:solidFill>
                  <a:srgbClr val="64748B"/>
                </a:solidFill>
                <a:latin typeface="Plus Jakarta Sans"/>
                <a:ea typeface="Plus Jakarta Sans"/>
                <a:cs typeface="Plus Jakarta Sans"/>
                <a:sym typeface="Plus Jakarta Sans"/>
              </a:rPr>
              <a:t> tertiary student registry &amp; </a:t>
            </a:r>
            <a:r>
              <a:rPr b="1" i="0" lang="en-US" sz="1200" u="none" cap="none" strike="noStrike">
                <a:solidFill>
                  <a:srgbClr val="64748B"/>
                </a:solidFill>
                <a:latin typeface="Plus Jakarta Sans"/>
                <a:ea typeface="Plus Jakarta Sans"/>
                <a:cs typeface="Plus Jakarta Sans"/>
                <a:sym typeface="Plus Jakarta Sans"/>
              </a:rPr>
              <a:t>The Lancet Planetary Health</a:t>
            </a:r>
            <a:r>
              <a:rPr b="0" i="0" lang="en-US" sz="1200" u="none" cap="none" strike="noStrike">
                <a:solidFill>
                  <a:srgbClr val="64748B"/>
                </a:solidFill>
                <a:latin typeface="Plus Jakarta Sans"/>
                <a:ea typeface="Plus Jakarta Sans"/>
                <a:cs typeface="Plus Jakarta Sans"/>
                <a:sym typeface="Plus Jakarta Sans"/>
              </a:rPr>
              <a:t> (Hickman et al., 2021).</a:t>
            </a:r>
            <a:endParaRPr/>
          </a:p>
        </p:txBody>
      </p:sp>
      <p:sp>
        <p:nvSpPr>
          <p:cNvPr id="145" name="Google Shape;145;p17"/>
          <p:cNvSpPr txBox="1"/>
          <p:nvPr/>
        </p:nvSpPr>
        <p:spPr>
          <a:xfrm>
            <a:off x="6379219" y="2593776"/>
            <a:ext cx="581278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166534"/>
                </a:solidFill>
                <a:latin typeface="Space Grotesk"/>
                <a:ea typeface="Space Grotesk"/>
                <a:cs typeface="Space Grotesk"/>
                <a:sym typeface="Space Grotesk"/>
              </a:rPr>
              <a:t>WHO IT IS FOR (Target Segment)</a:t>
            </a:r>
            <a:endParaRPr/>
          </a:p>
        </p:txBody>
      </p:sp>
      <p:sp>
        <p:nvSpPr>
          <p:cNvPr id="146" name="Google Shape;146;p17"/>
          <p:cNvSpPr txBox="1"/>
          <p:nvPr/>
        </p:nvSpPr>
        <p:spPr>
          <a:xfrm>
            <a:off x="6379219" y="2841426"/>
            <a:ext cx="4907905" cy="4533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275" u="none" cap="none" strike="noStrike">
                <a:solidFill>
                  <a:srgbClr val="1E293B"/>
                </a:solidFill>
                <a:latin typeface="Plus Jakarta Sans"/>
                <a:ea typeface="Plus Jakarta Sans"/>
                <a:cs typeface="Plus Jakarta Sans"/>
                <a:sym typeface="Plus Jakarta Sans"/>
              </a:rPr>
              <a:t>Higher education students (18–24) in the EU who accept climate science but remain paralyzed by fatalistic eco-anxiety.</a:t>
            </a:r>
            <a:endParaRPr/>
          </a:p>
        </p:txBody>
      </p:sp>
      <p:sp>
        <p:nvSpPr>
          <p:cNvPr id="147" name="Google Shape;147;p17"/>
          <p:cNvSpPr txBox="1"/>
          <p:nvPr/>
        </p:nvSpPr>
        <p:spPr>
          <a:xfrm>
            <a:off x="6379219" y="3923407"/>
            <a:ext cx="581278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9F1239"/>
                </a:solidFill>
                <a:latin typeface="Space Grotesk"/>
                <a:ea typeface="Space Grotesk"/>
                <a:cs typeface="Space Grotesk"/>
                <a:sym typeface="Space Grotesk"/>
              </a:rPr>
              <a:t>WHO IT IS NOT FOR (Explicit Exclusion)</a:t>
            </a:r>
            <a:endParaRPr/>
          </a:p>
        </p:txBody>
      </p:sp>
      <p:sp>
        <p:nvSpPr>
          <p:cNvPr id="148" name="Google Shape;148;p17"/>
          <p:cNvSpPr txBox="1"/>
          <p:nvPr/>
        </p:nvSpPr>
        <p:spPr>
          <a:xfrm>
            <a:off x="6379219" y="4171057"/>
            <a:ext cx="4907905" cy="426541"/>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1" i="0" lang="en-US" sz="1200" u="none" cap="none" strike="noStrike">
                <a:solidFill>
                  <a:srgbClr val="334155"/>
                </a:solidFill>
                <a:latin typeface="Plus Jakarta Sans"/>
                <a:ea typeface="Plus Jakarta Sans"/>
                <a:cs typeface="Plus Jakarta Sans"/>
                <a:sym typeface="Plus Jakarta Sans"/>
              </a:rPr>
              <a:t>Climate deniers</a:t>
            </a:r>
            <a:r>
              <a:rPr b="0" i="0" lang="en-US" sz="1200" u="none" cap="none" strike="noStrike">
                <a:solidFill>
                  <a:srgbClr val="334155"/>
                </a:solidFill>
                <a:latin typeface="Plus Jakarta Sans"/>
                <a:ea typeface="Plus Jakarta Sans"/>
                <a:cs typeface="Plus Jakarta Sans"/>
                <a:sym typeface="Plus Jakarta Sans"/>
              </a:rPr>
              <a:t> (unpersuadable in 30s) and </a:t>
            </a:r>
            <a:r>
              <a:rPr b="1" i="0" lang="en-US" sz="1200" u="none" cap="none" strike="noStrike">
                <a:solidFill>
                  <a:srgbClr val="334155"/>
                </a:solidFill>
                <a:latin typeface="Plus Jakarta Sans"/>
                <a:ea typeface="Plus Jakarta Sans"/>
                <a:cs typeface="Plus Jakarta Sans"/>
                <a:sym typeface="Plus Jakarta Sans"/>
              </a:rPr>
              <a:t>children under 12</a:t>
            </a:r>
            <a:r>
              <a:rPr b="0" i="0" lang="en-US" sz="1200" u="none" cap="none" strike="noStrike">
                <a:solidFill>
                  <a:srgbClr val="334155"/>
                </a:solidFill>
                <a:latin typeface="Plus Jakarta Sans"/>
                <a:ea typeface="Plus Jakarta Sans"/>
                <a:cs typeface="Plus Jakarta Sans"/>
                <a:sym typeface="Plus Jakarta Sans"/>
              </a:rPr>
              <a:t> (catastrophic imagery causes unnecessary distress).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2" name="Shape 152"/>
        <p:cNvGrpSpPr/>
        <p:nvPr/>
      </p:nvGrpSpPr>
      <p:grpSpPr>
        <a:xfrm>
          <a:off x="0" y="0"/>
          <a:ext cx="0" cy="0"/>
          <a:chOff x="0" y="0"/>
          <a:chExt cx="0" cy="0"/>
        </a:xfrm>
      </p:grpSpPr>
      <p:sp>
        <p:nvSpPr>
          <p:cNvPr id="153" name="Google Shape;153;p18"/>
          <p:cNvSpPr/>
          <p:nvPr/>
        </p:nvSpPr>
        <p:spPr>
          <a:xfrm>
            <a:off x="762000" y="5981700"/>
            <a:ext cx="106680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8"/>
          <p:cNvSpPr/>
          <p:nvPr/>
        </p:nvSpPr>
        <p:spPr>
          <a:xfrm>
            <a:off x="762000" y="5981700"/>
            <a:ext cx="10668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8"/>
          <p:cNvSpPr/>
          <p:nvPr/>
        </p:nvSpPr>
        <p:spPr>
          <a:xfrm>
            <a:off x="6051500" y="1866900"/>
            <a:ext cx="5378499" cy="1038225"/>
          </a:xfrm>
          <a:prstGeom prst="roundRect">
            <a:avLst>
              <a:gd fmla="val 917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8"/>
          <p:cNvSpPr/>
          <p:nvPr/>
        </p:nvSpPr>
        <p:spPr>
          <a:xfrm>
            <a:off x="6051500" y="3076575"/>
            <a:ext cx="5378499" cy="1038225"/>
          </a:xfrm>
          <a:prstGeom prst="roundRect">
            <a:avLst>
              <a:gd fmla="val 917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8"/>
          <p:cNvSpPr/>
          <p:nvPr/>
        </p:nvSpPr>
        <p:spPr>
          <a:xfrm>
            <a:off x="6051500" y="4286250"/>
            <a:ext cx="5378499" cy="1038225"/>
          </a:xfrm>
          <a:prstGeom prst="roundRect">
            <a:avLst>
              <a:gd fmla="val 9174"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58" name="Google Shape;158;p18"/>
          <p:cNvPicPr preferRelativeResize="0"/>
          <p:nvPr/>
        </p:nvPicPr>
        <p:blipFill rotWithShape="1">
          <a:blip r:embed="rId3">
            <a:alphaModFix/>
          </a:blip>
          <a:srcRect b="0" l="0" r="0" t="0"/>
          <a:stretch/>
        </p:blipFill>
        <p:spPr>
          <a:xfrm>
            <a:off x="762000" y="1976437"/>
            <a:ext cx="4908500" cy="3238500"/>
          </a:xfrm>
          <a:prstGeom prst="rect">
            <a:avLst/>
          </a:prstGeom>
          <a:noFill/>
          <a:ln>
            <a:noFill/>
          </a:ln>
        </p:spPr>
      </p:pic>
      <p:pic>
        <p:nvPicPr>
          <p:cNvPr descr="image.png" id="159" name="Google Shape;159;p18"/>
          <p:cNvPicPr preferRelativeResize="0"/>
          <p:nvPr/>
        </p:nvPicPr>
        <p:blipFill rotWithShape="1">
          <a:blip r:embed="rId4">
            <a:alphaModFix/>
          </a:blip>
          <a:srcRect b="0" l="0" r="0" t="0"/>
          <a:stretch/>
        </p:blipFill>
        <p:spPr>
          <a:xfrm>
            <a:off x="771525" y="1985962"/>
            <a:ext cx="4889450" cy="3219450"/>
          </a:xfrm>
          <a:prstGeom prst="rect">
            <a:avLst/>
          </a:prstGeom>
          <a:noFill/>
          <a:ln>
            <a:noFill/>
          </a:ln>
        </p:spPr>
      </p:pic>
      <p:sp>
        <p:nvSpPr>
          <p:cNvPr id="160" name="Google Shape;160;p18"/>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D97706"/>
                </a:solidFill>
                <a:latin typeface="Space Grotesk"/>
                <a:ea typeface="Space Grotesk"/>
                <a:cs typeface="Space Grotesk"/>
                <a:sym typeface="Space Grotesk"/>
              </a:rPr>
              <a:t>CRITERION 4: PROBLEM-SOLUTION FIT</a:t>
            </a:r>
            <a:endParaRPr/>
          </a:p>
        </p:txBody>
      </p:sp>
      <p:sp>
        <p:nvSpPr>
          <p:cNvPr id="161" name="Google Shape;161;p18"/>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The Unmoving Window Sill Anchor</a:t>
            </a:r>
            <a:endParaRPr/>
          </a:p>
        </p:txBody>
      </p:sp>
      <p:sp>
        <p:nvSpPr>
          <p:cNvPr id="162" name="Google Shape;162;p18"/>
          <p:cNvSpPr txBox="1"/>
          <p:nvPr/>
        </p:nvSpPr>
        <p:spPr>
          <a:xfrm>
            <a:off x="762000" y="6143625"/>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Design Strategy: 100% locally rendered video pipeline engineered specifically for high-retention short-form media.</a:t>
            </a:r>
            <a:endParaRPr/>
          </a:p>
        </p:txBody>
      </p:sp>
      <p:sp>
        <p:nvSpPr>
          <p:cNvPr id="163" name="Google Shape;163;p18"/>
          <p:cNvSpPr txBox="1"/>
          <p:nvPr/>
        </p:nvSpPr>
        <p:spPr>
          <a:xfrm>
            <a:off x="6270575" y="2047875"/>
            <a:ext cx="5921424"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1. Temporal Compression</a:t>
            </a:r>
            <a:endParaRPr/>
          </a:p>
        </p:txBody>
      </p:sp>
      <p:sp>
        <p:nvSpPr>
          <p:cNvPr id="164" name="Google Shape;164;p18"/>
          <p:cNvSpPr txBox="1"/>
          <p:nvPr/>
        </p:nvSpPr>
        <p:spPr>
          <a:xfrm>
            <a:off x="6270575" y="2324100"/>
            <a:ext cx="50355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500 years collapsed into 30 seconds to dissolve perceived psychological distance.</a:t>
            </a:r>
            <a:endParaRPr/>
          </a:p>
        </p:txBody>
      </p:sp>
      <p:sp>
        <p:nvSpPr>
          <p:cNvPr id="165" name="Google Shape;165;p18"/>
          <p:cNvSpPr txBox="1"/>
          <p:nvPr/>
        </p:nvSpPr>
        <p:spPr>
          <a:xfrm>
            <a:off x="6270575" y="3257550"/>
            <a:ext cx="5921424"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2. Spatial Anchor</a:t>
            </a:r>
            <a:endParaRPr/>
          </a:p>
        </p:txBody>
      </p:sp>
      <p:sp>
        <p:nvSpPr>
          <p:cNvPr id="166" name="Google Shape;166;p18"/>
          <p:cNvSpPr txBox="1"/>
          <p:nvPr/>
        </p:nvSpPr>
        <p:spPr>
          <a:xfrm>
            <a:off x="6270575" y="3533775"/>
            <a:ext cx="50355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The static stone sill places the viewer in the room as an active historical observer.</a:t>
            </a:r>
            <a:endParaRPr/>
          </a:p>
        </p:txBody>
      </p:sp>
      <p:sp>
        <p:nvSpPr>
          <p:cNvPr id="167" name="Google Shape;167;p18"/>
          <p:cNvSpPr txBox="1"/>
          <p:nvPr/>
        </p:nvSpPr>
        <p:spPr>
          <a:xfrm>
            <a:off x="6270575" y="4467225"/>
            <a:ext cx="5921424"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3. Shattering Doomism</a:t>
            </a:r>
            <a:endParaRPr/>
          </a:p>
        </p:txBody>
      </p:sp>
      <p:sp>
        <p:nvSpPr>
          <p:cNvPr id="168" name="Google Shape;168;p18"/>
          <p:cNvSpPr txBox="1"/>
          <p:nvPr/>
        </p:nvSpPr>
        <p:spPr>
          <a:xfrm>
            <a:off x="6270575" y="4743450"/>
            <a:ext cx="5035599" cy="4000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Proves today is the singular point on the timeline where outcomes can be altered.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19"/>
          <p:cNvSpPr/>
          <p:nvPr/>
        </p:nvSpPr>
        <p:spPr>
          <a:xfrm>
            <a:off x="762000" y="5886450"/>
            <a:ext cx="10668000" cy="438150"/>
          </a:xfrm>
          <a:prstGeom prst="roundRect">
            <a:avLst>
              <a:gd fmla="val 17391" name="adj"/>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p:nvPr/>
        </p:nvSpPr>
        <p:spPr>
          <a:xfrm>
            <a:off x="762000" y="2609850"/>
            <a:ext cx="2524125" cy="1876425"/>
          </a:xfrm>
          <a:prstGeom prst="roundRect">
            <a:avLst>
              <a:gd fmla="val 6091"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3476625" y="2609850"/>
            <a:ext cx="2524125" cy="1876425"/>
          </a:xfrm>
          <a:prstGeom prst="roundRect">
            <a:avLst>
              <a:gd fmla="val 6091"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p:nvPr/>
        </p:nvSpPr>
        <p:spPr>
          <a:xfrm>
            <a:off x="6191250" y="2609850"/>
            <a:ext cx="2524125" cy="1876425"/>
          </a:xfrm>
          <a:prstGeom prst="roundRect">
            <a:avLst>
              <a:gd fmla="val 6091"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9"/>
          <p:cNvSpPr/>
          <p:nvPr/>
        </p:nvSpPr>
        <p:spPr>
          <a:xfrm>
            <a:off x="8905875" y="2609850"/>
            <a:ext cx="2524125" cy="1876425"/>
          </a:xfrm>
          <a:prstGeom prst="roundRect">
            <a:avLst>
              <a:gd fmla="val 6091"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9"/>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Space Grotesk"/>
                <a:ea typeface="Space Grotesk"/>
                <a:cs typeface="Space Grotesk"/>
                <a:sym typeface="Space Grotesk"/>
              </a:rPr>
              <a:t>CRITERIA K1 &amp; 5: AI PIPELINE &amp; WORKING PROTOTYPE</a:t>
            </a:r>
            <a:endParaRPr/>
          </a:p>
        </p:txBody>
      </p:sp>
      <p:sp>
        <p:nvSpPr>
          <p:cNvPr id="179" name="Google Shape;179;p19"/>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Deterministic ComfyUI Workflow Architecture</a:t>
            </a:r>
            <a:endParaRPr/>
          </a:p>
        </p:txBody>
      </p:sp>
      <p:sp>
        <p:nvSpPr>
          <p:cNvPr id="180" name="Google Shape;180;p19"/>
          <p:cNvSpPr txBox="1"/>
          <p:nvPr/>
        </p:nvSpPr>
        <p:spPr>
          <a:xfrm>
            <a:off x="952500" y="6019800"/>
            <a:ext cx="4441031"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334155"/>
                </a:solidFill>
                <a:latin typeface="Space Grotesk"/>
                <a:ea typeface="Space Grotesk"/>
                <a:cs typeface="Space Grotesk"/>
                <a:sym typeface="Space Grotesk"/>
              </a:rPr>
              <a:t>Submitted Artifact: </a:t>
            </a:r>
            <a:r>
              <a:rPr b="1" i="0" lang="en-US" sz="1050" u="none" cap="none" strike="noStrike">
                <a:solidFill>
                  <a:srgbClr val="334155"/>
                </a:solidFill>
                <a:latin typeface="Space Grotesk"/>
                <a:ea typeface="Space Grotesk"/>
                <a:cs typeface="Space Grotesk"/>
                <a:sym typeface="Space Grotesk"/>
              </a:rPr>
              <a:t>workflow_through_the_glass.json</a:t>
            </a:r>
            <a:endParaRPr/>
          </a:p>
        </p:txBody>
      </p:sp>
      <p:sp>
        <p:nvSpPr>
          <p:cNvPr id="181" name="Google Shape;181;p19"/>
          <p:cNvSpPr txBox="1"/>
          <p:nvPr/>
        </p:nvSpPr>
        <p:spPr>
          <a:xfrm>
            <a:off x="8801100" y="6019800"/>
            <a:ext cx="3048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59669"/>
                </a:solidFill>
                <a:latin typeface="Space Grotesk"/>
                <a:ea typeface="Space Grotesk"/>
                <a:cs typeface="Space Grotesk"/>
                <a:sym typeface="Space Grotesk"/>
              </a:rPr>
              <a:t>✓ 100% Deterministic &amp; Reproducible</a:t>
            </a:r>
            <a:endParaRPr/>
          </a:p>
        </p:txBody>
      </p:sp>
      <p:sp>
        <p:nvSpPr>
          <p:cNvPr id="182" name="Google Shape;182;p19"/>
          <p:cNvSpPr txBox="1"/>
          <p:nvPr/>
        </p:nvSpPr>
        <p:spPr>
          <a:xfrm>
            <a:off x="962025" y="2867025"/>
            <a:ext cx="265509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284C7"/>
                </a:solidFill>
                <a:latin typeface="Space Grotesk"/>
                <a:ea typeface="Space Grotesk"/>
                <a:cs typeface="Space Grotesk"/>
                <a:sym typeface="Space Grotesk"/>
              </a:rPr>
              <a:t>NODE 01: FOUNDATION</a:t>
            </a:r>
            <a:endParaRPr/>
          </a:p>
        </p:txBody>
      </p:sp>
      <p:sp>
        <p:nvSpPr>
          <p:cNvPr id="183" name="Google Shape;183;p19"/>
          <p:cNvSpPr txBox="1"/>
          <p:nvPr/>
        </p:nvSpPr>
        <p:spPr>
          <a:xfrm>
            <a:off x="962025" y="3105150"/>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SDXL Checkpoint</a:t>
            </a:r>
            <a:endParaRPr/>
          </a:p>
        </p:txBody>
      </p:sp>
      <p:sp>
        <p:nvSpPr>
          <p:cNvPr id="184" name="Google Shape;184;p19"/>
          <p:cNvSpPr txBox="1"/>
          <p:nvPr/>
        </p:nvSpPr>
        <p:spPr>
          <a:xfrm>
            <a:off x="962025" y="3429000"/>
            <a:ext cx="2219325"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Juggernaut XL delivers photographic realism, rock texture, and atmospheric haze.</a:t>
            </a:r>
            <a:endParaRPr/>
          </a:p>
        </p:txBody>
      </p:sp>
      <p:sp>
        <p:nvSpPr>
          <p:cNvPr id="185" name="Google Shape;185;p19"/>
          <p:cNvSpPr txBox="1"/>
          <p:nvPr/>
        </p:nvSpPr>
        <p:spPr>
          <a:xfrm>
            <a:off x="3676650" y="2867025"/>
            <a:ext cx="265509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Space Grotesk"/>
                <a:ea typeface="Space Grotesk"/>
                <a:cs typeface="Space Grotesk"/>
                <a:sym typeface="Space Grotesk"/>
              </a:rPr>
              <a:t>NODE 02: STABILITY</a:t>
            </a:r>
            <a:endParaRPr/>
          </a:p>
        </p:txBody>
      </p:sp>
      <p:sp>
        <p:nvSpPr>
          <p:cNvPr id="186" name="Google Shape;186;p19"/>
          <p:cNvSpPr txBox="1"/>
          <p:nvPr/>
        </p:nvSpPr>
        <p:spPr>
          <a:xfrm>
            <a:off x="3676650" y="3105150"/>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ControlNet Canny</a:t>
            </a:r>
            <a:endParaRPr/>
          </a:p>
        </p:txBody>
      </p:sp>
      <p:sp>
        <p:nvSpPr>
          <p:cNvPr id="187" name="Google Shape;187;p19"/>
          <p:cNvSpPr txBox="1"/>
          <p:nvPr/>
        </p:nvSpPr>
        <p:spPr>
          <a:xfrm>
            <a:off x="3676650" y="3429000"/>
            <a:ext cx="2219325"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Locks stone sill edges at 0.85 weight, preventing geometric morphing across centuries.</a:t>
            </a:r>
            <a:endParaRPr/>
          </a:p>
        </p:txBody>
      </p:sp>
      <p:sp>
        <p:nvSpPr>
          <p:cNvPr id="188" name="Google Shape;188;p19"/>
          <p:cNvSpPr txBox="1"/>
          <p:nvPr/>
        </p:nvSpPr>
        <p:spPr>
          <a:xfrm>
            <a:off x="6391275" y="2867025"/>
            <a:ext cx="265509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Space Grotesk"/>
                <a:ea typeface="Space Grotesk"/>
                <a:cs typeface="Space Grotesk"/>
                <a:sym typeface="Space Grotesk"/>
              </a:rPr>
              <a:t>NODE 03: MOTION</a:t>
            </a:r>
            <a:endParaRPr/>
          </a:p>
        </p:txBody>
      </p:sp>
      <p:sp>
        <p:nvSpPr>
          <p:cNvPr id="189" name="Google Shape;189;p19"/>
          <p:cNvSpPr txBox="1"/>
          <p:nvPr/>
        </p:nvSpPr>
        <p:spPr>
          <a:xfrm>
            <a:off x="6391275" y="3105150"/>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AnimateDiff-Evolved</a:t>
            </a:r>
            <a:endParaRPr/>
          </a:p>
        </p:txBody>
      </p:sp>
      <p:sp>
        <p:nvSpPr>
          <p:cNvPr id="190" name="Google Shape;190;p19"/>
          <p:cNvSpPr txBox="1"/>
          <p:nvPr/>
        </p:nvSpPr>
        <p:spPr>
          <a:xfrm>
            <a:off x="6391275" y="3429000"/>
            <a:ext cx="2219325"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Synthesizes continuous smoke plumes, acid rain trails, and volcanic explosions.</a:t>
            </a:r>
            <a:endParaRPr/>
          </a:p>
        </p:txBody>
      </p:sp>
      <p:sp>
        <p:nvSpPr>
          <p:cNvPr id="191" name="Google Shape;191;p19"/>
          <p:cNvSpPr txBox="1"/>
          <p:nvPr/>
        </p:nvSpPr>
        <p:spPr>
          <a:xfrm>
            <a:off x="9105900" y="2867025"/>
            <a:ext cx="265509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7C3AED"/>
                </a:solidFill>
                <a:latin typeface="Space Grotesk"/>
                <a:ea typeface="Space Grotesk"/>
                <a:cs typeface="Space Grotesk"/>
                <a:sym typeface="Space Grotesk"/>
              </a:rPr>
              <a:t>NODE 04: ISOLATION</a:t>
            </a:r>
            <a:endParaRPr/>
          </a:p>
        </p:txBody>
      </p:sp>
      <p:sp>
        <p:nvSpPr>
          <p:cNvPr id="192" name="Google Shape;192;p19"/>
          <p:cNvSpPr txBox="1"/>
          <p:nvPr/>
        </p:nvSpPr>
        <p:spPr>
          <a:xfrm>
            <a:off x="9105900" y="3105150"/>
            <a:ext cx="278784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25" u="none" cap="none" strike="noStrike">
                <a:solidFill>
                  <a:srgbClr val="0F172A"/>
                </a:solidFill>
                <a:latin typeface="Plus Jakarta Sans"/>
                <a:ea typeface="Plus Jakarta Sans"/>
                <a:cs typeface="Plus Jakarta Sans"/>
                <a:sym typeface="Plus Jakarta Sans"/>
              </a:rPr>
              <a:t>Latent Mask Inpaint</a:t>
            </a:r>
            <a:endParaRPr/>
          </a:p>
        </p:txBody>
      </p:sp>
      <p:sp>
        <p:nvSpPr>
          <p:cNvPr id="193" name="Google Shape;193;p19"/>
          <p:cNvSpPr txBox="1"/>
          <p:nvPr/>
        </p:nvSpPr>
        <p:spPr>
          <a:xfrm>
            <a:off x="9105900" y="3429000"/>
            <a:ext cx="2219325" cy="8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Mutates exterior window view at 0.75+ denoise while interior walls remain untouched.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7" name="Shape 197"/>
        <p:cNvGrpSpPr/>
        <p:nvPr/>
      </p:nvGrpSpPr>
      <p:grpSpPr>
        <a:xfrm>
          <a:off x="0" y="0"/>
          <a:ext cx="0" cy="0"/>
          <a:chOff x="0" y="0"/>
          <a:chExt cx="0" cy="0"/>
        </a:xfrm>
      </p:grpSpPr>
      <p:sp>
        <p:nvSpPr>
          <p:cNvPr id="198" name="Google Shape;198;p20"/>
          <p:cNvSpPr/>
          <p:nvPr/>
        </p:nvSpPr>
        <p:spPr>
          <a:xfrm>
            <a:off x="762000" y="2190750"/>
            <a:ext cx="10668000" cy="2809875"/>
          </a:xfrm>
          <a:prstGeom prst="roundRect">
            <a:avLst>
              <a:gd fmla="val 406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0"/>
          <p:cNvSpPr/>
          <p:nvPr/>
        </p:nvSpPr>
        <p:spPr>
          <a:xfrm>
            <a:off x="762000" y="5981700"/>
            <a:ext cx="106680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0"/>
          <p:cNvSpPr/>
          <p:nvPr/>
        </p:nvSpPr>
        <p:spPr>
          <a:xfrm>
            <a:off x="762000" y="5981700"/>
            <a:ext cx="10668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01" name="Google Shape;201;p20"/>
          <p:cNvGraphicFramePr/>
          <p:nvPr/>
        </p:nvGraphicFramePr>
        <p:xfrm>
          <a:off x="771525" y="2200275"/>
          <a:ext cx="3000000" cy="3000000"/>
        </p:xfrm>
        <a:graphic>
          <a:graphicData uri="http://schemas.openxmlformats.org/drawingml/2006/table">
            <a:tbl>
              <a:tblPr>
                <a:noFill/>
                <a:tableStyleId>{0D42FCC0-DB60-4595-9972-E2EB3143E60D}</a:tableStyleId>
              </a:tblPr>
              <a:tblGrid>
                <a:gridCol w="771525"/>
                <a:gridCol w="1576375"/>
                <a:gridCol w="1223525"/>
                <a:gridCol w="5754300"/>
                <a:gridCol w="1323225"/>
              </a:tblGrid>
              <a:tr h="398700">
                <a:tc>
                  <a:txBody>
                    <a:bodyPr/>
                    <a:lstStyle/>
                    <a:p>
                      <a:pPr indent="0" lvl="0" marL="0" marR="0" rtl="0" algn="l">
                        <a:spcBef>
                          <a:spcPts val="0"/>
                        </a:spcBef>
                        <a:spcAft>
                          <a:spcPts val="0"/>
                        </a:spcAft>
                        <a:buNone/>
                      </a:pPr>
                      <a:r>
                        <a:rPr b="1" i="0" lang="en-US" sz="975" u="none" cap="none" strike="noStrike">
                          <a:solidFill>
                            <a:srgbClr val="475569"/>
                          </a:solidFill>
                          <a:latin typeface="Space Grotesk"/>
                          <a:ea typeface="Space Grotesk"/>
                          <a:cs typeface="Space Grotesk"/>
                          <a:sym typeface="Space Grotesk"/>
                        </a:rPr>
                        <a:t>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975" u="none" cap="none" strike="noStrike">
                          <a:solidFill>
                            <a:srgbClr val="475569"/>
                          </a:solidFill>
                          <a:latin typeface="Space Grotesk"/>
                          <a:ea typeface="Space Grotesk"/>
                          <a:cs typeface="Space Grotesk"/>
                          <a:sym typeface="Space Grotesk"/>
                        </a:rPr>
                        <a:t>TIMECODE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975" u="none" cap="none" strike="noStrike">
                          <a:solidFill>
                            <a:srgbClr val="475569"/>
                          </a:solidFill>
                          <a:latin typeface="Space Grotesk"/>
                          <a:ea typeface="Space Grotesk"/>
                          <a:cs typeface="Space Grotesk"/>
                          <a:sym typeface="Space Grotesk"/>
                        </a:rPr>
                        <a:t>ERA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975" u="none" cap="none" strike="noStrike">
                          <a:solidFill>
                            <a:srgbClr val="475569"/>
                          </a:solidFill>
                          <a:latin typeface="Space Grotesk"/>
                          <a:ea typeface="Space Grotesk"/>
                          <a:cs typeface="Space Grotesk"/>
                          <a:sym typeface="Space Grotesk"/>
                        </a:rPr>
                        <a:t>ENVIRONMENTAL DYNAMICS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1" i="0" lang="en-US" sz="975" u="none" cap="none" strike="noStrike">
                          <a:solidFill>
                            <a:srgbClr val="475569"/>
                          </a:solidFill>
                          <a:latin typeface="Space Grotesk"/>
                          <a:ea typeface="Space Grotesk"/>
                          <a:cs typeface="Space Grotesk"/>
                          <a:sym typeface="Space Grotesk"/>
                        </a:rPr>
                        <a:t>SETTINGS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00:00 - 00:04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059669"/>
                          </a:solidFill>
                          <a:latin typeface="Plus Jakarta Sans"/>
                          <a:ea typeface="Plus Jakarta Sans"/>
                          <a:cs typeface="Plus Jakarta Sans"/>
                          <a:sym typeface="Plus Jakarta Sans"/>
                        </a:rPr>
                        <a:t>Year 1800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Pristine ancient virgin forest, crystal river, morning sunlight.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Canny: 0.85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00:04 - 00:08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475569"/>
                          </a:solidFill>
                          <a:latin typeface="Plus Jakarta Sans"/>
                          <a:ea typeface="Plus Jakarta Sans"/>
                          <a:cs typeface="Plus Jakarta Sans"/>
                          <a:sym typeface="Plus Jakarta Sans"/>
                        </a:rPr>
                        <a:t>Year 1900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Industrial brick smokestacks, dense soot, muddy riverbank.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Canny: 0.85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00:08 - 00:13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D97706"/>
                          </a:solidFill>
                          <a:latin typeface="Plus Jakarta Sans"/>
                          <a:ea typeface="Plus Jakarta Sans"/>
                          <a:cs typeface="Plus Jakarta Sans"/>
                          <a:sym typeface="Plus Jakarta Sans"/>
                        </a:rPr>
                        <a:t>Year 1970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Petrochemical flare stacks, yellow-brown smog, toxic rain.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Canny: 0.85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00:13 - 00:18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7C3AED"/>
                          </a:solidFill>
                          <a:latin typeface="Plus Jakarta Sans"/>
                          <a:ea typeface="Plus Jakarta Sans"/>
                          <a:cs typeface="Plus Jakarta Sans"/>
                          <a:sym typeface="Plus Jakarta Sans"/>
                        </a:rPr>
                        <a:t>Year 2100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Blade Runner megacity, electronic waste, flying spinners, neon haze.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Inpaint: 0.80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00:18 - 00:24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E11D48"/>
                          </a:solidFill>
                          <a:latin typeface="Plus Jakarta Sans"/>
                          <a:ea typeface="Plus Jakarta Sans"/>
                          <a:cs typeface="Plus Jakarta Sans"/>
                          <a:sym typeface="Plus Jakarta Sans"/>
                        </a:rPr>
                        <a:t>Year 2200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Massive extinction crater explosion, billowing shockwave and ash.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Canny: 0.90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98700">
                <a:tc>
                  <a:txBody>
                    <a:bodyPr/>
                    <a:lstStyle/>
                    <a:p>
                      <a:pPr indent="0" lvl="0" marL="0" marR="0" rtl="0" algn="l">
                        <a:spcBef>
                          <a:spcPts val="0"/>
                        </a:spcBef>
                        <a:spcAft>
                          <a:spcPts val="0"/>
                        </a:spcAft>
                        <a:buNone/>
                      </a:pPr>
                      <a:r>
                        <a:rPr b="1" i="0" lang="en-US" sz="1200" u="none" cap="none" strike="noStrike">
                          <a:solidFill>
                            <a:srgbClr val="0284C7"/>
                          </a:solidFill>
                          <a:latin typeface="Plus Jakarta Sans"/>
                          <a:ea typeface="Plus Jakarta Sans"/>
                          <a:cs typeface="Plus Jakarta Sans"/>
                          <a:sym typeface="Plus Jakarta Sans"/>
                        </a:rPr>
                        <a:t>06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475569"/>
                          </a:solidFill>
                          <a:latin typeface="Plus Jakarta Sans"/>
                          <a:ea typeface="Plus Jakarta Sans"/>
                          <a:cs typeface="Plus Jakarta Sans"/>
                          <a:sym typeface="Plus Jakarta Sans"/>
                        </a:rPr>
                        <a:t>00:24 - 00:30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1125" u="none" cap="none" strike="noStrike">
                          <a:solidFill>
                            <a:srgbClr val="4338CA"/>
                          </a:solidFill>
                          <a:latin typeface="Plus Jakarta Sans"/>
                          <a:ea typeface="Plus Jakarta Sans"/>
                          <a:cs typeface="Plus Jakarta Sans"/>
                          <a:sym typeface="Plus Jakarta Sans"/>
                        </a:rPr>
                        <a:t>Year 2300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125" u="none" cap="none" strike="noStrike">
                          <a:solidFill>
                            <a:srgbClr val="334155"/>
                          </a:solidFill>
                          <a:latin typeface="Plus Jakarta Sans"/>
                          <a:ea typeface="Plus Jakarta Sans"/>
                          <a:cs typeface="Plus Jakarta Sans"/>
                          <a:sym typeface="Plus Jakarta Sans"/>
                        </a:rPr>
                        <a:t>Window floats in deep space, lifeless barren Earth in orbit.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Canny: 0.95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02" name="Google Shape;202;p20"/>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Space Grotesk"/>
                <a:ea typeface="Space Grotesk"/>
                <a:cs typeface="Space Grotesk"/>
                <a:sym typeface="Space Grotesk"/>
              </a:rPr>
              <a:t>CRITERION 3: SOLUTION DESCRIPTION</a:t>
            </a:r>
            <a:endParaRPr/>
          </a:p>
        </p:txBody>
      </p:sp>
      <p:sp>
        <p:nvSpPr>
          <p:cNvPr id="203" name="Google Shape;203;p20"/>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30-Second Storyboard &amp; Temporal Schedule</a:t>
            </a:r>
            <a:endParaRPr/>
          </a:p>
        </p:txBody>
      </p:sp>
      <p:sp>
        <p:nvSpPr>
          <p:cNvPr id="204" name="Google Shape;204;p20"/>
          <p:cNvSpPr txBox="1"/>
          <p:nvPr/>
        </p:nvSpPr>
        <p:spPr>
          <a:xfrm>
            <a:off x="762000" y="6143625"/>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Zero stock footage or external generators: 100% created through local ComfyUI batch nodes.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21"/>
          <p:cNvSpPr/>
          <p:nvPr/>
        </p:nvSpPr>
        <p:spPr>
          <a:xfrm>
            <a:off x="762000" y="5981700"/>
            <a:ext cx="106680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1"/>
          <p:cNvSpPr/>
          <p:nvPr/>
        </p:nvSpPr>
        <p:spPr>
          <a:xfrm>
            <a:off x="762000" y="2492871"/>
            <a:ext cx="3403550" cy="2205632"/>
          </a:xfrm>
          <a:prstGeom prst="roundRect">
            <a:avLst>
              <a:gd fmla="val 51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1"/>
          <p:cNvSpPr/>
          <p:nvPr/>
        </p:nvSpPr>
        <p:spPr>
          <a:xfrm>
            <a:off x="4394150" y="2492871"/>
            <a:ext cx="3403550" cy="2205632"/>
          </a:xfrm>
          <a:prstGeom prst="roundRect">
            <a:avLst>
              <a:gd fmla="val 5182"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1"/>
          <p:cNvSpPr/>
          <p:nvPr/>
        </p:nvSpPr>
        <p:spPr>
          <a:xfrm>
            <a:off x="8026300" y="2483346"/>
            <a:ext cx="3403550" cy="2224682"/>
          </a:xfrm>
          <a:prstGeom prst="roundRect">
            <a:avLst>
              <a:gd fmla="val 51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1"/>
          <p:cNvSpPr/>
          <p:nvPr/>
        </p:nvSpPr>
        <p:spPr>
          <a:xfrm>
            <a:off x="762000" y="5981700"/>
            <a:ext cx="10668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1"/>
          <p:cNvSpPr txBox="1"/>
          <p:nvPr/>
        </p:nvSpPr>
        <p:spPr>
          <a:xfrm>
            <a:off x="762000" y="533400"/>
            <a:ext cx="114300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11D48"/>
                </a:solidFill>
                <a:latin typeface="Space Grotesk"/>
                <a:ea typeface="Space Grotesk"/>
                <a:cs typeface="Space Grotesk"/>
                <a:sym typeface="Space Grotesk"/>
              </a:rPr>
              <a:t>CRITERION 6: MANDATORY ETHICAL REFLECTION</a:t>
            </a:r>
            <a:endParaRPr/>
          </a:p>
        </p:txBody>
      </p:sp>
      <p:sp>
        <p:nvSpPr>
          <p:cNvPr id="215" name="Google Shape;215;p21"/>
          <p:cNvSpPr txBox="1"/>
          <p:nvPr/>
        </p:nvSpPr>
        <p:spPr>
          <a:xfrm>
            <a:off x="762000" y="781050"/>
            <a:ext cx="11430000" cy="4286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700" u="none" cap="none" strike="noStrike">
                <a:solidFill>
                  <a:srgbClr val="0F172A"/>
                </a:solidFill>
                <a:latin typeface="Plus Jakarta Sans"/>
                <a:ea typeface="Plus Jakarta Sans"/>
                <a:cs typeface="Plus Jakarta Sans"/>
                <a:sym typeface="Plus Jakarta Sans"/>
              </a:rPr>
              <a:t>Ethics, Compute &amp; Transparency</a:t>
            </a:r>
            <a:endParaRPr/>
          </a:p>
        </p:txBody>
      </p:sp>
      <p:sp>
        <p:nvSpPr>
          <p:cNvPr id="216" name="Google Shape;216;p21"/>
          <p:cNvSpPr txBox="1"/>
          <p:nvPr/>
        </p:nvSpPr>
        <p:spPr>
          <a:xfrm>
            <a:off x="762000" y="6143625"/>
            <a:ext cx="114300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Mandatory Attribution: On-screen watermark reads "AI Speculative Visualization for SDG 13" throughout the film.</a:t>
            </a:r>
            <a:endParaRPr/>
          </a:p>
        </p:txBody>
      </p:sp>
      <p:sp>
        <p:nvSpPr>
          <p:cNvPr id="217" name="Google Shape;217;p21"/>
          <p:cNvSpPr txBox="1"/>
          <p:nvPr/>
        </p:nvSpPr>
        <p:spPr>
          <a:xfrm>
            <a:off x="1038225" y="2807196"/>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Space Grotesk"/>
                <a:ea typeface="Space Grotesk"/>
                <a:cs typeface="Space Grotesk"/>
                <a:sym typeface="Space Grotesk"/>
              </a:rPr>
              <a:t>MISINFORMATION</a:t>
            </a:r>
            <a:endParaRPr/>
          </a:p>
        </p:txBody>
      </p:sp>
      <p:sp>
        <p:nvSpPr>
          <p:cNvPr id="218" name="Google Shape;218;p21"/>
          <p:cNvSpPr txBox="1"/>
          <p:nvPr/>
        </p:nvSpPr>
        <p:spPr>
          <a:xfrm>
            <a:off x="1038225" y="3092946"/>
            <a:ext cx="3742069"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Speculative Narrative</a:t>
            </a:r>
            <a:endParaRPr/>
          </a:p>
        </p:txBody>
      </p:sp>
      <p:sp>
        <p:nvSpPr>
          <p:cNvPr id="219" name="Google Shape;219;p21"/>
          <p:cNvSpPr txBox="1"/>
          <p:nvPr/>
        </p:nvSpPr>
        <p:spPr>
          <a:xfrm>
            <a:off x="1038225" y="3445371"/>
            <a:ext cx="2946350" cy="938807"/>
          </a:xfrm>
          <a:prstGeom prst="rect">
            <a:avLst/>
          </a:prstGeom>
          <a:noFill/>
          <a:ln>
            <a:noFill/>
          </a:ln>
        </p:spPr>
        <p:txBody>
          <a:bodyPr anchorCtr="0" anchor="t" bIns="0" lIns="0" spcFirstLastPara="1" rIns="0" wrap="square" tIns="0">
            <a:spAutoFit/>
          </a:bodyPr>
          <a:lstStyle/>
          <a:p>
            <a:pPr indent="0" lvl="0" marL="0" marR="0" rtl="0" algn="l">
              <a:lnSpc>
                <a:spcPct val="144941"/>
              </a:lnSpc>
              <a:spcBef>
                <a:spcPts val="0"/>
              </a:spcBef>
              <a:spcAft>
                <a:spcPts val="0"/>
              </a:spcAft>
              <a:buNone/>
            </a:pPr>
            <a:r>
              <a:rPr b="0" i="0" lang="en-US" sz="1275" u="none" cap="none" strike="noStrike">
                <a:solidFill>
                  <a:srgbClr val="475569"/>
                </a:solidFill>
                <a:latin typeface="Plus Jakarta Sans"/>
                <a:ea typeface="Plus Jakarta Sans"/>
                <a:cs typeface="Plus Jakarta Sans"/>
                <a:sym typeface="Plus Jakarta Sans"/>
              </a:rPr>
              <a:t>No real neighborhoods depicted as destroyed. Framing is explicitly speculative to avoid simulating fake news.</a:t>
            </a:r>
            <a:endParaRPr/>
          </a:p>
        </p:txBody>
      </p:sp>
      <p:sp>
        <p:nvSpPr>
          <p:cNvPr id="220" name="Google Shape;220;p21"/>
          <p:cNvSpPr txBox="1"/>
          <p:nvPr/>
        </p:nvSpPr>
        <p:spPr>
          <a:xfrm>
            <a:off x="4670375" y="2807196"/>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Space Grotesk"/>
                <a:ea typeface="Space Grotesk"/>
                <a:cs typeface="Space Grotesk"/>
                <a:sym typeface="Space Grotesk"/>
              </a:rPr>
              <a:t>CONSENT &amp; LIKENESS</a:t>
            </a:r>
            <a:endParaRPr/>
          </a:p>
        </p:txBody>
      </p:sp>
      <p:sp>
        <p:nvSpPr>
          <p:cNvPr id="221" name="Google Shape;221;p21"/>
          <p:cNvSpPr txBox="1"/>
          <p:nvPr/>
        </p:nvSpPr>
        <p:spPr>
          <a:xfrm>
            <a:off x="4670375" y="3092946"/>
            <a:ext cx="3742069"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Zero Human Biometrics</a:t>
            </a:r>
            <a:endParaRPr/>
          </a:p>
        </p:txBody>
      </p:sp>
      <p:sp>
        <p:nvSpPr>
          <p:cNvPr id="222" name="Google Shape;222;p21"/>
          <p:cNvSpPr txBox="1"/>
          <p:nvPr/>
        </p:nvSpPr>
        <p:spPr>
          <a:xfrm>
            <a:off x="4670375" y="3445371"/>
            <a:ext cx="2946350" cy="938807"/>
          </a:xfrm>
          <a:prstGeom prst="rect">
            <a:avLst/>
          </a:prstGeom>
          <a:noFill/>
          <a:ln>
            <a:noFill/>
          </a:ln>
        </p:spPr>
        <p:txBody>
          <a:bodyPr anchorCtr="0" anchor="t" bIns="0" lIns="0" spcFirstLastPara="1" rIns="0" wrap="square" tIns="0">
            <a:spAutoFit/>
          </a:bodyPr>
          <a:lstStyle/>
          <a:p>
            <a:pPr indent="0" lvl="0" marL="0" marR="0" rtl="0" algn="l">
              <a:lnSpc>
                <a:spcPct val="144941"/>
              </a:lnSpc>
              <a:spcBef>
                <a:spcPts val="0"/>
              </a:spcBef>
              <a:spcAft>
                <a:spcPts val="0"/>
              </a:spcAft>
              <a:buNone/>
            </a:pPr>
            <a:r>
              <a:rPr b="0" i="0" lang="en-US" sz="1275" u="none" cap="none" strike="noStrike">
                <a:solidFill>
                  <a:srgbClr val="475569"/>
                </a:solidFill>
                <a:latin typeface="Plus Jakarta Sans"/>
                <a:ea typeface="Plus Jakarta Sans"/>
                <a:cs typeface="Plus Jakarta Sans"/>
                <a:sym typeface="Plus Jakarta Sans"/>
              </a:rPr>
              <a:t>Zero human faces or likenesses sampled, eliminating unauthorized biometric training and cultural caricature.</a:t>
            </a:r>
            <a:endParaRPr/>
          </a:p>
        </p:txBody>
      </p:sp>
      <p:sp>
        <p:nvSpPr>
          <p:cNvPr id="223" name="Google Shape;223;p21"/>
          <p:cNvSpPr txBox="1"/>
          <p:nvPr/>
        </p:nvSpPr>
        <p:spPr>
          <a:xfrm>
            <a:off x="8302525" y="2797671"/>
            <a:ext cx="3563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59669"/>
                </a:solidFill>
                <a:latin typeface="Space Grotesk"/>
                <a:ea typeface="Space Grotesk"/>
                <a:cs typeface="Space Grotesk"/>
                <a:sym typeface="Space Grotesk"/>
              </a:rPr>
              <a:t>CARBON AUDIT</a:t>
            </a:r>
            <a:endParaRPr/>
          </a:p>
        </p:txBody>
      </p:sp>
      <p:sp>
        <p:nvSpPr>
          <p:cNvPr id="224" name="Google Shape;224;p21"/>
          <p:cNvSpPr txBox="1"/>
          <p:nvPr/>
        </p:nvSpPr>
        <p:spPr>
          <a:xfrm>
            <a:off x="8302525" y="3083421"/>
            <a:ext cx="3742069"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Plus Jakarta Sans"/>
                <a:ea typeface="Plus Jakarta Sans"/>
                <a:cs typeface="Plus Jakarta Sans"/>
                <a:sym typeface="Plus Jakarta Sans"/>
              </a:rPr>
              <a:t>1.8 kWh / 0.72 kg CO₂eq</a:t>
            </a:r>
            <a:endParaRPr/>
          </a:p>
        </p:txBody>
      </p:sp>
      <p:sp>
        <p:nvSpPr>
          <p:cNvPr id="225" name="Google Shape;225;p21"/>
          <p:cNvSpPr txBox="1"/>
          <p:nvPr/>
        </p:nvSpPr>
        <p:spPr>
          <a:xfrm>
            <a:off x="8302525" y="3454896"/>
            <a:ext cx="2946350" cy="938807"/>
          </a:xfrm>
          <a:prstGeom prst="rect">
            <a:avLst/>
          </a:prstGeom>
          <a:noFill/>
          <a:ln>
            <a:noFill/>
          </a:ln>
        </p:spPr>
        <p:txBody>
          <a:bodyPr anchorCtr="0" anchor="t" bIns="0" lIns="0" spcFirstLastPara="1" rIns="0" wrap="square" tIns="0">
            <a:spAutoFit/>
          </a:bodyPr>
          <a:lstStyle/>
          <a:p>
            <a:pPr indent="0" lvl="0" marL="0" marR="0" rtl="0" algn="l">
              <a:lnSpc>
                <a:spcPct val="144941"/>
              </a:lnSpc>
              <a:spcBef>
                <a:spcPts val="0"/>
              </a:spcBef>
              <a:spcAft>
                <a:spcPts val="0"/>
              </a:spcAft>
              <a:buNone/>
            </a:pPr>
            <a:r>
              <a:rPr b="0" i="0" lang="en-US" sz="1275" u="none" cap="none" strike="noStrike">
                <a:solidFill>
                  <a:srgbClr val="475569"/>
                </a:solidFill>
                <a:latin typeface="Plus Jakarta Sans"/>
                <a:ea typeface="Plus Jakarta Sans"/>
                <a:cs typeface="Plus Jakarta Sans"/>
                <a:sym typeface="Plus Jakarta Sans"/>
              </a:rPr>
              <a:t>42 iterations on RTX 4090. Compute justified by publishing workflow open-source to prevent redundant student tests.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F17"/>
        </a:solidFill>
      </p:bgPr>
    </p:bg>
    <p:spTree>
      <p:nvGrpSpPr>
        <p:cNvPr id="229" name="Shape 229"/>
        <p:cNvGrpSpPr/>
        <p:nvPr/>
      </p:nvGrpSpPr>
      <p:grpSpPr>
        <a:xfrm>
          <a:off x="0" y="0"/>
          <a:ext cx="0" cy="0"/>
          <a:chOff x="0" y="0"/>
          <a:chExt cx="0" cy="0"/>
        </a:xfrm>
      </p:grpSpPr>
      <p:sp>
        <p:nvSpPr>
          <p:cNvPr id="230" name="Google Shape;230;p22"/>
          <p:cNvSpPr/>
          <p:nvPr/>
        </p:nvSpPr>
        <p:spPr>
          <a:xfrm>
            <a:off x="762000" y="5867400"/>
            <a:ext cx="10668000" cy="381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2"/>
          <p:cNvSpPr/>
          <p:nvPr/>
        </p:nvSpPr>
        <p:spPr>
          <a:xfrm>
            <a:off x="6877050" y="2300287"/>
            <a:ext cx="4552950" cy="2047875"/>
          </a:xfrm>
          <a:prstGeom prst="roundRect">
            <a:avLst>
              <a:gd fmla="val 7441" name="adj"/>
            </a:avLst>
          </a:prstGeom>
          <a:solidFill>
            <a:srgbClr val="1E293B"/>
          </a:solidFill>
          <a:ln cap="flat" cmpd="sng" w="9525">
            <a:solidFill>
              <a:srgbClr val="33415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2"/>
          <p:cNvSpPr/>
          <p:nvPr/>
        </p:nvSpPr>
        <p:spPr>
          <a:xfrm>
            <a:off x="762000" y="5867400"/>
            <a:ext cx="10668000" cy="9525"/>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22"/>
          <p:cNvSpPr/>
          <p:nvPr/>
        </p:nvSpPr>
        <p:spPr>
          <a:xfrm>
            <a:off x="7458075" y="3633787"/>
            <a:ext cx="3390900" cy="323850"/>
          </a:xfrm>
          <a:prstGeom prst="roundRect">
            <a:avLst>
              <a:gd fmla="val 17647" name="adj"/>
            </a:avLst>
          </a:prstGeom>
          <a:solidFill>
            <a:srgbClr val="06B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22"/>
          <p:cNvSpPr txBox="1"/>
          <p:nvPr/>
        </p:nvSpPr>
        <p:spPr>
          <a:xfrm>
            <a:off x="762000" y="609600"/>
            <a:ext cx="2643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6B6D4"/>
                </a:solidFill>
                <a:latin typeface="Space Grotesk"/>
                <a:ea typeface="Space Grotesk"/>
                <a:cs typeface="Space Grotesk"/>
                <a:sym typeface="Space Grotesk"/>
              </a:rPr>
              <a:t>CONCLUSION &amp; DISCUSSION</a:t>
            </a:r>
            <a:endParaRPr/>
          </a:p>
        </p:txBody>
      </p:sp>
      <p:sp>
        <p:nvSpPr>
          <p:cNvPr id="235" name="Google Shape;235;p22"/>
          <p:cNvSpPr txBox="1"/>
          <p:nvPr/>
        </p:nvSpPr>
        <p:spPr>
          <a:xfrm>
            <a:off x="9725025" y="609600"/>
            <a:ext cx="21312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Space Grotesk"/>
                <a:ea typeface="Space Grotesk"/>
                <a:cs typeface="Space Grotesk"/>
                <a:sym typeface="Space Grotesk"/>
              </a:rPr>
              <a:t>HHS Hackathon 4 • Week 5</a:t>
            </a:r>
            <a:endParaRPr/>
          </a:p>
        </p:txBody>
      </p:sp>
      <p:sp>
        <p:nvSpPr>
          <p:cNvPr id="236" name="Google Shape;236;p22"/>
          <p:cNvSpPr txBox="1"/>
          <p:nvPr/>
        </p:nvSpPr>
        <p:spPr>
          <a:xfrm>
            <a:off x="762000" y="6067425"/>
            <a:ext cx="5643562"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SDG 13: Climate Action • The Hague University of Applied Sciences</a:t>
            </a:r>
            <a:endParaRPr/>
          </a:p>
        </p:txBody>
      </p:sp>
      <p:sp>
        <p:nvSpPr>
          <p:cNvPr id="237" name="Google Shape;237;p22"/>
          <p:cNvSpPr txBox="1"/>
          <p:nvPr/>
        </p:nvSpPr>
        <p:spPr>
          <a:xfrm>
            <a:off x="10401300" y="6067425"/>
            <a:ext cx="131445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Space Grotesk"/>
                <a:ea typeface="Space Grotesk"/>
                <a:cs typeface="Space Grotesk"/>
                <a:sym typeface="Space Grotesk"/>
              </a:rPr>
              <a:t>Pair Submission</a:t>
            </a:r>
            <a:endParaRPr/>
          </a:p>
        </p:txBody>
      </p:sp>
      <p:sp>
        <p:nvSpPr>
          <p:cNvPr id="238" name="Google Shape;238;p22"/>
          <p:cNvSpPr txBox="1"/>
          <p:nvPr/>
        </p:nvSpPr>
        <p:spPr>
          <a:xfrm>
            <a:off x="762000" y="1812131"/>
            <a:ext cx="6040755" cy="1051321"/>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3600" u="none" cap="none" strike="noStrike">
                <a:solidFill>
                  <a:srgbClr val="FFFFFF"/>
                </a:solidFill>
                <a:latin typeface="Plus Jakarta Sans"/>
                <a:ea typeface="Plus Jakarta Sans"/>
                <a:cs typeface="Plus Jakarta Sans"/>
                <a:sym typeface="Plus Jakarta Sans"/>
              </a:rPr>
              <a:t>Key Takeaways from the Pipeline</a:t>
            </a:r>
            <a:endParaRPr/>
          </a:p>
        </p:txBody>
      </p:sp>
      <p:sp>
        <p:nvSpPr>
          <p:cNvPr id="239" name="Google Shape;239;p22"/>
          <p:cNvSpPr txBox="1"/>
          <p:nvPr/>
        </p:nvSpPr>
        <p:spPr>
          <a:xfrm>
            <a:off x="6796087" y="2690812"/>
            <a:ext cx="4714875" cy="381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400" u="none" cap="none" strike="noStrike">
                <a:solidFill>
                  <a:srgbClr val="FFFFFF"/>
                </a:solidFill>
                <a:latin typeface="Plus Jakarta Sans"/>
                <a:ea typeface="Plus Jakarta Sans"/>
                <a:cs typeface="Plus Jakarta Sans"/>
                <a:sym typeface="Plus Jakarta Sans"/>
              </a:rPr>
              <a:t>Thank You</a:t>
            </a:r>
            <a:endParaRPr/>
          </a:p>
        </p:txBody>
      </p:sp>
      <p:sp>
        <p:nvSpPr>
          <p:cNvPr id="240" name="Google Shape;240;p22"/>
          <p:cNvSpPr txBox="1"/>
          <p:nvPr/>
        </p:nvSpPr>
        <p:spPr>
          <a:xfrm>
            <a:off x="6796087" y="3186112"/>
            <a:ext cx="4714875"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94A3B8"/>
                </a:solidFill>
                <a:latin typeface="Plus Jakarta Sans"/>
                <a:ea typeface="Plus Jakarta Sans"/>
                <a:cs typeface="Plus Jakarta Sans"/>
                <a:sym typeface="Plus Jakarta Sans"/>
              </a:rPr>
              <a:t>Ready for Questions &amp; Evaluation</a:t>
            </a:r>
            <a:endParaRPr/>
          </a:p>
        </p:txBody>
      </p:sp>
      <p:sp>
        <p:nvSpPr>
          <p:cNvPr id="241" name="Google Shape;241;p22"/>
          <p:cNvSpPr txBox="1"/>
          <p:nvPr/>
        </p:nvSpPr>
        <p:spPr>
          <a:xfrm>
            <a:off x="7205662" y="3709987"/>
            <a:ext cx="3895725"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B0F17"/>
                </a:solidFill>
                <a:latin typeface="Space Grotesk"/>
                <a:ea typeface="Space Grotesk"/>
                <a:cs typeface="Space Grotesk"/>
                <a:sym typeface="Space Grotesk"/>
              </a:rPr>
              <a:t>GitHub Repository &amp; JSON Workflow Submitted</a:t>
            </a:r>
            <a:endParaRPr/>
          </a:p>
        </p:txBody>
      </p:sp>
      <p:sp>
        <p:nvSpPr>
          <p:cNvPr id="242" name="Google Shape;242;p22"/>
          <p:cNvSpPr txBox="1"/>
          <p:nvPr/>
        </p:nvSpPr>
        <p:spPr>
          <a:xfrm>
            <a:off x="762000" y="3092053"/>
            <a:ext cx="5753100"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06B6D4"/>
                </a:solidFill>
                <a:latin typeface="Plus Jakarta Sans"/>
                <a:ea typeface="Plus Jakarta Sans"/>
                <a:cs typeface="Plus Jakarta Sans"/>
                <a:sym typeface="Plus Jakarta Sans"/>
              </a:rPr>
              <a:t>Geometry requires ControlNet:</a:t>
            </a:r>
            <a:r>
              <a:rPr b="0" i="0" lang="en-US" sz="1350" u="none" cap="none" strike="noStrike">
                <a:solidFill>
                  <a:srgbClr val="CBD5E1"/>
                </a:solidFill>
                <a:latin typeface="Plus Jakarta Sans"/>
                <a:ea typeface="Plus Jakarta Sans"/>
                <a:cs typeface="Plus Jakarta Sans"/>
                <a:sym typeface="Plus Jakarta Sans"/>
              </a:rPr>
              <a:t> Text prompts alone cannot preserve architectural perspective across temporal prompts.</a:t>
            </a:r>
            <a:endParaRPr/>
          </a:p>
        </p:txBody>
      </p:sp>
      <p:sp>
        <p:nvSpPr>
          <p:cNvPr id="243" name="Google Shape;243;p22"/>
          <p:cNvSpPr txBox="1"/>
          <p:nvPr/>
        </p:nvSpPr>
        <p:spPr>
          <a:xfrm>
            <a:off x="762000" y="3724275"/>
            <a:ext cx="5753100"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10B981"/>
                </a:solidFill>
                <a:latin typeface="Plus Jakarta Sans"/>
                <a:ea typeface="Plus Jakarta Sans"/>
                <a:cs typeface="Plus Jakarta Sans"/>
                <a:sym typeface="Plus Jakarta Sans"/>
              </a:rPr>
              <a:t>Denoise equilibrium:</a:t>
            </a:r>
            <a:r>
              <a:rPr b="0" i="0" lang="en-US" sz="1350" u="none" cap="none" strike="noStrike">
                <a:solidFill>
                  <a:srgbClr val="CBD5E1"/>
                </a:solidFill>
                <a:latin typeface="Plus Jakarta Sans"/>
                <a:ea typeface="Plus Jakarta Sans"/>
                <a:cs typeface="Plus Jakarta Sans"/>
                <a:sym typeface="Plus Jakarta Sans"/>
              </a:rPr>
              <a:t> Values above 0.85 warp the interior sill; values below 0.50 prevent landscape degradation.</a:t>
            </a:r>
            <a:endParaRPr/>
          </a:p>
        </p:txBody>
      </p:sp>
      <p:sp>
        <p:nvSpPr>
          <p:cNvPr id="244" name="Google Shape;244;p22"/>
          <p:cNvSpPr txBox="1"/>
          <p:nvPr/>
        </p:nvSpPr>
        <p:spPr>
          <a:xfrm>
            <a:off x="762000" y="4356496"/>
            <a:ext cx="5753100"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1" i="0" lang="en-US" sz="1350" u="none" cap="none" strike="noStrike">
                <a:solidFill>
                  <a:srgbClr val="F59E0B"/>
                </a:solidFill>
                <a:latin typeface="Plus Jakarta Sans"/>
                <a:ea typeface="Plus Jakarta Sans"/>
                <a:cs typeface="Plus Jakarta Sans"/>
                <a:sym typeface="Plus Jakarta Sans"/>
              </a:rPr>
              <a:t>Narrative over spectacle:</a:t>
            </a:r>
            <a:r>
              <a:rPr b="0" i="0" lang="en-US" sz="1350" u="none" cap="none" strike="noStrike">
                <a:solidFill>
                  <a:srgbClr val="CBD5E1"/>
                </a:solidFill>
                <a:latin typeface="Plus Jakarta Sans"/>
                <a:ea typeface="Plus Jakarta Sans"/>
                <a:cs typeface="Plus Jakarta Sans"/>
                <a:sym typeface="Plus Jakarta Sans"/>
              </a:rPr>
              <a:t> Anchoring the viewer inside one room converts visual effects into psychological empathy.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